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87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Team KALKI — I am Shashi Ranjan Kumar, team lead, with my teammates Chhavi Pandey, Utsav Kumar Chaudhary, and Anurag Kumar. Today we present MuleDetect — an intelligent platform for detecting mule bank accounts and investigating financial fraud using AI/ML and graph analytics.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Mule accounts are the backbone of cyber-enabled financial fraud. Criminals use them to receive stolen money from victims, pass it through layers of accounts, and withdraw it to hide the trail. Current detection methods rely on static thresholds — but criminals split money to stay below limits. Manual investigation takes days, by which time funds are gone. This is the problem we solve.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has 5 layers. First, we load 3 datasets covering 8.8 million transactions. Second, we engineer 64 features across behavioural, graph, and identity domains. Third, we compare 7 ML algorithms in an ensemble. Fourth, we fuse scores with explainability. And fifth, we provide an investigation dashboard for real-world use.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3 publicly available benchmark datasets. SAML-D has 9.5 million money laundering transactions with fan-in and fan-out patterns. HI-Small has 5 million bank-to-bank transactions. Base has 1 million identity fraud records. Combined, we analyse 8.8 million transactions covering 560,913 accounts, of which 3,864 are mule accounts — that's just 0.69%, an extremely imbalanced problem. We engineer 64 features across three domains.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7 machine learning algorithms. Gradient Boosting achieved the highest PR-AUC of 0.58. Bagging achieved perfect Precision@50 of 1.0 — meaning all top-50 alerts are genuine mule accounts with zero false positives. XGBoost achieved the best ROC-AUC of 0.99 in just 22 seconds. Ensemble methods dramatically outperform simple models — Logistic Regression is 7.8 times worse.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highlight the key results. Gradient Boosting achieves PR-AUC of 0.58 — that's 80 times better than random guessing on this extremely imbalanced dataset. Bagging achieves perfect Precision@50 — if investigators review the top 50 alerts daily, every single one is a genuine mule account. XGBoost delivers near-optimal results in just 22 seconds, making it ideal for real-time deployment.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unique feature of our platform is explainability. Every risk score comes with human-readable reason codes powered by SHAP. For example: 'Credits from many unrelated sources' with impact +2.41, or 'Funds passed through quickly' with impact +1.87. This means investigators don't just see a number — they understand exactly why an account is flagged. This is GDPR-compliant and essential for building evidence-based cases.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graph analytics engine visualises suspicious networks. Red nodes are complaint-linked accounts, amber is the selected account, and blue are connected accounts. The thickness of edges shows transaction amounts. We use PageRank to find hub accounts, betweenness to find intermediaries, and Louvain community detection to identify organised fraud rings. Investigators can zoom, pan, and click on any node to get details.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investigation dashboard is built with FastAPI backend and custom HTML/CSS/JavaScript frontend. It has 6 main sections. The Risk Queue ranks all accounts by AI risk score with colour-coded bands. Account Profile shows detailed SHAP explanations. Money Trail traces fund flows up to 5 hops. Network View provides interactive graph visualisation. Complaints shows hotspot accounts and correlations. And Reports generates downloadable SAR-style investigation reports in TXT, HTML, and PDF formats. [LIVE DEMO: Risk Queue → Account Profile → Network → Money Trail → Report Generate + Download]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our impact: we analysed 8.8 million transactions automatically, achieved zero false positives in top-50 alerts with Bagging, provided explainable risk scores with SHAP, and built an end-to-end investigation platform with SAR report generation. For future work, we plan to explore Graph Neural Networks, real-time streaming, federated learning across banks, and mobile apps for field investigators. Thank you — this was Team KALKI.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into feature engineering. fan_in_score captures the collection-layer pattern — money arriving from many unrelated sources. pass_through_ratio near 1.0 signals forwarding — money doesn't stay. structuring_ratio detects deliberate splitting just below reporting thresholds like 9,500-9,999. dist_to_bad uses graph shortest paths to known complaint-linked accounts — 1 to 2 hops is highly suspicious. We fuse the three domain scores: R = 100 × (0.50×B + 0.30×G + 0.20×I), and band accounts into HIGH, MEDIUM, LOW.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to rule-based systems, we add network analysis and learned adaptability while keeping explainability. Compared to single ML models, we add graph features, ensembles, and an end-to-end investigation workflow. The result is a platform that is accurate — P@50 of 1.00 — fast at 22 seconds, explainable with SHAP, and usable by investigators with automatic SAR report generation.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7848600" y="419100"/>
            <a:ext cx="3810000" cy="152400"/>
          </a:xfrm>
          <a:prstGeom prst="rect">
            <a:avLst/>
          </a:prstGeom>
          <a:noFill/>
          <a:ln/>
        </p:spPr>
        <p:txBody>
          <a:bodyPr wrap="square" lIns="0" tIns="0" rIns="0" bIns="0" rtlCol="0" anchor="t"/>
          <a:lstStyle/>
          <a:p>
            <a:pPr marL="0" indent="0" algn="r">
              <a:buNone/>
            </a:pPr>
            <a:r>
              <a:rPr lang="en-US" sz="900" kern="0" spc="300" dirty="0">
                <a:solidFill>
                  <a:srgbClr val="9AA8BE"/>
                </a:solidFill>
                <a:latin typeface="Arial" pitchFamily="34" charset="0"/>
                <a:ea typeface="Arial" pitchFamily="34" charset="-122"/>
                <a:cs typeface="Arial" pitchFamily="34" charset="-120"/>
              </a:rPr>
              <a:t>CASE FILE // MD-2026</a:t>
            </a:r>
            <a:endParaRPr lang="en-US" sz="900" dirty="0"/>
          </a:p>
        </p:txBody>
      </p:sp>
      <p:sp>
        <p:nvSpPr>
          <p:cNvPr id="3" name="Text 1"/>
          <p:cNvSpPr txBox="1"/>
          <p:nvPr/>
        </p:nvSpPr>
        <p:spPr>
          <a:xfrm>
            <a:off x="7848600" y="609600"/>
            <a:ext cx="3810000" cy="133350"/>
          </a:xfrm>
          <a:prstGeom prst="rect">
            <a:avLst/>
          </a:prstGeom>
          <a:noFill/>
          <a:ln/>
        </p:spPr>
        <p:txBody>
          <a:bodyPr wrap="square" lIns="0" tIns="0" rIns="0" bIns="0" rtlCol="0" anchor="t"/>
          <a:lstStyle/>
          <a:p>
            <a:pPr marL="0" indent="0" algn="r">
              <a:buNone/>
            </a:pPr>
            <a:r>
              <a:rPr lang="en-US" sz="750" kern="0" spc="150" dirty="0">
                <a:solidFill>
                  <a:srgbClr val="0F9D91"/>
                </a:solidFill>
                <a:latin typeface="Consolas" pitchFamily="34" charset="0"/>
                <a:ea typeface="Consolas" pitchFamily="34" charset="-122"/>
                <a:cs typeface="Consolas" pitchFamily="34" charset="-120"/>
              </a:rPr>
              <a:t>CLASSIFICATION : HACKATHON</a:t>
            </a:r>
            <a:endParaRPr lang="en-US" sz="750" dirty="0"/>
          </a:p>
        </p:txBody>
      </p:sp>
      <p:sp>
        <p:nvSpPr>
          <p:cNvPr id="4" name="Text 2"/>
          <p:cNvSpPr txBox="1"/>
          <p:nvPr/>
        </p:nvSpPr>
        <p:spPr>
          <a:xfrm>
            <a:off x="7848600" y="781050"/>
            <a:ext cx="3810000" cy="133350"/>
          </a:xfrm>
          <a:prstGeom prst="rect">
            <a:avLst/>
          </a:prstGeom>
          <a:noFill/>
          <a:ln/>
        </p:spPr>
        <p:txBody>
          <a:bodyPr wrap="square" lIns="0" tIns="0" rIns="0" bIns="0" rtlCol="0" anchor="t"/>
          <a:lstStyle/>
          <a:p>
            <a:pPr marL="0" indent="0" algn="r">
              <a:buNone/>
            </a:pPr>
            <a:r>
              <a:rPr lang="en-US" sz="750" kern="0" spc="150" dirty="0">
                <a:solidFill>
                  <a:srgbClr val="9AA8BE"/>
                </a:solidFill>
                <a:latin typeface="Consolas" pitchFamily="34" charset="0"/>
                <a:ea typeface="Consolas" pitchFamily="34" charset="-122"/>
                <a:cs typeface="Consolas" pitchFamily="34" charset="-120"/>
              </a:rPr>
              <a:t>AI / ML + GRAPH ANALYTICS</a:t>
            </a:r>
            <a:endParaRPr lang="en-US" sz="750" dirty="0"/>
          </a:p>
        </p:txBody>
      </p:sp>
      <p:sp>
        <p:nvSpPr>
          <p:cNvPr id="5" name="Text 3"/>
          <p:cNvSpPr txBox="1"/>
          <p:nvPr/>
        </p:nvSpPr>
        <p:spPr>
          <a:xfrm>
            <a:off x="838200" y="876300"/>
            <a:ext cx="5715000" cy="152400"/>
          </a:xfrm>
          <a:prstGeom prst="rect">
            <a:avLst/>
          </a:prstGeom>
          <a:noFill/>
          <a:ln/>
        </p:spPr>
        <p:txBody>
          <a:bodyPr wrap="square" lIns="0" tIns="0" rIns="0" bIns="0" rtlCol="0" anchor="t"/>
          <a:lstStyle/>
          <a:p>
            <a:pPr marL="0" indent="0" algn="l">
              <a:buNone/>
            </a:pPr>
            <a:r>
              <a:rPr lang="en-US" sz="825" kern="0" spc="300" dirty="0">
                <a:solidFill>
                  <a:srgbClr val="0F9D91"/>
                </a:solidFill>
                <a:latin typeface="Consolas" pitchFamily="34" charset="0"/>
                <a:ea typeface="Consolas" pitchFamily="34" charset="-122"/>
                <a:cs typeface="Consolas" pitchFamily="34" charset="-120"/>
              </a:rPr>
              <a:t>TEAM KALKI  PRESENTS</a:t>
            </a:r>
            <a:endParaRPr lang="en-US" sz="825" dirty="0"/>
          </a:p>
        </p:txBody>
      </p:sp>
      <p:pic>
        <p:nvPicPr>
          <p:cNvPr id="6" name="Image 0" descr="preencoded.png"/>
          <p:cNvPicPr>
            <a:picLocks noChangeAspect="1"/>
          </p:cNvPicPr>
          <p:nvPr/>
        </p:nvPicPr>
        <p:blipFill>
          <a:blip r:embed="rId3"/>
          <a:stretch>
            <a:fillRect/>
          </a:stretch>
        </p:blipFill>
        <p:spPr>
          <a:xfrm>
            <a:off x="838200" y="1143000"/>
            <a:ext cx="762000" cy="857250"/>
          </a:xfrm>
          <a:prstGeom prst="rect">
            <a:avLst/>
          </a:prstGeom>
        </p:spPr>
      </p:pic>
      <p:sp>
        <p:nvSpPr>
          <p:cNvPr id="7" name="Text 4"/>
          <p:cNvSpPr txBox="1"/>
          <p:nvPr/>
        </p:nvSpPr>
        <p:spPr>
          <a:xfrm>
            <a:off x="1809750" y="1190625"/>
            <a:ext cx="7620000" cy="857250"/>
          </a:xfrm>
          <a:prstGeom prst="rect">
            <a:avLst/>
          </a:prstGeom>
          <a:noFill/>
          <a:ln/>
        </p:spPr>
        <p:txBody>
          <a:bodyPr wrap="square" lIns="0" tIns="0" rIns="0" bIns="0" rtlCol="0" anchor="ctr"/>
          <a:lstStyle/>
          <a:p>
            <a:pPr marL="0" indent="0" algn="l">
              <a:buNone/>
            </a:pPr>
            <a:r>
              <a:rPr lang="en-US" sz="5850" b="1" kern="0" spc="200" dirty="0">
                <a:solidFill>
                  <a:srgbClr val="FFFFFF"/>
                </a:solidFill>
                <a:latin typeface="Arial" pitchFamily="34" charset="0"/>
                <a:ea typeface="Arial" pitchFamily="34" charset="-122"/>
                <a:cs typeface="Arial" pitchFamily="34" charset="-120"/>
              </a:rPr>
              <a:t>MULE</a:t>
            </a:r>
            <a:r>
              <a:rPr lang="en-US" sz="5850" b="1" kern="0" spc="200" dirty="0">
                <a:solidFill>
                  <a:srgbClr val="F5C542"/>
                </a:solidFill>
                <a:latin typeface="Arial" pitchFamily="34" charset="0"/>
                <a:ea typeface="Arial" pitchFamily="34" charset="-122"/>
                <a:cs typeface="Arial" pitchFamily="34" charset="-120"/>
              </a:rPr>
              <a:t>DETECT</a:t>
            </a:r>
            <a:endParaRPr lang="en-US" sz="5850" dirty="0"/>
          </a:p>
        </p:txBody>
      </p:sp>
      <p:sp>
        <p:nvSpPr>
          <p:cNvPr id="8" name="Shape 5"/>
          <p:cNvSpPr/>
          <p:nvPr/>
        </p:nvSpPr>
        <p:spPr>
          <a:xfrm>
            <a:off x="838200" y="2152650"/>
            <a:ext cx="1143000" cy="19050"/>
          </a:xfrm>
          <a:prstGeom prst="rect">
            <a:avLst/>
          </a:prstGeom>
          <a:solidFill>
            <a:srgbClr val="F5C542"/>
          </a:solidFill>
          <a:ln/>
        </p:spPr>
      </p:sp>
      <p:sp>
        <p:nvSpPr>
          <p:cNvPr id="9" name="Text 6"/>
          <p:cNvSpPr txBox="1"/>
          <p:nvPr/>
        </p:nvSpPr>
        <p:spPr>
          <a:xfrm>
            <a:off x="838200" y="2324100"/>
            <a:ext cx="7239000" cy="533400"/>
          </a:xfrm>
          <a:prstGeom prst="rect">
            <a:avLst/>
          </a:prstGeom>
          <a:noFill/>
          <a:ln/>
        </p:spPr>
        <p:txBody>
          <a:bodyPr wrap="square" lIns="0" tIns="0" rIns="0" bIns="0" rtlCol="0" anchor="t"/>
          <a:lstStyle/>
          <a:p>
            <a:pPr marL="0" indent="0" algn="l">
              <a:buNone/>
            </a:pPr>
            <a:r>
              <a:rPr lang="en-US" sz="1350" b="1" dirty="0">
                <a:solidFill>
                  <a:srgbClr val="E4EAF5"/>
                </a:solidFill>
                <a:latin typeface="Calibri" pitchFamily="34" charset="0"/>
                <a:ea typeface="Calibri" pitchFamily="34" charset="-122"/>
                <a:cs typeface="Calibri" pitchFamily="34" charset="-120"/>
              </a:rPr>
              <a:t>Intelligent Mule Account Detection &amp; Financial Fraud Investigation Platform</a:t>
            </a:r>
            <a:endParaRPr lang="en-US" sz="1350" dirty="0"/>
          </a:p>
        </p:txBody>
      </p:sp>
      <p:sp>
        <p:nvSpPr>
          <p:cNvPr id="10" name="Text 7"/>
          <p:cNvSpPr txBox="1"/>
          <p:nvPr/>
        </p:nvSpPr>
        <p:spPr>
          <a:xfrm>
            <a:off x="838200" y="2914650"/>
            <a:ext cx="8572500" cy="171450"/>
          </a:xfrm>
          <a:prstGeom prst="rect">
            <a:avLst/>
          </a:prstGeom>
          <a:noFill/>
          <a:ln/>
        </p:spPr>
        <p:txBody>
          <a:bodyPr wrap="square" lIns="0" tIns="0" rIns="0" bIns="0" rtlCol="0" anchor="t"/>
          <a:lstStyle/>
          <a:p>
            <a:pPr marL="0" indent="0" algn="l">
              <a:buNone/>
            </a:pPr>
            <a:r>
              <a:rPr lang="en-US" sz="863" kern="0" spc="150" dirty="0">
                <a:solidFill>
                  <a:srgbClr val="0F9D91"/>
                </a:solidFill>
                <a:latin typeface="Consolas" pitchFamily="34" charset="0"/>
                <a:ea typeface="Consolas" pitchFamily="34" charset="-122"/>
                <a:cs typeface="Consolas" pitchFamily="34" charset="-120"/>
              </a:rPr>
              <a:t>AI / ML</a:t>
            </a:r>
            <a:r>
              <a:rPr lang="en-US" sz="863" kern="0" spc="150" dirty="0">
                <a:solidFill>
                  <a:srgbClr val="9AA8BE"/>
                </a:solidFill>
                <a:latin typeface="Consolas" pitchFamily="34" charset="0"/>
                <a:ea typeface="Consolas" pitchFamily="34" charset="-122"/>
                <a:cs typeface="Consolas" pitchFamily="34" charset="-120"/>
              </a:rPr>
              <a:t>  +  </a:t>
            </a:r>
            <a:r>
              <a:rPr lang="en-US" sz="863" kern="0" spc="150" dirty="0">
                <a:solidFill>
                  <a:srgbClr val="0F9D91"/>
                </a:solidFill>
                <a:latin typeface="Consolas" pitchFamily="34" charset="0"/>
                <a:ea typeface="Consolas" pitchFamily="34" charset="-122"/>
                <a:cs typeface="Consolas" pitchFamily="34" charset="-120"/>
              </a:rPr>
              <a:t>Graph Analytics</a:t>
            </a:r>
            <a:r>
              <a:rPr lang="en-US" sz="863" kern="0" spc="150" dirty="0">
                <a:solidFill>
                  <a:srgbClr val="9AA8BE"/>
                </a:solidFill>
                <a:latin typeface="Consolas" pitchFamily="34" charset="0"/>
                <a:ea typeface="Consolas" pitchFamily="34" charset="-122"/>
                <a:cs typeface="Consolas" pitchFamily="34" charset="-120"/>
              </a:rPr>
              <a:t>  FOR  CYBER-ENABLED FINANCIAL FRAUD</a:t>
            </a:r>
            <a:endParaRPr lang="en-US" sz="863" dirty="0"/>
          </a:p>
        </p:txBody>
      </p:sp>
      <p:sp>
        <p:nvSpPr>
          <p:cNvPr id="11" name="Shape 8"/>
          <p:cNvSpPr/>
          <p:nvPr/>
        </p:nvSpPr>
        <p:spPr>
          <a:xfrm>
            <a:off x="838200" y="3295650"/>
            <a:ext cx="2112169" cy="647700"/>
          </a:xfrm>
          <a:prstGeom prst="roundRect">
            <a:avLst>
              <a:gd name="adj" fmla="val 8471"/>
            </a:avLst>
          </a:prstGeom>
          <a:solidFill>
            <a:srgbClr val="F5C542">
              <a:alpha val="9000"/>
            </a:srgbClr>
          </a:solidFill>
          <a:ln w="9525">
            <a:solidFill>
              <a:srgbClr val="F5C542">
                <a:alpha val="38000"/>
              </a:srgbClr>
            </a:solidFill>
            <a:prstDash val="solid"/>
          </a:ln>
        </p:spPr>
      </p:sp>
      <p:sp>
        <p:nvSpPr>
          <p:cNvPr id="12" name="Shape 9"/>
          <p:cNvSpPr/>
          <p:nvPr/>
        </p:nvSpPr>
        <p:spPr>
          <a:xfrm>
            <a:off x="981075" y="3400425"/>
            <a:ext cx="209550" cy="209550"/>
          </a:xfrm>
          <a:prstGeom prst="ellipse">
            <a:avLst/>
          </a:prstGeom>
          <a:solidFill>
            <a:srgbClr val="F5C542">
              <a:alpha val="25000"/>
            </a:srgbClr>
          </a:solidFill>
          <a:ln w="9525">
            <a:solidFill>
              <a:srgbClr val="F5C542">
                <a:alpha val="50000"/>
              </a:srgbClr>
            </a:solidFill>
            <a:prstDash val="solid"/>
          </a:ln>
        </p:spPr>
      </p:sp>
      <p:sp>
        <p:nvSpPr>
          <p:cNvPr id="13" name="Text 10"/>
          <p:cNvSpPr txBox="1"/>
          <p:nvPr/>
        </p:nvSpPr>
        <p:spPr>
          <a:xfrm>
            <a:off x="981075" y="3400425"/>
            <a:ext cx="209550" cy="209550"/>
          </a:xfrm>
          <a:prstGeom prst="rect">
            <a:avLst/>
          </a:prstGeom>
          <a:noFill/>
          <a:ln/>
        </p:spPr>
        <p:txBody>
          <a:bodyPr wrap="square" lIns="0" tIns="0" rIns="0" bIns="0" rtlCol="0" anchor="ctr"/>
          <a:lstStyle/>
          <a:p>
            <a:pPr marL="0" indent="0" algn="ctr">
              <a:buNone/>
            </a:pPr>
            <a:r>
              <a:rPr lang="en-US" sz="600" b="1" dirty="0">
                <a:solidFill>
                  <a:srgbClr val="F5C542"/>
                </a:solidFill>
                <a:latin typeface="Calibri" pitchFamily="34" charset="0"/>
                <a:ea typeface="Calibri" pitchFamily="34" charset="-122"/>
                <a:cs typeface="Calibri" pitchFamily="34" charset="-120"/>
              </a:rPr>
              <a:t>SR</a:t>
            </a:r>
            <a:endParaRPr lang="en-US" sz="600" dirty="0"/>
          </a:p>
        </p:txBody>
      </p:sp>
      <p:sp>
        <p:nvSpPr>
          <p:cNvPr id="14" name="Text 11"/>
          <p:cNvSpPr txBox="1"/>
          <p:nvPr/>
        </p:nvSpPr>
        <p:spPr>
          <a:xfrm>
            <a:off x="1257300" y="3438525"/>
            <a:ext cx="1428750" cy="133350"/>
          </a:xfrm>
          <a:prstGeom prst="rect">
            <a:avLst/>
          </a:prstGeom>
          <a:noFill/>
          <a:ln/>
        </p:spPr>
        <p:txBody>
          <a:bodyPr wrap="square" lIns="0" tIns="0" rIns="0" bIns="0" rtlCol="0" anchor="t"/>
          <a:lstStyle/>
          <a:p>
            <a:pPr marL="0" indent="0" algn="l">
              <a:buNone/>
            </a:pPr>
            <a:r>
              <a:rPr lang="en-US" sz="638" kern="0" spc="160" dirty="0">
                <a:solidFill>
                  <a:srgbClr val="F5C542"/>
                </a:solidFill>
                <a:latin typeface="Consolas" pitchFamily="34" charset="0"/>
                <a:ea typeface="Consolas" pitchFamily="34" charset="-122"/>
                <a:cs typeface="Consolas" pitchFamily="34" charset="-120"/>
              </a:rPr>
              <a:t>LEAD</a:t>
            </a:r>
            <a:endParaRPr lang="en-US" sz="638" dirty="0"/>
          </a:p>
        </p:txBody>
      </p:sp>
      <p:sp>
        <p:nvSpPr>
          <p:cNvPr id="15" name="Text 12"/>
          <p:cNvSpPr txBox="1"/>
          <p:nvPr/>
        </p:nvSpPr>
        <p:spPr>
          <a:xfrm>
            <a:off x="981075" y="3676650"/>
            <a:ext cx="1905000" cy="190500"/>
          </a:xfrm>
          <a:prstGeom prst="rect">
            <a:avLst/>
          </a:prstGeom>
          <a:noFill/>
          <a:ln/>
        </p:spPr>
        <p:txBody>
          <a:bodyPr wrap="square" lIns="0" tIns="0" rIns="0" bIns="0" rtlCol="0" anchor="t"/>
          <a:lstStyle/>
          <a:p>
            <a:pPr marL="0" indent="0" algn="l">
              <a:buNone/>
            </a:pPr>
            <a:r>
              <a:rPr lang="en-US" sz="1013" b="1" dirty="0">
                <a:solidFill>
                  <a:srgbClr val="F5C542"/>
                </a:solidFill>
                <a:latin typeface="Calibri" pitchFamily="34" charset="0"/>
                <a:ea typeface="Calibri" pitchFamily="34" charset="-122"/>
                <a:cs typeface="Calibri" pitchFamily="34" charset="-120"/>
              </a:rPr>
              <a:t>Shashi Ranjan Kumar</a:t>
            </a:r>
            <a:endParaRPr lang="en-US" sz="1013" dirty="0"/>
          </a:p>
        </p:txBody>
      </p:sp>
      <p:sp>
        <p:nvSpPr>
          <p:cNvPr id="16" name="Shape 13"/>
          <p:cNvSpPr/>
          <p:nvPr/>
        </p:nvSpPr>
        <p:spPr>
          <a:xfrm>
            <a:off x="1981200" y="3219450"/>
            <a:ext cx="857250" cy="152400"/>
          </a:xfrm>
          <a:prstGeom prst="roundRect">
            <a:avLst>
              <a:gd name="adj" fmla="val 36000"/>
            </a:avLst>
          </a:prstGeom>
          <a:solidFill>
            <a:srgbClr val="F5C542"/>
          </a:solidFill>
          <a:ln/>
        </p:spPr>
      </p:sp>
      <p:sp>
        <p:nvSpPr>
          <p:cNvPr id="17" name="Text 14"/>
          <p:cNvSpPr txBox="1"/>
          <p:nvPr/>
        </p:nvSpPr>
        <p:spPr>
          <a:xfrm>
            <a:off x="1981200" y="3219450"/>
            <a:ext cx="857250" cy="152400"/>
          </a:xfrm>
          <a:prstGeom prst="rect">
            <a:avLst/>
          </a:prstGeom>
          <a:noFill/>
          <a:ln/>
        </p:spPr>
        <p:txBody>
          <a:bodyPr wrap="square" lIns="0" tIns="0" rIns="0" bIns="0" rtlCol="0" anchor="ctr"/>
          <a:lstStyle/>
          <a:p>
            <a:pPr marL="0" indent="0" algn="ctr">
              <a:buNone/>
            </a:pPr>
            <a:r>
              <a:rPr lang="en-US" sz="600" b="1" kern="0" spc="120" dirty="0">
                <a:solidFill>
                  <a:srgbClr val="0D1524"/>
                </a:solidFill>
                <a:latin typeface="Consolas" pitchFamily="34" charset="0"/>
                <a:ea typeface="Consolas" pitchFamily="34" charset="-122"/>
                <a:cs typeface="Consolas" pitchFamily="34" charset="-120"/>
              </a:rPr>
              <a:t>TEAM LEAD</a:t>
            </a:r>
            <a:endParaRPr lang="en-US" sz="600" dirty="0"/>
          </a:p>
        </p:txBody>
      </p:sp>
      <p:sp>
        <p:nvSpPr>
          <p:cNvPr id="18" name="Shape 15"/>
          <p:cNvSpPr/>
          <p:nvPr/>
        </p:nvSpPr>
        <p:spPr>
          <a:xfrm>
            <a:off x="3055144" y="3295650"/>
            <a:ext cx="2112169" cy="647700"/>
          </a:xfrm>
          <a:prstGeom prst="roundRect">
            <a:avLst>
              <a:gd name="adj" fmla="val 8471"/>
            </a:avLst>
          </a:prstGeom>
          <a:solidFill>
            <a:srgbClr val="FFFFFF">
              <a:alpha val="4000"/>
            </a:srgbClr>
          </a:solidFill>
          <a:ln w="9525">
            <a:solidFill>
              <a:srgbClr val="9AA8BE">
                <a:alpha val="16000"/>
              </a:srgbClr>
            </a:solidFill>
            <a:prstDash val="solid"/>
          </a:ln>
        </p:spPr>
      </p:sp>
      <p:sp>
        <p:nvSpPr>
          <p:cNvPr id="19" name="Shape 16"/>
          <p:cNvSpPr/>
          <p:nvPr/>
        </p:nvSpPr>
        <p:spPr>
          <a:xfrm>
            <a:off x="3198019" y="3400425"/>
            <a:ext cx="209550" cy="209550"/>
          </a:xfrm>
          <a:prstGeom prst="ellipse">
            <a:avLst/>
          </a:prstGeom>
          <a:solidFill>
            <a:srgbClr val="9AA8BE">
              <a:alpha val="16000"/>
            </a:srgbClr>
          </a:solidFill>
          <a:ln w="9525">
            <a:solidFill>
              <a:srgbClr val="9AA8BE">
                <a:alpha val="50000"/>
              </a:srgbClr>
            </a:solidFill>
            <a:prstDash val="solid"/>
          </a:ln>
        </p:spPr>
      </p:sp>
      <p:sp>
        <p:nvSpPr>
          <p:cNvPr id="20" name="Text 17"/>
          <p:cNvSpPr txBox="1"/>
          <p:nvPr/>
        </p:nvSpPr>
        <p:spPr>
          <a:xfrm>
            <a:off x="3198019" y="3400425"/>
            <a:ext cx="209550" cy="209550"/>
          </a:xfrm>
          <a:prstGeom prst="rect">
            <a:avLst/>
          </a:prstGeom>
          <a:noFill/>
          <a:ln/>
        </p:spPr>
        <p:txBody>
          <a:bodyPr wrap="square" lIns="0" tIns="0" rIns="0" bIns="0" rtlCol="0" anchor="ctr"/>
          <a:lstStyle/>
          <a:p>
            <a:pPr marL="0" indent="0" algn="ctr">
              <a:buNone/>
            </a:pPr>
            <a:r>
              <a:rPr lang="en-US" sz="600" b="1" dirty="0">
                <a:solidFill>
                  <a:srgbClr val="C7D2E3"/>
                </a:solidFill>
                <a:latin typeface="Calibri" pitchFamily="34" charset="0"/>
                <a:ea typeface="Calibri" pitchFamily="34" charset="-122"/>
                <a:cs typeface="Calibri" pitchFamily="34" charset="-120"/>
              </a:rPr>
              <a:t>CP</a:t>
            </a:r>
            <a:endParaRPr lang="en-US" sz="600" dirty="0"/>
          </a:p>
        </p:txBody>
      </p:sp>
      <p:sp>
        <p:nvSpPr>
          <p:cNvPr id="21" name="Text 18"/>
          <p:cNvSpPr txBox="1"/>
          <p:nvPr/>
        </p:nvSpPr>
        <p:spPr>
          <a:xfrm>
            <a:off x="3474244" y="3438525"/>
            <a:ext cx="1428750" cy="133350"/>
          </a:xfrm>
          <a:prstGeom prst="rect">
            <a:avLst/>
          </a:prstGeom>
          <a:noFill/>
          <a:ln/>
        </p:spPr>
        <p:txBody>
          <a:bodyPr wrap="square" lIns="0" tIns="0" rIns="0" bIns="0" rtlCol="0" anchor="t"/>
          <a:lstStyle/>
          <a:p>
            <a:pPr marL="0" indent="0" algn="l">
              <a:buNone/>
            </a:pPr>
            <a:r>
              <a:rPr lang="en-US" sz="638" kern="0" spc="160" dirty="0">
                <a:solidFill>
                  <a:srgbClr val="9AA8BE"/>
                </a:solidFill>
                <a:latin typeface="Consolas" pitchFamily="34" charset="0"/>
                <a:ea typeface="Consolas" pitchFamily="34" charset="-122"/>
                <a:cs typeface="Consolas" pitchFamily="34" charset="-120"/>
              </a:rPr>
              <a:t>MEMBER</a:t>
            </a:r>
            <a:endParaRPr lang="en-US" sz="638" dirty="0"/>
          </a:p>
        </p:txBody>
      </p:sp>
      <p:sp>
        <p:nvSpPr>
          <p:cNvPr id="22" name="Text 19"/>
          <p:cNvSpPr txBox="1"/>
          <p:nvPr/>
        </p:nvSpPr>
        <p:spPr>
          <a:xfrm>
            <a:off x="3198019" y="3676650"/>
            <a:ext cx="1905000" cy="190500"/>
          </a:xfrm>
          <a:prstGeom prst="rect">
            <a:avLst/>
          </a:prstGeom>
          <a:noFill/>
          <a:ln/>
        </p:spPr>
        <p:txBody>
          <a:bodyPr wrap="square" lIns="0" tIns="0" rIns="0" bIns="0" rtlCol="0" anchor="t"/>
          <a:lstStyle/>
          <a:p>
            <a:pPr marL="0" indent="0" algn="l">
              <a:buNone/>
            </a:pPr>
            <a:r>
              <a:rPr lang="en-US" sz="1013" b="1" dirty="0">
                <a:solidFill>
                  <a:srgbClr val="FFFFFF"/>
                </a:solidFill>
                <a:latin typeface="Calibri" pitchFamily="34" charset="0"/>
                <a:ea typeface="Calibri" pitchFamily="34" charset="-122"/>
                <a:cs typeface="Calibri" pitchFamily="34" charset="-120"/>
              </a:rPr>
              <a:t>Chhavi Pandey</a:t>
            </a:r>
            <a:endParaRPr lang="en-US" sz="1013" dirty="0"/>
          </a:p>
        </p:txBody>
      </p:sp>
      <p:sp>
        <p:nvSpPr>
          <p:cNvPr id="23" name="Shape 20"/>
          <p:cNvSpPr/>
          <p:nvPr/>
        </p:nvSpPr>
        <p:spPr>
          <a:xfrm>
            <a:off x="5272088" y="3295650"/>
            <a:ext cx="2112169" cy="647700"/>
          </a:xfrm>
          <a:prstGeom prst="roundRect">
            <a:avLst>
              <a:gd name="adj" fmla="val 8471"/>
            </a:avLst>
          </a:prstGeom>
          <a:solidFill>
            <a:srgbClr val="FFFFFF">
              <a:alpha val="4000"/>
            </a:srgbClr>
          </a:solidFill>
          <a:ln w="9525">
            <a:solidFill>
              <a:srgbClr val="9AA8BE">
                <a:alpha val="16000"/>
              </a:srgbClr>
            </a:solidFill>
            <a:prstDash val="solid"/>
          </a:ln>
        </p:spPr>
      </p:sp>
      <p:sp>
        <p:nvSpPr>
          <p:cNvPr id="24" name="Shape 21"/>
          <p:cNvSpPr/>
          <p:nvPr/>
        </p:nvSpPr>
        <p:spPr>
          <a:xfrm>
            <a:off x="5414963" y="3400425"/>
            <a:ext cx="209550" cy="209550"/>
          </a:xfrm>
          <a:prstGeom prst="ellipse">
            <a:avLst/>
          </a:prstGeom>
          <a:solidFill>
            <a:srgbClr val="9AA8BE">
              <a:alpha val="16000"/>
            </a:srgbClr>
          </a:solidFill>
          <a:ln w="9525">
            <a:solidFill>
              <a:srgbClr val="9AA8BE">
                <a:alpha val="50000"/>
              </a:srgbClr>
            </a:solidFill>
            <a:prstDash val="solid"/>
          </a:ln>
        </p:spPr>
      </p:sp>
      <p:sp>
        <p:nvSpPr>
          <p:cNvPr id="25" name="Text 22"/>
          <p:cNvSpPr txBox="1"/>
          <p:nvPr/>
        </p:nvSpPr>
        <p:spPr>
          <a:xfrm>
            <a:off x="5414963" y="3400425"/>
            <a:ext cx="209550" cy="209550"/>
          </a:xfrm>
          <a:prstGeom prst="rect">
            <a:avLst/>
          </a:prstGeom>
          <a:noFill/>
          <a:ln/>
        </p:spPr>
        <p:txBody>
          <a:bodyPr wrap="square" lIns="0" tIns="0" rIns="0" bIns="0" rtlCol="0" anchor="ctr"/>
          <a:lstStyle/>
          <a:p>
            <a:pPr marL="0" indent="0" algn="ctr">
              <a:buNone/>
            </a:pPr>
            <a:r>
              <a:rPr lang="en-US" sz="600" b="1" dirty="0">
                <a:solidFill>
                  <a:srgbClr val="C7D2E3"/>
                </a:solidFill>
                <a:latin typeface="Calibri" pitchFamily="34" charset="0"/>
                <a:ea typeface="Calibri" pitchFamily="34" charset="-122"/>
                <a:cs typeface="Calibri" pitchFamily="34" charset="-120"/>
              </a:rPr>
              <a:t>UK</a:t>
            </a:r>
            <a:endParaRPr lang="en-US" sz="600" dirty="0"/>
          </a:p>
        </p:txBody>
      </p:sp>
      <p:sp>
        <p:nvSpPr>
          <p:cNvPr id="26" name="Text 23"/>
          <p:cNvSpPr txBox="1"/>
          <p:nvPr/>
        </p:nvSpPr>
        <p:spPr>
          <a:xfrm>
            <a:off x="5691188" y="3438525"/>
            <a:ext cx="1428750" cy="133350"/>
          </a:xfrm>
          <a:prstGeom prst="rect">
            <a:avLst/>
          </a:prstGeom>
          <a:noFill/>
          <a:ln/>
        </p:spPr>
        <p:txBody>
          <a:bodyPr wrap="square" lIns="0" tIns="0" rIns="0" bIns="0" rtlCol="0" anchor="t"/>
          <a:lstStyle/>
          <a:p>
            <a:pPr marL="0" indent="0" algn="l">
              <a:buNone/>
            </a:pPr>
            <a:r>
              <a:rPr lang="en-US" sz="638" kern="0" spc="160" dirty="0">
                <a:solidFill>
                  <a:srgbClr val="9AA8BE"/>
                </a:solidFill>
                <a:latin typeface="Consolas" pitchFamily="34" charset="0"/>
                <a:ea typeface="Consolas" pitchFamily="34" charset="-122"/>
                <a:cs typeface="Consolas" pitchFamily="34" charset="-120"/>
              </a:rPr>
              <a:t>MEMBER</a:t>
            </a:r>
            <a:endParaRPr lang="en-US" sz="638" dirty="0"/>
          </a:p>
        </p:txBody>
      </p:sp>
      <p:sp>
        <p:nvSpPr>
          <p:cNvPr id="27" name="Text 24"/>
          <p:cNvSpPr txBox="1"/>
          <p:nvPr/>
        </p:nvSpPr>
        <p:spPr>
          <a:xfrm>
            <a:off x="5414963" y="3676650"/>
            <a:ext cx="1905000" cy="190500"/>
          </a:xfrm>
          <a:prstGeom prst="rect">
            <a:avLst/>
          </a:prstGeom>
          <a:noFill/>
          <a:ln/>
        </p:spPr>
        <p:txBody>
          <a:bodyPr wrap="square" lIns="0" tIns="0" rIns="0" bIns="0" rtlCol="0" anchor="t"/>
          <a:lstStyle/>
          <a:p>
            <a:pPr marL="0" indent="0" algn="l">
              <a:buNone/>
            </a:pPr>
            <a:r>
              <a:rPr lang="en-US" sz="1013" b="1" dirty="0">
                <a:solidFill>
                  <a:srgbClr val="FFFFFF"/>
                </a:solidFill>
                <a:latin typeface="Calibri" pitchFamily="34" charset="0"/>
                <a:ea typeface="Calibri" pitchFamily="34" charset="-122"/>
                <a:cs typeface="Calibri" pitchFamily="34" charset="-120"/>
              </a:rPr>
              <a:t>Utsav Kumar Chaudhary</a:t>
            </a:r>
            <a:endParaRPr lang="en-US" sz="1013" dirty="0"/>
          </a:p>
        </p:txBody>
      </p:sp>
      <p:sp>
        <p:nvSpPr>
          <p:cNvPr id="28" name="Shape 25"/>
          <p:cNvSpPr/>
          <p:nvPr/>
        </p:nvSpPr>
        <p:spPr>
          <a:xfrm>
            <a:off x="7489031" y="3295650"/>
            <a:ext cx="2112169" cy="647700"/>
          </a:xfrm>
          <a:prstGeom prst="roundRect">
            <a:avLst>
              <a:gd name="adj" fmla="val 8471"/>
            </a:avLst>
          </a:prstGeom>
          <a:solidFill>
            <a:srgbClr val="FFFFFF">
              <a:alpha val="4000"/>
            </a:srgbClr>
          </a:solidFill>
          <a:ln w="9525">
            <a:solidFill>
              <a:srgbClr val="9AA8BE">
                <a:alpha val="16000"/>
              </a:srgbClr>
            </a:solidFill>
            <a:prstDash val="solid"/>
          </a:ln>
        </p:spPr>
      </p:sp>
      <p:sp>
        <p:nvSpPr>
          <p:cNvPr id="29" name="Shape 26"/>
          <p:cNvSpPr/>
          <p:nvPr/>
        </p:nvSpPr>
        <p:spPr>
          <a:xfrm>
            <a:off x="7631906" y="3400425"/>
            <a:ext cx="209550" cy="209550"/>
          </a:xfrm>
          <a:prstGeom prst="ellipse">
            <a:avLst/>
          </a:prstGeom>
          <a:solidFill>
            <a:srgbClr val="9AA8BE">
              <a:alpha val="16000"/>
            </a:srgbClr>
          </a:solidFill>
          <a:ln w="9525">
            <a:solidFill>
              <a:srgbClr val="9AA8BE">
                <a:alpha val="50000"/>
              </a:srgbClr>
            </a:solidFill>
            <a:prstDash val="solid"/>
          </a:ln>
        </p:spPr>
      </p:sp>
      <p:sp>
        <p:nvSpPr>
          <p:cNvPr id="30" name="Text 27"/>
          <p:cNvSpPr txBox="1"/>
          <p:nvPr/>
        </p:nvSpPr>
        <p:spPr>
          <a:xfrm>
            <a:off x="7631906" y="3400425"/>
            <a:ext cx="209550" cy="209550"/>
          </a:xfrm>
          <a:prstGeom prst="rect">
            <a:avLst/>
          </a:prstGeom>
          <a:noFill/>
          <a:ln/>
        </p:spPr>
        <p:txBody>
          <a:bodyPr wrap="square" lIns="0" tIns="0" rIns="0" bIns="0" rtlCol="0" anchor="ctr"/>
          <a:lstStyle/>
          <a:p>
            <a:pPr marL="0" indent="0" algn="ctr">
              <a:buNone/>
            </a:pPr>
            <a:r>
              <a:rPr lang="en-US" sz="600" b="1" dirty="0">
                <a:solidFill>
                  <a:srgbClr val="C7D2E3"/>
                </a:solidFill>
                <a:latin typeface="Calibri" pitchFamily="34" charset="0"/>
                <a:ea typeface="Calibri" pitchFamily="34" charset="-122"/>
                <a:cs typeface="Calibri" pitchFamily="34" charset="-120"/>
              </a:rPr>
              <a:t>AK</a:t>
            </a:r>
            <a:endParaRPr lang="en-US" sz="600" dirty="0"/>
          </a:p>
        </p:txBody>
      </p:sp>
      <p:sp>
        <p:nvSpPr>
          <p:cNvPr id="31" name="Text 28"/>
          <p:cNvSpPr txBox="1"/>
          <p:nvPr/>
        </p:nvSpPr>
        <p:spPr>
          <a:xfrm>
            <a:off x="7908131" y="3438525"/>
            <a:ext cx="1428750" cy="133350"/>
          </a:xfrm>
          <a:prstGeom prst="rect">
            <a:avLst/>
          </a:prstGeom>
          <a:noFill/>
          <a:ln/>
        </p:spPr>
        <p:txBody>
          <a:bodyPr wrap="square" lIns="0" tIns="0" rIns="0" bIns="0" rtlCol="0" anchor="t"/>
          <a:lstStyle/>
          <a:p>
            <a:pPr marL="0" indent="0" algn="l">
              <a:buNone/>
            </a:pPr>
            <a:r>
              <a:rPr lang="en-US" sz="638" kern="0" spc="160" dirty="0">
                <a:solidFill>
                  <a:srgbClr val="9AA8BE"/>
                </a:solidFill>
                <a:latin typeface="Consolas" pitchFamily="34" charset="0"/>
                <a:ea typeface="Consolas" pitchFamily="34" charset="-122"/>
                <a:cs typeface="Consolas" pitchFamily="34" charset="-120"/>
              </a:rPr>
              <a:t>MEMBER</a:t>
            </a:r>
            <a:endParaRPr lang="en-US" sz="638" dirty="0"/>
          </a:p>
        </p:txBody>
      </p:sp>
      <p:sp>
        <p:nvSpPr>
          <p:cNvPr id="32" name="Text 29"/>
          <p:cNvSpPr txBox="1"/>
          <p:nvPr/>
        </p:nvSpPr>
        <p:spPr>
          <a:xfrm>
            <a:off x="7631906" y="3676650"/>
            <a:ext cx="1905000" cy="190500"/>
          </a:xfrm>
          <a:prstGeom prst="rect">
            <a:avLst/>
          </a:prstGeom>
          <a:noFill/>
          <a:ln/>
        </p:spPr>
        <p:txBody>
          <a:bodyPr wrap="square" lIns="0" tIns="0" rIns="0" bIns="0" rtlCol="0" anchor="t"/>
          <a:lstStyle/>
          <a:p>
            <a:pPr marL="0" indent="0" algn="l">
              <a:buNone/>
            </a:pPr>
            <a:r>
              <a:rPr lang="en-US" sz="1013" b="1" dirty="0">
                <a:solidFill>
                  <a:srgbClr val="FFFFFF"/>
                </a:solidFill>
                <a:latin typeface="Calibri" pitchFamily="34" charset="0"/>
                <a:ea typeface="Calibri" pitchFamily="34" charset="-122"/>
                <a:cs typeface="Calibri" pitchFamily="34" charset="-120"/>
              </a:rPr>
              <a:t>Anurag Kumar</a:t>
            </a:r>
            <a:endParaRPr lang="en-US" sz="1013" dirty="0"/>
          </a:p>
        </p:txBody>
      </p:sp>
      <p:sp>
        <p:nvSpPr>
          <p:cNvPr id="33" name="Shape 30"/>
          <p:cNvSpPr/>
          <p:nvPr/>
        </p:nvSpPr>
        <p:spPr>
          <a:xfrm>
            <a:off x="838200" y="4210050"/>
            <a:ext cx="8763000" cy="0"/>
          </a:xfrm>
          <a:prstGeom prst="line">
            <a:avLst/>
          </a:prstGeom>
          <a:noFill/>
          <a:ln w="6350">
            <a:solidFill>
              <a:srgbClr val="9AA8BE">
                <a:alpha val="20000"/>
              </a:srgbClr>
            </a:solidFill>
            <a:prstDash val="solid"/>
          </a:ln>
        </p:spPr>
      </p:sp>
      <p:sp>
        <p:nvSpPr>
          <p:cNvPr id="34" name="Text 31"/>
          <p:cNvSpPr txBox="1"/>
          <p:nvPr/>
        </p:nvSpPr>
        <p:spPr>
          <a:xfrm>
            <a:off x="838200" y="4362449"/>
            <a:ext cx="2667000" cy="250089"/>
          </a:xfrm>
          <a:prstGeom prst="rect">
            <a:avLst/>
          </a:prstGeom>
          <a:noFill/>
          <a:ln/>
        </p:spPr>
        <p:txBody>
          <a:bodyPr wrap="square" lIns="0" tIns="0" rIns="0" bIns="0" rtlCol="0" anchor="t"/>
          <a:lstStyle/>
          <a:p>
            <a:pPr marL="0" indent="0" algn="l">
              <a:buNone/>
            </a:pPr>
            <a:r>
              <a:rPr lang="en-US" kern="0" spc="200" dirty="0">
                <a:solidFill>
                  <a:srgbClr val="9AA8BE"/>
                </a:solidFill>
                <a:latin typeface="Consolas" pitchFamily="34" charset="0"/>
                <a:ea typeface="Consolas" pitchFamily="34" charset="-122"/>
                <a:cs typeface="Consolas" pitchFamily="34" charset="-120"/>
              </a:rPr>
              <a:t>INSTITUTION</a:t>
            </a:r>
            <a:endParaRPr lang="en-US" sz="1000" dirty="0"/>
          </a:p>
        </p:txBody>
      </p:sp>
      <p:sp>
        <p:nvSpPr>
          <p:cNvPr id="35" name="Text 32"/>
          <p:cNvSpPr txBox="1"/>
          <p:nvPr/>
        </p:nvSpPr>
        <p:spPr>
          <a:xfrm>
            <a:off x="721518" y="4671325"/>
            <a:ext cx="4329114" cy="473809"/>
          </a:xfrm>
          <a:prstGeom prst="rect">
            <a:avLst/>
          </a:prstGeom>
          <a:noFill/>
          <a:ln/>
        </p:spPr>
        <p:txBody>
          <a:bodyPr wrap="square" lIns="0" tIns="0" rIns="0" bIns="0" rtlCol="0" anchor="t"/>
          <a:lstStyle/>
          <a:p>
            <a:pPr marL="0" indent="0" algn="l">
              <a:buNone/>
            </a:pPr>
            <a:r>
              <a:rPr lang="en-US" sz="1400" dirty="0">
                <a:solidFill>
                  <a:schemeClr val="tx2">
                    <a:lumMod val="60000"/>
                    <a:lumOff val="40000"/>
                  </a:schemeClr>
                </a:solidFill>
              </a:rPr>
              <a:t>National Institute of Electronics &amp; Information Technology(NIELIT), Patna</a:t>
            </a:r>
            <a:r>
              <a:rPr lang="en-US" sz="1200" b="1" dirty="0">
                <a:solidFill>
                  <a:schemeClr val="tx2">
                    <a:lumMod val="60000"/>
                    <a:lumOff val="40000"/>
                  </a:schemeClr>
                </a:solidFill>
                <a:latin typeface="Calibri" pitchFamily="34" charset="0"/>
                <a:ea typeface="Calibri" pitchFamily="34" charset="-122"/>
                <a:cs typeface="Calibri" pitchFamily="34" charset="-120"/>
              </a:rPr>
              <a:t> </a:t>
            </a:r>
            <a:endParaRPr lang="en-US" sz="1100" dirty="0">
              <a:solidFill>
                <a:schemeClr val="tx2">
                  <a:lumMod val="60000"/>
                  <a:lumOff val="40000"/>
                </a:schemeClr>
              </a:solidFill>
            </a:endParaRPr>
          </a:p>
        </p:txBody>
      </p:sp>
      <p:sp>
        <p:nvSpPr>
          <p:cNvPr id="36" name="Text 33"/>
          <p:cNvSpPr txBox="1"/>
          <p:nvPr/>
        </p:nvSpPr>
        <p:spPr>
          <a:xfrm>
            <a:off x="7489031" y="4348065"/>
            <a:ext cx="2667000" cy="114300"/>
          </a:xfrm>
          <a:prstGeom prst="rect">
            <a:avLst/>
          </a:prstGeom>
          <a:noFill/>
          <a:ln/>
        </p:spPr>
        <p:txBody>
          <a:bodyPr wrap="square" lIns="0" tIns="0" rIns="0" bIns="0" rtlCol="0" anchor="t"/>
          <a:lstStyle/>
          <a:p>
            <a:pPr marL="0" indent="0" algn="l">
              <a:buNone/>
            </a:pPr>
            <a:r>
              <a:rPr lang="en-US" sz="1200" kern="0" spc="200" dirty="0">
                <a:solidFill>
                  <a:srgbClr val="9AA8BE"/>
                </a:solidFill>
                <a:latin typeface="Consolas" pitchFamily="34" charset="0"/>
                <a:ea typeface="Consolas" pitchFamily="34" charset="-122"/>
                <a:cs typeface="Consolas" pitchFamily="34" charset="-120"/>
              </a:rPr>
              <a:t>EVENT</a:t>
            </a:r>
            <a:endParaRPr lang="en-US" sz="1200" dirty="0"/>
          </a:p>
        </p:txBody>
      </p:sp>
      <p:sp>
        <p:nvSpPr>
          <p:cNvPr id="37" name="Text 34"/>
          <p:cNvSpPr txBox="1"/>
          <p:nvPr/>
        </p:nvSpPr>
        <p:spPr>
          <a:xfrm>
            <a:off x="7119938" y="4612539"/>
            <a:ext cx="2667000" cy="347762"/>
          </a:xfrm>
          <a:prstGeom prst="rect">
            <a:avLst/>
          </a:prstGeom>
          <a:noFill/>
          <a:ln/>
        </p:spPr>
        <p:txBody>
          <a:bodyPr wrap="square" lIns="0" tIns="0" rIns="0" bIns="0" rtlCol="0" anchor="t"/>
          <a:lstStyle/>
          <a:p>
            <a:r>
              <a:rPr lang="en-US" b="1" dirty="0">
                <a:solidFill>
                  <a:schemeClr val="accent1">
                    <a:lumMod val="60000"/>
                    <a:lumOff val="40000"/>
                  </a:schemeClr>
                </a:solidFill>
              </a:rPr>
              <a:t>CYBER HACKATHON 2026</a:t>
            </a:r>
          </a:p>
        </p:txBody>
      </p:sp>
      <p:sp>
        <p:nvSpPr>
          <p:cNvPr id="39" name="Text 36"/>
          <p:cNvSpPr txBox="1"/>
          <p:nvPr/>
        </p:nvSpPr>
        <p:spPr>
          <a:xfrm>
            <a:off x="7119938" y="5038734"/>
            <a:ext cx="2667000" cy="190500"/>
          </a:xfrm>
          <a:prstGeom prst="rect">
            <a:avLst/>
          </a:prstGeom>
          <a:noFill/>
          <a:ln/>
        </p:spPr>
        <p:txBody>
          <a:bodyPr wrap="square" lIns="0" tIns="0" rIns="0" bIns="0" rtlCol="0" anchor="t"/>
          <a:lstStyle/>
          <a:p>
            <a:pPr marL="0" indent="0" algn="l">
              <a:buNone/>
            </a:pPr>
            <a:endParaRPr lang="en-US" sz="1013" dirty="0"/>
          </a:p>
        </p:txBody>
      </p:sp>
      <p:sp>
        <p:nvSpPr>
          <p:cNvPr id="40" name="Text 37"/>
          <p:cNvSpPr txBox="1"/>
          <p:nvPr/>
        </p:nvSpPr>
        <p:spPr>
          <a:xfrm>
            <a:off x="838200" y="6286500"/>
            <a:ext cx="8572500" cy="133350"/>
          </a:xfrm>
          <a:prstGeom prst="rect">
            <a:avLst/>
          </a:prstGeom>
          <a:noFill/>
          <a:ln/>
        </p:spPr>
        <p:txBody>
          <a:bodyPr wrap="square" lIns="0" tIns="0" rIns="0" bIns="0" rtlCol="0" anchor="t"/>
          <a:lstStyle/>
          <a:p>
            <a:pPr marL="0" indent="0" algn="l">
              <a:buNone/>
            </a:pPr>
            <a:r>
              <a:rPr lang="en-US" sz="713" b="1" kern="0" spc="150" dirty="0">
                <a:solidFill>
                  <a:srgbClr val="F5C542"/>
                </a:solidFill>
                <a:latin typeface="Consolas" pitchFamily="34" charset="0"/>
                <a:ea typeface="Consolas" pitchFamily="34" charset="-122"/>
                <a:cs typeface="Consolas" pitchFamily="34" charset="-120"/>
              </a:rPr>
              <a:t>8.8M</a:t>
            </a:r>
            <a:r>
              <a:rPr lang="en-US" sz="713" kern="0" spc="150" dirty="0">
                <a:solidFill>
                  <a:srgbClr val="9AA8BE"/>
                </a:solidFill>
                <a:latin typeface="Consolas" pitchFamily="34" charset="0"/>
                <a:ea typeface="Consolas" pitchFamily="34" charset="-122"/>
                <a:cs typeface="Consolas" pitchFamily="34" charset="-120"/>
              </a:rPr>
              <a:t> TRANSACTIONS · </a:t>
            </a:r>
            <a:r>
              <a:rPr lang="en-US" sz="713" b="1" kern="0" spc="150" dirty="0">
                <a:solidFill>
                  <a:srgbClr val="F5C542"/>
                </a:solidFill>
                <a:latin typeface="Consolas" pitchFamily="34" charset="0"/>
                <a:ea typeface="Consolas" pitchFamily="34" charset="-122"/>
                <a:cs typeface="Consolas" pitchFamily="34" charset="-120"/>
              </a:rPr>
              <a:t>560,913</a:t>
            </a:r>
            <a:r>
              <a:rPr lang="en-US" sz="713" kern="0" spc="150" dirty="0">
                <a:solidFill>
                  <a:srgbClr val="9AA8BE"/>
                </a:solidFill>
                <a:latin typeface="Consolas" pitchFamily="34" charset="0"/>
                <a:ea typeface="Consolas" pitchFamily="34" charset="-122"/>
                <a:cs typeface="Consolas" pitchFamily="34" charset="-120"/>
              </a:rPr>
              <a:t> ACCOUNTS · </a:t>
            </a:r>
            <a:r>
              <a:rPr lang="en-US" sz="713" b="1" kern="0" spc="150" dirty="0">
                <a:solidFill>
                  <a:srgbClr val="F5C542"/>
                </a:solidFill>
                <a:latin typeface="Consolas" pitchFamily="34" charset="0"/>
                <a:ea typeface="Consolas" pitchFamily="34" charset="-122"/>
                <a:cs typeface="Consolas" pitchFamily="34" charset="-120"/>
              </a:rPr>
              <a:t>64</a:t>
            </a:r>
            <a:r>
              <a:rPr lang="en-US" sz="713" kern="0" spc="150" dirty="0">
                <a:solidFill>
                  <a:srgbClr val="9AA8BE"/>
                </a:solidFill>
                <a:latin typeface="Consolas" pitchFamily="34" charset="0"/>
                <a:ea typeface="Consolas" pitchFamily="34" charset="-122"/>
                <a:cs typeface="Consolas" pitchFamily="34" charset="-120"/>
              </a:rPr>
              <a:t> FEATURES · </a:t>
            </a:r>
            <a:r>
              <a:rPr lang="en-US" sz="713" b="1" kern="0" spc="150" dirty="0">
                <a:solidFill>
                  <a:srgbClr val="F5C542"/>
                </a:solidFill>
                <a:latin typeface="Consolas" pitchFamily="34" charset="0"/>
                <a:ea typeface="Consolas" pitchFamily="34" charset="-122"/>
                <a:cs typeface="Consolas" pitchFamily="34" charset="-120"/>
              </a:rPr>
              <a:t>7</a:t>
            </a:r>
            <a:r>
              <a:rPr lang="en-US" sz="713" kern="0" spc="150" dirty="0">
                <a:solidFill>
                  <a:srgbClr val="9AA8BE"/>
                </a:solidFill>
                <a:latin typeface="Consolas" pitchFamily="34" charset="0"/>
                <a:ea typeface="Consolas" pitchFamily="34" charset="-122"/>
                <a:cs typeface="Consolas" pitchFamily="34" charset="-120"/>
              </a:rPr>
              <a:t> MODELS · </a:t>
            </a:r>
            <a:r>
              <a:rPr lang="en-US" sz="713" b="1" kern="0" spc="150" dirty="0">
                <a:solidFill>
                  <a:srgbClr val="F5C542"/>
                </a:solidFill>
                <a:latin typeface="Consolas" pitchFamily="34" charset="0"/>
                <a:ea typeface="Consolas" pitchFamily="34" charset="-122"/>
                <a:cs typeface="Consolas" pitchFamily="34" charset="-120"/>
              </a:rPr>
              <a:t>SHAP</a:t>
            </a:r>
            <a:r>
              <a:rPr lang="en-US" sz="713" kern="0" spc="150" dirty="0">
                <a:solidFill>
                  <a:srgbClr val="9AA8BE"/>
                </a:solidFill>
                <a:latin typeface="Consolas" pitchFamily="34" charset="0"/>
                <a:ea typeface="Consolas" pitchFamily="34" charset="-122"/>
                <a:cs typeface="Consolas" pitchFamily="34" charset="-120"/>
              </a:rPr>
              <a:t> EXPLAINABILITY</a:t>
            </a:r>
            <a:endParaRPr lang="en-US" sz="71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01 — PROBLEM STATEMENT</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Mule accounts are the </a:t>
            </a:r>
            <a:r>
              <a:rPr lang="en-US" sz="2475" b="1" dirty="0">
                <a:solidFill>
                  <a:srgbClr val="F5C542"/>
                </a:solidFill>
                <a:latin typeface="Arial" pitchFamily="34" charset="0"/>
                <a:ea typeface="Arial" pitchFamily="34" charset="-122"/>
                <a:cs typeface="Arial" pitchFamily="34" charset="-120"/>
              </a:rPr>
              <a:t>backbone</a:t>
            </a:r>
            <a:r>
              <a:rPr lang="en-US" sz="2475" b="1" dirty="0">
                <a:solidFill>
                  <a:srgbClr val="FFFFFF"/>
                </a:solidFill>
                <a:latin typeface="Arial" pitchFamily="34" charset="0"/>
                <a:ea typeface="Arial" pitchFamily="34" charset="-122"/>
                <a:cs typeface="Arial" pitchFamily="34" charset="-120"/>
              </a:rPr>
              <a:t> of cyber-enabled financial fraud</a:t>
            </a:r>
            <a:endParaRPr lang="en-US" sz="2475" dirty="0"/>
          </a:p>
        </p:txBody>
      </p:sp>
      <p:sp>
        <p:nvSpPr>
          <p:cNvPr id="4" name="Shape 2"/>
          <p:cNvSpPr/>
          <p:nvPr/>
        </p:nvSpPr>
        <p:spPr>
          <a:xfrm>
            <a:off x="533400" y="1181100"/>
            <a:ext cx="11125200" cy="1066800"/>
          </a:xfrm>
          <a:prstGeom prst="roundRect">
            <a:avLst>
              <a:gd name="adj" fmla="val 5143"/>
            </a:avLst>
          </a:prstGeom>
          <a:solidFill>
            <a:srgbClr val="FFFFFF">
              <a:alpha val="4000"/>
            </a:srgbClr>
          </a:solidFill>
          <a:ln w="9525">
            <a:solidFill>
              <a:srgbClr val="9AA8BE">
                <a:alpha val="16000"/>
              </a:srgbClr>
            </a:solidFill>
            <a:prstDash val="solid"/>
          </a:ln>
        </p:spPr>
      </p:sp>
      <p:sp>
        <p:nvSpPr>
          <p:cNvPr id="5" name="Shape 3"/>
          <p:cNvSpPr/>
          <p:nvPr/>
        </p:nvSpPr>
        <p:spPr>
          <a:xfrm>
            <a:off x="838200" y="1390650"/>
            <a:ext cx="800100" cy="476250"/>
          </a:xfrm>
          <a:prstGeom prst="roundRect">
            <a:avLst>
              <a:gd name="adj" fmla="val 11520"/>
            </a:avLst>
          </a:prstGeom>
          <a:solidFill>
            <a:srgbClr val="2563EB">
              <a:alpha val="18000"/>
            </a:srgbClr>
          </a:solidFill>
          <a:ln w="9525">
            <a:solidFill>
              <a:srgbClr val="2563EB"/>
            </a:solidFill>
            <a:prstDash val="solid"/>
          </a:ln>
        </p:spPr>
      </p:sp>
      <p:sp>
        <p:nvSpPr>
          <p:cNvPr id="6" name="Text 4"/>
          <p:cNvSpPr txBox="1"/>
          <p:nvPr/>
        </p:nvSpPr>
        <p:spPr>
          <a:xfrm>
            <a:off x="838200" y="1390650"/>
            <a:ext cx="800100" cy="476250"/>
          </a:xfrm>
          <a:prstGeom prst="rect">
            <a:avLst/>
          </a:prstGeom>
          <a:noFill/>
          <a:ln/>
        </p:spPr>
        <p:txBody>
          <a:bodyPr wrap="square" lIns="0" tIns="0" rIns="0" bIns="0" rtlCol="0" anchor="ctr"/>
          <a:lstStyle/>
          <a:p>
            <a:pPr marL="0" indent="0" algn="ctr">
              <a:buNone/>
            </a:pPr>
            <a:r>
              <a:rPr lang="en-US" sz="750" b="1" dirty="0">
                <a:solidFill>
                  <a:srgbClr val="7CA9FF"/>
                </a:solidFill>
                <a:latin typeface="Consolas" pitchFamily="34" charset="0"/>
                <a:ea typeface="Consolas" pitchFamily="34" charset="-122"/>
                <a:cs typeface="Consolas" pitchFamily="34" charset="-120"/>
              </a:rPr>
              <a:t>VICTIM</a:t>
            </a:r>
            <a:endParaRPr lang="en-US" sz="750" dirty="0"/>
          </a:p>
        </p:txBody>
      </p:sp>
      <p:sp>
        <p:nvSpPr>
          <p:cNvPr id="7" name="Text 5"/>
          <p:cNvSpPr txBox="1"/>
          <p:nvPr/>
        </p:nvSpPr>
        <p:spPr>
          <a:xfrm>
            <a:off x="666750" y="1924050"/>
            <a:ext cx="1143000" cy="133350"/>
          </a:xfrm>
          <a:prstGeom prst="rect">
            <a:avLst/>
          </a:prstGeom>
          <a:noFill/>
          <a:ln/>
        </p:spPr>
        <p:txBody>
          <a:bodyPr wrap="square" lIns="0" tIns="0" rIns="0" bIns="0" rtlCol="0" anchor="t"/>
          <a:lstStyle/>
          <a:p>
            <a:pPr marL="0" indent="0" algn="ctr">
              <a:buNone/>
            </a:pPr>
            <a:r>
              <a:rPr lang="en-US" sz="675" dirty="0">
                <a:solidFill>
                  <a:srgbClr val="9AA8BE"/>
                </a:solidFill>
                <a:latin typeface="Consolas" pitchFamily="34" charset="0"/>
                <a:ea typeface="Consolas" pitchFamily="34" charset="-122"/>
                <a:cs typeface="Consolas" pitchFamily="34" charset="-120"/>
              </a:rPr>
              <a:t>FUNDS DEBITED</a:t>
            </a:r>
            <a:endParaRPr lang="en-US" sz="675" dirty="0"/>
          </a:p>
        </p:txBody>
      </p:sp>
      <p:sp>
        <p:nvSpPr>
          <p:cNvPr id="8" name="Shape 6"/>
          <p:cNvSpPr/>
          <p:nvPr/>
        </p:nvSpPr>
        <p:spPr>
          <a:xfrm>
            <a:off x="1695450" y="1628775"/>
            <a:ext cx="1371600" cy="0"/>
          </a:xfrm>
          <a:prstGeom prst="line">
            <a:avLst/>
          </a:prstGeom>
          <a:noFill/>
          <a:ln w="19050">
            <a:solidFill>
              <a:srgbClr val="DC2626"/>
            </a:solidFill>
            <a:prstDash val="dash"/>
          </a:ln>
        </p:spPr>
      </p:sp>
      <p:sp>
        <p:nvSpPr>
          <p:cNvPr id="9" name="Text 7"/>
          <p:cNvSpPr txBox="1"/>
          <p:nvPr/>
        </p:nvSpPr>
        <p:spPr>
          <a:xfrm>
            <a:off x="1695450" y="1428750"/>
            <a:ext cx="1371600" cy="114300"/>
          </a:xfrm>
          <a:prstGeom prst="rect">
            <a:avLst/>
          </a:prstGeom>
          <a:noFill/>
          <a:ln/>
        </p:spPr>
        <p:txBody>
          <a:bodyPr wrap="square" lIns="0" tIns="0" rIns="0" bIns="0" rtlCol="0" anchor="t"/>
          <a:lstStyle/>
          <a:p>
            <a:pPr marL="0" indent="0" algn="ctr">
              <a:buNone/>
            </a:pPr>
            <a:r>
              <a:rPr lang="en-US" sz="638" dirty="0">
                <a:solidFill>
                  <a:srgbClr val="F87171"/>
                </a:solidFill>
                <a:latin typeface="Consolas" pitchFamily="34" charset="0"/>
                <a:ea typeface="Consolas" pitchFamily="34" charset="-122"/>
                <a:cs typeface="Consolas" pitchFamily="34" charset="-120"/>
              </a:rPr>
              <a:t>RECEIVES</a:t>
            </a:r>
            <a:endParaRPr lang="en-US" sz="638" dirty="0"/>
          </a:p>
        </p:txBody>
      </p:sp>
      <p:sp>
        <p:nvSpPr>
          <p:cNvPr id="10" name="Shape 8"/>
          <p:cNvSpPr/>
          <p:nvPr/>
        </p:nvSpPr>
        <p:spPr>
          <a:xfrm>
            <a:off x="3124200" y="1390650"/>
            <a:ext cx="800100" cy="476250"/>
          </a:xfrm>
          <a:prstGeom prst="roundRect">
            <a:avLst>
              <a:gd name="adj" fmla="val 11520"/>
            </a:avLst>
          </a:prstGeom>
          <a:solidFill>
            <a:srgbClr val="DC2626">
              <a:alpha val="18000"/>
            </a:srgbClr>
          </a:solidFill>
          <a:ln w="9525">
            <a:solidFill>
              <a:srgbClr val="DC2626"/>
            </a:solidFill>
            <a:prstDash val="solid"/>
          </a:ln>
        </p:spPr>
      </p:sp>
      <p:sp>
        <p:nvSpPr>
          <p:cNvPr id="11" name="Text 9"/>
          <p:cNvSpPr txBox="1"/>
          <p:nvPr/>
        </p:nvSpPr>
        <p:spPr>
          <a:xfrm>
            <a:off x="3124200" y="1390650"/>
            <a:ext cx="800100" cy="476250"/>
          </a:xfrm>
          <a:prstGeom prst="rect">
            <a:avLst/>
          </a:prstGeom>
          <a:noFill/>
          <a:ln/>
        </p:spPr>
        <p:txBody>
          <a:bodyPr wrap="square" lIns="0" tIns="0" rIns="0" bIns="0" rtlCol="0" anchor="ctr"/>
          <a:lstStyle/>
          <a:p>
            <a:pPr marL="0" indent="0" algn="ctr">
              <a:buNone/>
            </a:pPr>
            <a:r>
              <a:rPr lang="en-US" sz="750" b="1" dirty="0">
                <a:solidFill>
                  <a:srgbClr val="F87171"/>
                </a:solidFill>
                <a:latin typeface="Consolas" pitchFamily="34" charset="0"/>
                <a:ea typeface="Consolas" pitchFamily="34" charset="-122"/>
                <a:cs typeface="Consolas" pitchFamily="34" charset="-120"/>
              </a:rPr>
              <a:t>MULE A</a:t>
            </a:r>
            <a:endParaRPr lang="en-US" sz="750" dirty="0"/>
          </a:p>
        </p:txBody>
      </p:sp>
      <p:sp>
        <p:nvSpPr>
          <p:cNvPr id="12" name="Text 10"/>
          <p:cNvSpPr txBox="1"/>
          <p:nvPr/>
        </p:nvSpPr>
        <p:spPr>
          <a:xfrm>
            <a:off x="2952750" y="1924050"/>
            <a:ext cx="1143000" cy="133350"/>
          </a:xfrm>
          <a:prstGeom prst="rect">
            <a:avLst/>
          </a:prstGeom>
          <a:noFill/>
          <a:ln/>
        </p:spPr>
        <p:txBody>
          <a:bodyPr wrap="square" lIns="0" tIns="0" rIns="0" bIns="0" rtlCol="0" anchor="t"/>
          <a:lstStyle/>
          <a:p>
            <a:pPr marL="0" indent="0" algn="ctr">
              <a:buNone/>
            </a:pPr>
            <a:r>
              <a:rPr lang="en-US" sz="675" dirty="0">
                <a:solidFill>
                  <a:srgbClr val="9AA8BE"/>
                </a:solidFill>
                <a:latin typeface="Consolas" pitchFamily="34" charset="0"/>
                <a:ea typeface="Consolas" pitchFamily="34" charset="-122"/>
                <a:cs typeface="Consolas" pitchFamily="34" charset="-120"/>
              </a:rPr>
              <a:t>COLLECTION LAYER</a:t>
            </a:r>
            <a:endParaRPr lang="en-US" sz="675" dirty="0"/>
          </a:p>
        </p:txBody>
      </p:sp>
      <p:sp>
        <p:nvSpPr>
          <p:cNvPr id="13" name="Shape 11"/>
          <p:cNvSpPr/>
          <p:nvPr/>
        </p:nvSpPr>
        <p:spPr>
          <a:xfrm>
            <a:off x="3981450" y="1628775"/>
            <a:ext cx="1371600" cy="0"/>
          </a:xfrm>
          <a:prstGeom prst="line">
            <a:avLst/>
          </a:prstGeom>
          <a:noFill/>
          <a:ln w="19050">
            <a:solidFill>
              <a:srgbClr val="DC2626"/>
            </a:solidFill>
            <a:prstDash val="dash"/>
          </a:ln>
        </p:spPr>
      </p:sp>
      <p:sp>
        <p:nvSpPr>
          <p:cNvPr id="14" name="Text 12"/>
          <p:cNvSpPr txBox="1"/>
          <p:nvPr/>
        </p:nvSpPr>
        <p:spPr>
          <a:xfrm>
            <a:off x="3981450" y="1428750"/>
            <a:ext cx="1371600" cy="114300"/>
          </a:xfrm>
          <a:prstGeom prst="rect">
            <a:avLst/>
          </a:prstGeom>
          <a:noFill/>
          <a:ln/>
        </p:spPr>
        <p:txBody>
          <a:bodyPr wrap="square" lIns="0" tIns="0" rIns="0" bIns="0" rtlCol="0" anchor="t"/>
          <a:lstStyle/>
          <a:p>
            <a:pPr marL="0" indent="0" algn="ctr">
              <a:buNone/>
            </a:pPr>
            <a:r>
              <a:rPr lang="en-US" sz="638" dirty="0">
                <a:solidFill>
                  <a:srgbClr val="F87171"/>
                </a:solidFill>
                <a:latin typeface="Consolas" pitchFamily="34" charset="0"/>
                <a:ea typeface="Consolas" pitchFamily="34" charset="-122"/>
                <a:cs typeface="Consolas" pitchFamily="34" charset="-120"/>
              </a:rPr>
              <a:t>LAYERS</a:t>
            </a:r>
            <a:endParaRPr lang="en-US" sz="638" dirty="0"/>
          </a:p>
        </p:txBody>
      </p:sp>
      <p:sp>
        <p:nvSpPr>
          <p:cNvPr id="15" name="Shape 13"/>
          <p:cNvSpPr/>
          <p:nvPr/>
        </p:nvSpPr>
        <p:spPr>
          <a:xfrm>
            <a:off x="5410200" y="1390650"/>
            <a:ext cx="800100" cy="476250"/>
          </a:xfrm>
          <a:prstGeom prst="roundRect">
            <a:avLst>
              <a:gd name="adj" fmla="val 11520"/>
            </a:avLst>
          </a:prstGeom>
          <a:solidFill>
            <a:srgbClr val="DC2626">
              <a:alpha val="18000"/>
            </a:srgbClr>
          </a:solidFill>
          <a:ln w="9525">
            <a:solidFill>
              <a:srgbClr val="DC2626"/>
            </a:solidFill>
            <a:prstDash val="solid"/>
          </a:ln>
        </p:spPr>
      </p:sp>
      <p:sp>
        <p:nvSpPr>
          <p:cNvPr id="16" name="Text 14"/>
          <p:cNvSpPr txBox="1"/>
          <p:nvPr/>
        </p:nvSpPr>
        <p:spPr>
          <a:xfrm>
            <a:off x="5410200" y="1390650"/>
            <a:ext cx="800100" cy="476250"/>
          </a:xfrm>
          <a:prstGeom prst="rect">
            <a:avLst/>
          </a:prstGeom>
          <a:noFill/>
          <a:ln/>
        </p:spPr>
        <p:txBody>
          <a:bodyPr wrap="square" lIns="0" tIns="0" rIns="0" bIns="0" rtlCol="0" anchor="ctr"/>
          <a:lstStyle/>
          <a:p>
            <a:pPr marL="0" indent="0" algn="ctr">
              <a:buNone/>
            </a:pPr>
            <a:r>
              <a:rPr lang="en-US" sz="750" b="1" dirty="0">
                <a:solidFill>
                  <a:srgbClr val="F87171"/>
                </a:solidFill>
                <a:latin typeface="Consolas" pitchFamily="34" charset="0"/>
                <a:ea typeface="Consolas" pitchFamily="34" charset="-122"/>
                <a:cs typeface="Consolas" pitchFamily="34" charset="-120"/>
              </a:rPr>
              <a:t>MULE B</a:t>
            </a:r>
            <a:endParaRPr lang="en-US" sz="750" dirty="0"/>
          </a:p>
        </p:txBody>
      </p:sp>
      <p:sp>
        <p:nvSpPr>
          <p:cNvPr id="17" name="Text 15"/>
          <p:cNvSpPr txBox="1"/>
          <p:nvPr/>
        </p:nvSpPr>
        <p:spPr>
          <a:xfrm>
            <a:off x="5238750" y="1924050"/>
            <a:ext cx="1143000" cy="133350"/>
          </a:xfrm>
          <a:prstGeom prst="rect">
            <a:avLst/>
          </a:prstGeom>
          <a:noFill/>
          <a:ln/>
        </p:spPr>
        <p:txBody>
          <a:bodyPr wrap="square" lIns="0" tIns="0" rIns="0" bIns="0" rtlCol="0" anchor="t"/>
          <a:lstStyle/>
          <a:p>
            <a:pPr marL="0" indent="0" algn="ctr">
              <a:buNone/>
            </a:pPr>
            <a:r>
              <a:rPr lang="en-US" sz="675" dirty="0">
                <a:solidFill>
                  <a:srgbClr val="9AA8BE"/>
                </a:solidFill>
                <a:latin typeface="Consolas" pitchFamily="34" charset="0"/>
                <a:ea typeface="Consolas" pitchFamily="34" charset="-122"/>
                <a:cs typeface="Consolas" pitchFamily="34" charset="-120"/>
              </a:rPr>
              <a:t>FORWARDING</a:t>
            </a:r>
            <a:endParaRPr lang="en-US" sz="675" dirty="0"/>
          </a:p>
        </p:txBody>
      </p:sp>
      <p:sp>
        <p:nvSpPr>
          <p:cNvPr id="18" name="Shape 16"/>
          <p:cNvSpPr/>
          <p:nvPr/>
        </p:nvSpPr>
        <p:spPr>
          <a:xfrm>
            <a:off x="6267450" y="1628775"/>
            <a:ext cx="1371600" cy="0"/>
          </a:xfrm>
          <a:prstGeom prst="line">
            <a:avLst/>
          </a:prstGeom>
          <a:noFill/>
          <a:ln w="19050">
            <a:solidFill>
              <a:srgbClr val="DC2626"/>
            </a:solidFill>
            <a:prstDash val="dash"/>
          </a:ln>
        </p:spPr>
      </p:sp>
      <p:sp>
        <p:nvSpPr>
          <p:cNvPr id="19" name="Text 17"/>
          <p:cNvSpPr txBox="1"/>
          <p:nvPr/>
        </p:nvSpPr>
        <p:spPr>
          <a:xfrm>
            <a:off x="6267450" y="1428750"/>
            <a:ext cx="1371600" cy="114300"/>
          </a:xfrm>
          <a:prstGeom prst="rect">
            <a:avLst/>
          </a:prstGeom>
          <a:noFill/>
          <a:ln/>
        </p:spPr>
        <p:txBody>
          <a:bodyPr wrap="square" lIns="0" tIns="0" rIns="0" bIns="0" rtlCol="0" anchor="t"/>
          <a:lstStyle/>
          <a:p>
            <a:pPr marL="0" indent="0" algn="ctr">
              <a:buNone/>
            </a:pPr>
            <a:r>
              <a:rPr lang="en-US" sz="638" dirty="0">
                <a:solidFill>
                  <a:srgbClr val="F87171"/>
                </a:solidFill>
                <a:latin typeface="Consolas" pitchFamily="34" charset="0"/>
                <a:ea typeface="Consolas" pitchFamily="34" charset="-122"/>
                <a:cs typeface="Consolas" pitchFamily="34" charset="-120"/>
              </a:rPr>
              <a:t>WITHDRAWS</a:t>
            </a:r>
            <a:endParaRPr lang="en-US" sz="638" dirty="0"/>
          </a:p>
        </p:txBody>
      </p:sp>
      <p:sp>
        <p:nvSpPr>
          <p:cNvPr id="20" name="Shape 18"/>
          <p:cNvSpPr/>
          <p:nvPr/>
        </p:nvSpPr>
        <p:spPr>
          <a:xfrm>
            <a:off x="7696200" y="1390650"/>
            <a:ext cx="800100" cy="476250"/>
          </a:xfrm>
          <a:prstGeom prst="roundRect">
            <a:avLst>
              <a:gd name="adj" fmla="val 11520"/>
            </a:avLst>
          </a:prstGeom>
          <a:solidFill>
            <a:srgbClr val="DC2626">
              <a:alpha val="18000"/>
            </a:srgbClr>
          </a:solidFill>
          <a:ln w="9525">
            <a:solidFill>
              <a:srgbClr val="DC2626"/>
            </a:solidFill>
            <a:prstDash val="solid"/>
          </a:ln>
        </p:spPr>
      </p:sp>
      <p:sp>
        <p:nvSpPr>
          <p:cNvPr id="21" name="Text 19"/>
          <p:cNvSpPr txBox="1"/>
          <p:nvPr/>
        </p:nvSpPr>
        <p:spPr>
          <a:xfrm>
            <a:off x="7696200" y="1390650"/>
            <a:ext cx="800100" cy="476250"/>
          </a:xfrm>
          <a:prstGeom prst="rect">
            <a:avLst/>
          </a:prstGeom>
          <a:noFill/>
          <a:ln/>
        </p:spPr>
        <p:txBody>
          <a:bodyPr wrap="square" lIns="0" tIns="0" rIns="0" bIns="0" rtlCol="0" anchor="ctr"/>
          <a:lstStyle/>
          <a:p>
            <a:pPr marL="0" indent="0" algn="ctr">
              <a:buNone/>
            </a:pPr>
            <a:r>
              <a:rPr lang="en-US" sz="750" b="1" dirty="0">
                <a:solidFill>
                  <a:srgbClr val="F87171"/>
                </a:solidFill>
                <a:latin typeface="Consolas" pitchFamily="34" charset="0"/>
                <a:ea typeface="Consolas" pitchFamily="34" charset="-122"/>
                <a:cs typeface="Consolas" pitchFamily="34" charset="-120"/>
              </a:rPr>
              <a:t>MULE C</a:t>
            </a:r>
            <a:endParaRPr lang="en-US" sz="750" dirty="0"/>
          </a:p>
        </p:txBody>
      </p:sp>
      <p:sp>
        <p:nvSpPr>
          <p:cNvPr id="22" name="Text 20"/>
          <p:cNvSpPr txBox="1"/>
          <p:nvPr/>
        </p:nvSpPr>
        <p:spPr>
          <a:xfrm>
            <a:off x="7524750" y="1924050"/>
            <a:ext cx="1143000" cy="133350"/>
          </a:xfrm>
          <a:prstGeom prst="rect">
            <a:avLst/>
          </a:prstGeom>
          <a:noFill/>
          <a:ln/>
        </p:spPr>
        <p:txBody>
          <a:bodyPr wrap="square" lIns="0" tIns="0" rIns="0" bIns="0" rtlCol="0" anchor="t"/>
          <a:lstStyle/>
          <a:p>
            <a:pPr marL="0" indent="0" algn="ctr">
              <a:buNone/>
            </a:pPr>
            <a:r>
              <a:rPr lang="en-US" sz="675" dirty="0">
                <a:solidFill>
                  <a:srgbClr val="9AA8BE"/>
                </a:solidFill>
                <a:latin typeface="Consolas" pitchFamily="34" charset="0"/>
                <a:ea typeface="Consolas" pitchFamily="34" charset="-122"/>
                <a:cs typeface="Consolas" pitchFamily="34" charset="-120"/>
              </a:rPr>
              <a:t>CASH-OUT</a:t>
            </a:r>
            <a:endParaRPr lang="en-US" sz="675" dirty="0"/>
          </a:p>
        </p:txBody>
      </p:sp>
      <p:sp>
        <p:nvSpPr>
          <p:cNvPr id="23" name="Shape 21"/>
          <p:cNvSpPr/>
          <p:nvPr/>
        </p:nvSpPr>
        <p:spPr>
          <a:xfrm>
            <a:off x="8553450" y="1628775"/>
            <a:ext cx="1371600" cy="0"/>
          </a:xfrm>
          <a:prstGeom prst="line">
            <a:avLst/>
          </a:prstGeom>
          <a:noFill/>
          <a:ln w="19050">
            <a:solidFill>
              <a:srgbClr val="DC2626"/>
            </a:solidFill>
            <a:prstDash val="dash"/>
          </a:ln>
        </p:spPr>
      </p:sp>
      <p:sp>
        <p:nvSpPr>
          <p:cNvPr id="24" name="Text 22"/>
          <p:cNvSpPr txBox="1"/>
          <p:nvPr/>
        </p:nvSpPr>
        <p:spPr>
          <a:xfrm>
            <a:off x="8553450" y="1428750"/>
            <a:ext cx="1371600" cy="114300"/>
          </a:xfrm>
          <a:prstGeom prst="rect">
            <a:avLst/>
          </a:prstGeom>
          <a:noFill/>
          <a:ln/>
        </p:spPr>
        <p:txBody>
          <a:bodyPr wrap="square" lIns="0" tIns="0" rIns="0" bIns="0" rtlCol="0" anchor="t"/>
          <a:lstStyle/>
          <a:p>
            <a:pPr marL="0" indent="0" algn="ctr">
              <a:buNone/>
            </a:pPr>
            <a:r>
              <a:rPr lang="en-US" sz="638" dirty="0">
                <a:solidFill>
                  <a:srgbClr val="F87171"/>
                </a:solidFill>
                <a:latin typeface="Consolas" pitchFamily="34" charset="0"/>
                <a:ea typeface="Consolas" pitchFamily="34" charset="-122"/>
                <a:cs typeface="Consolas" pitchFamily="34" charset="-120"/>
              </a:rPr>
              <a:t>CONCEALS ORIGIN</a:t>
            </a:r>
            <a:endParaRPr lang="en-US" sz="638" dirty="0"/>
          </a:p>
        </p:txBody>
      </p:sp>
      <p:sp>
        <p:nvSpPr>
          <p:cNvPr id="25" name="Shape 23"/>
          <p:cNvSpPr/>
          <p:nvPr/>
        </p:nvSpPr>
        <p:spPr>
          <a:xfrm>
            <a:off x="9982200" y="1390650"/>
            <a:ext cx="800100" cy="476250"/>
          </a:xfrm>
          <a:prstGeom prst="roundRect">
            <a:avLst>
              <a:gd name="adj" fmla="val 11520"/>
            </a:avLst>
          </a:prstGeom>
          <a:solidFill>
            <a:srgbClr val="F5C542">
              <a:alpha val="18000"/>
            </a:srgbClr>
          </a:solidFill>
          <a:ln w="9525">
            <a:solidFill>
              <a:srgbClr val="F5C542"/>
            </a:solidFill>
            <a:prstDash val="solid"/>
          </a:ln>
        </p:spPr>
      </p:sp>
      <p:sp>
        <p:nvSpPr>
          <p:cNvPr id="26" name="Text 24"/>
          <p:cNvSpPr txBox="1"/>
          <p:nvPr/>
        </p:nvSpPr>
        <p:spPr>
          <a:xfrm>
            <a:off x="9982200" y="1390650"/>
            <a:ext cx="800100" cy="476250"/>
          </a:xfrm>
          <a:prstGeom prst="rect">
            <a:avLst/>
          </a:prstGeom>
          <a:noFill/>
          <a:ln/>
        </p:spPr>
        <p:txBody>
          <a:bodyPr wrap="square" lIns="0" tIns="0" rIns="0" bIns="0" rtlCol="0" anchor="ctr"/>
          <a:lstStyle/>
          <a:p>
            <a:pPr marL="0" indent="0" algn="ctr">
              <a:buNone/>
            </a:pPr>
            <a:r>
              <a:rPr lang="en-US" sz="750" b="1" dirty="0">
                <a:solidFill>
                  <a:srgbClr val="F5C542"/>
                </a:solidFill>
                <a:latin typeface="Consolas" pitchFamily="34" charset="0"/>
                <a:ea typeface="Consolas" pitchFamily="34" charset="-122"/>
                <a:cs typeface="Consolas" pitchFamily="34" charset="-120"/>
              </a:rPr>
              <a:t>CRIMINAL</a:t>
            </a:r>
            <a:endParaRPr lang="en-US" sz="750" dirty="0"/>
          </a:p>
        </p:txBody>
      </p:sp>
      <p:sp>
        <p:nvSpPr>
          <p:cNvPr id="27" name="Text 25"/>
          <p:cNvSpPr txBox="1"/>
          <p:nvPr/>
        </p:nvSpPr>
        <p:spPr>
          <a:xfrm>
            <a:off x="9810750" y="1924050"/>
            <a:ext cx="1143000" cy="133350"/>
          </a:xfrm>
          <a:prstGeom prst="rect">
            <a:avLst/>
          </a:prstGeom>
          <a:noFill/>
          <a:ln/>
        </p:spPr>
        <p:txBody>
          <a:bodyPr wrap="square" lIns="0" tIns="0" rIns="0" bIns="0" rtlCol="0" anchor="t"/>
          <a:lstStyle/>
          <a:p>
            <a:pPr marL="0" indent="0" algn="ctr">
              <a:buNone/>
            </a:pPr>
            <a:r>
              <a:rPr lang="en-US" sz="675" dirty="0">
                <a:solidFill>
                  <a:srgbClr val="9AA8BE"/>
                </a:solidFill>
                <a:latin typeface="Consolas" pitchFamily="34" charset="0"/>
                <a:ea typeface="Consolas" pitchFamily="34" charset="-122"/>
                <a:cs typeface="Consolas" pitchFamily="34" charset="-120"/>
              </a:rPr>
              <a:t>TRAIL BROKEN</a:t>
            </a:r>
            <a:endParaRPr lang="en-US" sz="675" dirty="0"/>
          </a:p>
        </p:txBody>
      </p:sp>
      <p:sp>
        <p:nvSpPr>
          <p:cNvPr id="28" name="Shape 26"/>
          <p:cNvSpPr/>
          <p:nvPr/>
        </p:nvSpPr>
        <p:spPr>
          <a:xfrm>
            <a:off x="533400" y="2400300"/>
            <a:ext cx="3476625" cy="2381250"/>
          </a:xfrm>
          <a:prstGeom prst="roundRect">
            <a:avLst>
              <a:gd name="adj" fmla="val 2304"/>
            </a:avLst>
          </a:prstGeom>
          <a:solidFill>
            <a:srgbClr val="FFFFFF">
              <a:alpha val="4000"/>
            </a:srgbClr>
          </a:solidFill>
          <a:ln w="9525">
            <a:solidFill>
              <a:srgbClr val="9AA8BE">
                <a:alpha val="16000"/>
              </a:srgbClr>
            </a:solidFill>
            <a:prstDash val="solid"/>
          </a:ln>
        </p:spPr>
      </p:sp>
      <p:sp>
        <p:nvSpPr>
          <p:cNvPr id="29" name="Shape 27"/>
          <p:cNvSpPr/>
          <p:nvPr/>
        </p:nvSpPr>
        <p:spPr>
          <a:xfrm>
            <a:off x="704850" y="2590800"/>
            <a:ext cx="66675" cy="66675"/>
          </a:xfrm>
          <a:prstGeom prst="ellipse">
            <a:avLst/>
          </a:prstGeom>
          <a:solidFill>
            <a:srgbClr val="F5C542"/>
          </a:solidFill>
          <a:ln/>
        </p:spPr>
      </p:sp>
      <p:sp>
        <p:nvSpPr>
          <p:cNvPr id="30" name="Text 28"/>
          <p:cNvSpPr txBox="1"/>
          <p:nvPr/>
        </p:nvSpPr>
        <p:spPr>
          <a:xfrm>
            <a:off x="857250" y="25431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WHAT IS A MULE ACCOUNT?</a:t>
            </a:r>
            <a:endParaRPr lang="en-US" sz="975" dirty="0"/>
          </a:p>
        </p:txBody>
      </p:sp>
      <p:sp>
        <p:nvSpPr>
          <p:cNvPr id="31" name="Text 29"/>
          <p:cNvSpPr txBox="1"/>
          <p:nvPr/>
        </p:nvSpPr>
        <p:spPr>
          <a:xfrm>
            <a:off x="704850" y="2781300"/>
            <a:ext cx="3133725" cy="1619250"/>
          </a:xfrm>
          <a:prstGeom prst="rect">
            <a:avLst/>
          </a:prstGeom>
          <a:noFill/>
          <a:ln/>
        </p:spPr>
        <p:txBody>
          <a:bodyPr wrap="square" lIns="0" tIns="0" rIns="0" bIns="0" rtlCol="0" anchor="t"/>
          <a:lstStyle/>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A bank account used to </a:t>
            </a:r>
            <a:r>
              <a:rPr lang="en-US" sz="960" b="1" dirty="0">
                <a:solidFill>
                  <a:srgbClr val="FFFFFF"/>
                </a:solidFill>
                <a:latin typeface="Calibri" pitchFamily="34" charset="0"/>
                <a:ea typeface="Calibri" pitchFamily="34" charset="-122"/>
                <a:cs typeface="Calibri" pitchFamily="34" charset="-120"/>
              </a:rPr>
              <a:t>receive illicit funds</a:t>
            </a:r>
            <a:r>
              <a:rPr lang="en-US" sz="960" dirty="0">
                <a:solidFill>
                  <a:srgbClr val="D6DEEC"/>
                </a:solidFill>
                <a:latin typeface="Calibri" pitchFamily="34" charset="0"/>
                <a:ea typeface="Calibri" pitchFamily="34" charset="-122"/>
                <a:cs typeface="Calibri" pitchFamily="34" charset="-120"/>
              </a:rPr>
              <a:t> from victims</a:t>
            </a:r>
            <a:endParaRPr lang="en-US" sz="960" dirty="0"/>
          </a:p>
          <a:p>
            <a:pPr marL="342900" indent="-342900">
              <a:spcAft>
                <a:spcPts val="525"/>
              </a:spcAft>
              <a:buSzPct val="100000"/>
              <a:buChar char="◆"/>
            </a:pPr>
            <a:r>
              <a:rPr lang="en-US" sz="960" b="1" dirty="0">
                <a:solidFill>
                  <a:srgbClr val="FFFFFF"/>
                </a:solidFill>
                <a:latin typeface="Calibri" pitchFamily="34" charset="0"/>
                <a:ea typeface="Calibri" pitchFamily="34" charset="-122"/>
                <a:cs typeface="Calibri" pitchFamily="34" charset="-120"/>
              </a:rPr>
              <a:t>Layer</a:t>
            </a:r>
            <a:r>
              <a:rPr lang="en-US" sz="960" dirty="0">
                <a:solidFill>
                  <a:srgbClr val="D6DEEC"/>
                </a:solidFill>
                <a:latin typeface="Calibri" pitchFamily="34" charset="0"/>
                <a:ea typeface="Calibri" pitchFamily="34" charset="-122"/>
                <a:cs typeface="Calibri" pitchFamily="34" charset="-120"/>
              </a:rPr>
              <a:t> money through networks of accounts</a:t>
            </a:r>
            <a:endParaRPr lang="en-US" sz="960" dirty="0"/>
          </a:p>
          <a:p>
            <a:pPr marL="342900" indent="-342900">
              <a:spcAft>
                <a:spcPts val="525"/>
              </a:spcAft>
              <a:buSzPct val="100000"/>
              <a:buChar char="◆"/>
            </a:pPr>
            <a:r>
              <a:rPr lang="en-US" sz="960" b="1" dirty="0">
                <a:solidFill>
                  <a:srgbClr val="FFFFFF"/>
                </a:solidFill>
                <a:latin typeface="Calibri" pitchFamily="34" charset="0"/>
                <a:ea typeface="Calibri" pitchFamily="34" charset="-122"/>
                <a:cs typeface="Calibri" pitchFamily="34" charset="-120"/>
              </a:rPr>
              <a:t>Withdraw &amp; conceal</a:t>
            </a:r>
            <a:r>
              <a:rPr lang="en-US" sz="960" dirty="0">
                <a:solidFill>
                  <a:srgbClr val="D6DEEC"/>
                </a:solidFill>
                <a:latin typeface="Calibri" pitchFamily="34" charset="0"/>
                <a:ea typeface="Calibri" pitchFamily="34" charset="-122"/>
                <a:cs typeface="Calibri" pitchFamily="34" charset="-120"/>
              </a:rPr>
              <a:t> the true origin of funds</a:t>
            </a:r>
            <a:endParaRPr lang="en-US" sz="960" dirty="0"/>
          </a:p>
        </p:txBody>
      </p:sp>
      <p:sp>
        <p:nvSpPr>
          <p:cNvPr id="32" name="Text 30"/>
          <p:cNvSpPr txBox="1"/>
          <p:nvPr/>
        </p:nvSpPr>
        <p:spPr>
          <a:xfrm>
            <a:off x="704850" y="4191000"/>
            <a:ext cx="3133725" cy="381000"/>
          </a:xfrm>
          <a:prstGeom prst="rect">
            <a:avLst/>
          </a:prstGeom>
          <a:noFill/>
          <a:ln/>
        </p:spPr>
        <p:txBody>
          <a:bodyPr wrap="square" lIns="0" tIns="0" rIns="0" bIns="0" rtlCol="0" anchor="t"/>
          <a:lstStyle/>
          <a:p>
            <a:pPr marL="0" indent="0" algn="l">
              <a:buNone/>
            </a:pPr>
            <a:r>
              <a:rPr lang="en-US" sz="960" dirty="0">
                <a:solidFill>
                  <a:srgbClr val="9AA8BE"/>
                </a:solidFill>
                <a:latin typeface="Calibri" pitchFamily="34" charset="0"/>
                <a:ea typeface="Calibri" pitchFamily="34" charset="-122"/>
                <a:cs typeface="Calibri" pitchFamily="34" charset="-120"/>
              </a:rPr>
              <a:t>Victims: common citizens  |  Criminals: organised fraud rings</a:t>
            </a:r>
            <a:endParaRPr lang="en-US" sz="960" dirty="0"/>
          </a:p>
        </p:txBody>
      </p:sp>
      <p:sp>
        <p:nvSpPr>
          <p:cNvPr id="33" name="Shape 31"/>
          <p:cNvSpPr/>
          <p:nvPr/>
        </p:nvSpPr>
        <p:spPr>
          <a:xfrm>
            <a:off x="4133850" y="2400300"/>
            <a:ext cx="3476625" cy="2381250"/>
          </a:xfrm>
          <a:prstGeom prst="roundRect">
            <a:avLst>
              <a:gd name="adj" fmla="val 2304"/>
            </a:avLst>
          </a:prstGeom>
          <a:solidFill>
            <a:srgbClr val="FFFFFF">
              <a:alpha val="4000"/>
            </a:srgbClr>
          </a:solidFill>
          <a:ln w="9525">
            <a:solidFill>
              <a:srgbClr val="9AA8BE">
                <a:alpha val="16000"/>
              </a:srgbClr>
            </a:solidFill>
            <a:prstDash val="solid"/>
          </a:ln>
        </p:spPr>
      </p:sp>
      <p:sp>
        <p:nvSpPr>
          <p:cNvPr id="34" name="Shape 32"/>
          <p:cNvSpPr/>
          <p:nvPr/>
        </p:nvSpPr>
        <p:spPr>
          <a:xfrm>
            <a:off x="4305300" y="2590800"/>
            <a:ext cx="66675" cy="66675"/>
          </a:xfrm>
          <a:prstGeom prst="ellipse">
            <a:avLst/>
          </a:prstGeom>
          <a:solidFill>
            <a:srgbClr val="DC2626"/>
          </a:solidFill>
          <a:ln/>
        </p:spPr>
      </p:sp>
      <p:sp>
        <p:nvSpPr>
          <p:cNvPr id="35" name="Text 33"/>
          <p:cNvSpPr txBox="1"/>
          <p:nvPr/>
        </p:nvSpPr>
        <p:spPr>
          <a:xfrm>
            <a:off x="4457700" y="25431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THE SCALE OF THE PROBLEM</a:t>
            </a:r>
            <a:endParaRPr lang="en-US" sz="975" dirty="0"/>
          </a:p>
        </p:txBody>
      </p:sp>
      <p:sp>
        <p:nvSpPr>
          <p:cNvPr id="36" name="Text 34"/>
          <p:cNvSpPr txBox="1"/>
          <p:nvPr/>
        </p:nvSpPr>
        <p:spPr>
          <a:xfrm>
            <a:off x="4305300" y="2781300"/>
            <a:ext cx="3133725" cy="1619250"/>
          </a:xfrm>
          <a:prstGeom prst="rect">
            <a:avLst/>
          </a:prstGeom>
          <a:noFill/>
          <a:ln/>
        </p:spPr>
        <p:txBody>
          <a:bodyPr wrap="square" lIns="0" tIns="0" rIns="0" bIns="0" rtlCol="0" anchor="t"/>
          <a:lstStyle/>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Digital fraud </a:t>
            </a:r>
            <a:r>
              <a:rPr lang="en-US" sz="960" b="1" dirty="0">
                <a:solidFill>
                  <a:srgbClr val="FFFFFF"/>
                </a:solidFill>
                <a:latin typeface="Calibri" pitchFamily="34" charset="0"/>
                <a:ea typeface="Calibri" pitchFamily="34" charset="-122"/>
                <a:cs typeface="Calibri" pitchFamily="34" charset="-120"/>
              </a:rPr>
              <a:t>+30%</a:t>
            </a:r>
            <a:r>
              <a:rPr lang="en-US" sz="960" dirty="0">
                <a:solidFill>
                  <a:srgbClr val="D6DEEC"/>
                </a:solidFill>
                <a:latin typeface="Calibri" pitchFamily="34" charset="0"/>
                <a:ea typeface="Calibri" pitchFamily="34" charset="-122"/>
                <a:cs typeface="Calibri" pitchFamily="34" charset="-120"/>
              </a:rPr>
              <a:t> (RBI Annual Report)</a:t>
            </a:r>
            <a:endParaRPr lang="en-US" sz="960" dirty="0"/>
          </a:p>
          <a:p>
            <a:pPr marL="342900" indent="-342900">
              <a:spcAft>
                <a:spcPts val="525"/>
              </a:spcAft>
              <a:buSzPct val="100000"/>
              <a:buChar char="◆"/>
            </a:pPr>
            <a:r>
              <a:rPr lang="en-US" sz="960" b="1" dirty="0">
                <a:solidFill>
                  <a:srgbClr val="FFFFFF"/>
                </a:solidFill>
                <a:latin typeface="Calibri" pitchFamily="34" charset="0"/>
                <a:ea typeface="Calibri" pitchFamily="34" charset="-122"/>
                <a:cs typeface="Calibri" pitchFamily="34" charset="-120"/>
              </a:rPr>
              <a:t>8.8M</a:t>
            </a:r>
            <a:r>
              <a:rPr lang="en-US" sz="960" dirty="0">
                <a:solidFill>
                  <a:srgbClr val="D6DEEC"/>
                </a:solidFill>
                <a:latin typeface="Calibri" pitchFamily="34" charset="0"/>
                <a:ea typeface="Calibri" pitchFamily="34" charset="-122"/>
                <a:cs typeface="Calibri" pitchFamily="34" charset="-120"/>
              </a:rPr>
              <a:t> transactions analysed</a:t>
            </a:r>
            <a:endParaRPr lang="en-US" sz="960" dirty="0"/>
          </a:p>
          <a:p>
            <a:pPr marL="342900" indent="-342900">
              <a:spcAft>
                <a:spcPts val="525"/>
              </a:spcAft>
              <a:buSzPct val="100000"/>
              <a:buChar char="◆"/>
            </a:pPr>
            <a:r>
              <a:rPr lang="en-US" sz="960" b="1" dirty="0">
                <a:solidFill>
                  <a:srgbClr val="FFFFFF"/>
                </a:solidFill>
                <a:latin typeface="Calibri" pitchFamily="34" charset="0"/>
                <a:ea typeface="Calibri" pitchFamily="34" charset="-122"/>
                <a:cs typeface="Calibri" pitchFamily="34" charset="-120"/>
              </a:rPr>
              <a:t>0.69%</a:t>
            </a:r>
            <a:r>
              <a:rPr lang="en-US" sz="960" dirty="0">
                <a:solidFill>
                  <a:srgbClr val="D6DEEC"/>
                </a:solidFill>
                <a:latin typeface="Calibri" pitchFamily="34" charset="0"/>
                <a:ea typeface="Calibri" pitchFamily="34" charset="-122"/>
                <a:cs typeface="Calibri" pitchFamily="34" charset="-120"/>
              </a:rPr>
              <a:t> are mule accounts — extreme class imbalance</a:t>
            </a:r>
            <a:endParaRPr lang="en-US" sz="960" dirty="0"/>
          </a:p>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Manual review takes </a:t>
            </a:r>
            <a:r>
              <a:rPr lang="en-US" sz="960" b="1" dirty="0">
                <a:solidFill>
                  <a:srgbClr val="FFFFFF"/>
                </a:solidFill>
                <a:latin typeface="Calibri" pitchFamily="34" charset="0"/>
                <a:ea typeface="Calibri" pitchFamily="34" charset="-122"/>
                <a:cs typeface="Calibri" pitchFamily="34" charset="-120"/>
              </a:rPr>
              <a:t>days to weeks</a:t>
            </a:r>
            <a:endParaRPr lang="en-US" sz="960" dirty="0"/>
          </a:p>
        </p:txBody>
      </p:sp>
      <p:sp>
        <p:nvSpPr>
          <p:cNvPr id="37" name="Shape 35"/>
          <p:cNvSpPr/>
          <p:nvPr/>
        </p:nvSpPr>
        <p:spPr>
          <a:xfrm>
            <a:off x="7734300" y="2400300"/>
            <a:ext cx="3905250" cy="2381250"/>
          </a:xfrm>
          <a:prstGeom prst="roundRect">
            <a:avLst>
              <a:gd name="adj" fmla="val 2304"/>
            </a:avLst>
          </a:prstGeom>
          <a:solidFill>
            <a:srgbClr val="DC2626">
              <a:alpha val="10000"/>
            </a:srgbClr>
          </a:solidFill>
          <a:ln w="9525">
            <a:solidFill>
              <a:srgbClr val="DC2626">
                <a:alpha val="34000"/>
              </a:srgbClr>
            </a:solidFill>
            <a:prstDash val="solid"/>
          </a:ln>
        </p:spPr>
      </p:sp>
      <p:sp>
        <p:nvSpPr>
          <p:cNvPr id="38" name="Shape 36"/>
          <p:cNvSpPr/>
          <p:nvPr/>
        </p:nvSpPr>
        <p:spPr>
          <a:xfrm>
            <a:off x="7905750" y="2590800"/>
            <a:ext cx="66675" cy="66675"/>
          </a:xfrm>
          <a:prstGeom prst="ellipse">
            <a:avLst/>
          </a:prstGeom>
          <a:solidFill>
            <a:srgbClr val="DC2626"/>
          </a:solidFill>
          <a:ln/>
        </p:spPr>
      </p:sp>
      <p:sp>
        <p:nvSpPr>
          <p:cNvPr id="39" name="Text 37"/>
          <p:cNvSpPr txBox="1"/>
          <p:nvPr/>
        </p:nvSpPr>
        <p:spPr>
          <a:xfrm>
            <a:off x="8058150" y="25431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LIMITATIONS OF EXISTING METHODS</a:t>
            </a:r>
            <a:endParaRPr lang="en-US" sz="975" dirty="0"/>
          </a:p>
        </p:txBody>
      </p:sp>
      <p:sp>
        <p:nvSpPr>
          <p:cNvPr id="40" name="Text 38"/>
          <p:cNvSpPr txBox="1"/>
          <p:nvPr/>
        </p:nvSpPr>
        <p:spPr>
          <a:xfrm>
            <a:off x="7905750" y="2781300"/>
            <a:ext cx="3562350" cy="1619250"/>
          </a:xfrm>
          <a:prstGeom prst="rect">
            <a:avLst/>
          </a:prstGeom>
          <a:noFill/>
          <a:ln/>
        </p:spPr>
        <p:txBody>
          <a:bodyPr wrap="square" lIns="0" tIns="0" rIns="0" bIns="0" rtlCol="0" anchor="t"/>
          <a:lstStyle/>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Static thresholds — criminals use </a:t>
            </a:r>
            <a:r>
              <a:rPr lang="en-US" sz="960" b="1" dirty="0">
                <a:solidFill>
                  <a:srgbClr val="FFFFFF"/>
                </a:solidFill>
                <a:latin typeface="Calibri" pitchFamily="34" charset="0"/>
                <a:ea typeface="Calibri" pitchFamily="34" charset="-122"/>
                <a:cs typeface="Calibri" pitchFamily="34" charset="-120"/>
              </a:rPr>
              <a:t>"structuring"</a:t>
            </a:r>
            <a:endParaRPr lang="en-US" sz="960" dirty="0"/>
          </a:p>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No network analysis — transactions seen in isolation</a:t>
            </a:r>
            <a:endParaRPr lang="en-US" sz="960" dirty="0"/>
          </a:p>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High false positives — investigators overwhelmed</a:t>
            </a:r>
            <a:endParaRPr lang="en-US" sz="960" dirty="0"/>
          </a:p>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Black-box models — no explainability</a:t>
            </a:r>
            <a:endParaRPr lang="en-US" sz="960" dirty="0"/>
          </a:p>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Delayed detection — funds already withdrawn</a:t>
            </a:r>
            <a:endParaRPr lang="en-US" sz="9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02 — SOLUTION ARCHITECTURE</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A </a:t>
            </a:r>
            <a:r>
              <a:rPr lang="en-US" sz="2475" b="1" dirty="0">
                <a:solidFill>
                  <a:srgbClr val="F5C542"/>
                </a:solidFill>
                <a:latin typeface="Arial" pitchFamily="34" charset="0"/>
                <a:ea typeface="Arial" pitchFamily="34" charset="-122"/>
                <a:cs typeface="Arial" pitchFamily="34" charset="-120"/>
              </a:rPr>
              <a:t>5-layer</a:t>
            </a:r>
            <a:r>
              <a:rPr lang="en-US" sz="2475" b="1" dirty="0">
                <a:solidFill>
                  <a:srgbClr val="FFFFFF"/>
                </a:solidFill>
                <a:latin typeface="Arial" pitchFamily="34" charset="0"/>
                <a:ea typeface="Arial" pitchFamily="34" charset="-122"/>
                <a:cs typeface="Arial" pitchFamily="34" charset="-120"/>
              </a:rPr>
              <a:t> AI/ML platform — from raw transactions to filed reports</a:t>
            </a:r>
            <a:endParaRPr lang="en-US" sz="2475" dirty="0"/>
          </a:p>
        </p:txBody>
      </p:sp>
      <p:sp>
        <p:nvSpPr>
          <p:cNvPr id="4" name="Shape 2"/>
          <p:cNvSpPr/>
          <p:nvPr/>
        </p:nvSpPr>
        <p:spPr>
          <a:xfrm>
            <a:off x="533400" y="1238250"/>
            <a:ext cx="11125200" cy="742950"/>
          </a:xfrm>
          <a:prstGeom prst="roundRect">
            <a:avLst>
              <a:gd name="adj" fmla="val 7385"/>
            </a:avLst>
          </a:prstGeom>
          <a:solidFill>
            <a:srgbClr val="FFFFFF">
              <a:alpha val="4000"/>
            </a:srgbClr>
          </a:solidFill>
          <a:ln w="9525">
            <a:solidFill>
              <a:srgbClr val="9AA8BE">
                <a:alpha val="16000"/>
              </a:srgbClr>
            </a:solidFill>
            <a:prstDash val="solid"/>
          </a:ln>
        </p:spPr>
      </p:sp>
      <p:sp>
        <p:nvSpPr>
          <p:cNvPr id="5" name="Shape 3"/>
          <p:cNvSpPr/>
          <p:nvPr/>
        </p:nvSpPr>
        <p:spPr>
          <a:xfrm>
            <a:off x="533400" y="1276350"/>
            <a:ext cx="28575" cy="666750"/>
          </a:xfrm>
          <a:prstGeom prst="rect">
            <a:avLst/>
          </a:prstGeom>
          <a:solidFill>
            <a:srgbClr val="2563EB"/>
          </a:solidFill>
          <a:ln/>
        </p:spPr>
      </p:sp>
      <p:sp>
        <p:nvSpPr>
          <p:cNvPr id="6" name="Text 4"/>
          <p:cNvSpPr txBox="1"/>
          <p:nvPr/>
        </p:nvSpPr>
        <p:spPr>
          <a:xfrm>
            <a:off x="742950" y="1238250"/>
            <a:ext cx="381000" cy="742950"/>
          </a:xfrm>
          <a:prstGeom prst="rect">
            <a:avLst/>
          </a:prstGeom>
          <a:noFill/>
          <a:ln/>
        </p:spPr>
        <p:txBody>
          <a:bodyPr wrap="square" lIns="0" tIns="0" rIns="0" bIns="0" rtlCol="0" anchor="ctr"/>
          <a:lstStyle/>
          <a:p>
            <a:pPr marL="0" indent="0" algn="l">
              <a:buNone/>
            </a:pPr>
            <a:r>
              <a:rPr lang="en-US" sz="1425" b="1" dirty="0">
                <a:solidFill>
                  <a:srgbClr val="F5C542"/>
                </a:solidFill>
                <a:latin typeface="Consolas" pitchFamily="34" charset="0"/>
                <a:ea typeface="Consolas" pitchFamily="34" charset="-122"/>
                <a:cs typeface="Consolas" pitchFamily="34" charset="-120"/>
              </a:rPr>
              <a:t>01</a:t>
            </a:r>
            <a:endParaRPr lang="en-US" sz="1425" dirty="0"/>
          </a:p>
        </p:txBody>
      </p:sp>
      <p:sp>
        <p:nvSpPr>
          <p:cNvPr id="7" name="Text 5"/>
          <p:cNvSpPr txBox="1"/>
          <p:nvPr/>
        </p:nvSpPr>
        <p:spPr>
          <a:xfrm>
            <a:off x="1123950" y="1238250"/>
            <a:ext cx="2190750" cy="742950"/>
          </a:xfrm>
          <a:prstGeom prst="rect">
            <a:avLst/>
          </a:prstGeom>
          <a:noFill/>
          <a:ln/>
        </p:spPr>
        <p:txBody>
          <a:bodyPr wrap="square" lIns="0" tIns="0" rIns="0" bIns="0" rtlCol="0" anchor="ctr"/>
          <a:lstStyle/>
          <a:p>
            <a:pPr marL="0" indent="0" algn="l">
              <a:buNone/>
            </a:pPr>
            <a:r>
              <a:rPr lang="en-US" sz="1088" b="1" kern="0" spc="140" dirty="0">
                <a:solidFill>
                  <a:srgbClr val="FFFFFF"/>
                </a:solidFill>
                <a:latin typeface="Arial" pitchFamily="34" charset="0"/>
                <a:ea typeface="Arial" pitchFamily="34" charset="-122"/>
                <a:cs typeface="Arial" pitchFamily="34" charset="-120"/>
              </a:rPr>
              <a:t>DATA LAYER</a:t>
            </a:r>
            <a:endParaRPr lang="en-US" sz="1088" dirty="0"/>
          </a:p>
        </p:txBody>
      </p:sp>
      <p:sp>
        <p:nvSpPr>
          <p:cNvPr id="8" name="Shape 6"/>
          <p:cNvSpPr/>
          <p:nvPr/>
        </p:nvSpPr>
        <p:spPr>
          <a:xfrm>
            <a:off x="3429000" y="1485900"/>
            <a:ext cx="1077659" cy="233362"/>
          </a:xfrm>
          <a:prstGeom prst="roundRect">
            <a:avLst>
              <a:gd name="adj" fmla="val 23510"/>
            </a:avLst>
          </a:prstGeom>
          <a:solidFill>
            <a:srgbClr val="2563EB">
              <a:alpha val="14000"/>
            </a:srgbClr>
          </a:solidFill>
          <a:ln w="9525">
            <a:solidFill>
              <a:srgbClr val="2563EB">
                <a:alpha val="40000"/>
              </a:srgbClr>
            </a:solidFill>
            <a:prstDash val="solid"/>
          </a:ln>
        </p:spPr>
      </p:sp>
      <p:sp>
        <p:nvSpPr>
          <p:cNvPr id="9" name="Text 7"/>
          <p:cNvSpPr txBox="1"/>
          <p:nvPr/>
        </p:nvSpPr>
        <p:spPr>
          <a:xfrm>
            <a:off x="3429000" y="1485900"/>
            <a:ext cx="1077659" cy="233362"/>
          </a:xfrm>
          <a:prstGeom prst="rect">
            <a:avLst/>
          </a:prstGeom>
          <a:noFill/>
          <a:ln/>
        </p:spPr>
        <p:txBody>
          <a:bodyPr wrap="square" lIns="0" tIns="0" rIns="0" bIns="0" rtlCol="0" anchor="ctr"/>
          <a:lstStyle/>
          <a:p>
            <a:pPr marL="0" indent="0" algn="ctr">
              <a:buNone/>
            </a:pPr>
            <a:r>
              <a:rPr lang="en-US" sz="788" dirty="0">
                <a:solidFill>
                  <a:srgbClr val="7CA9FF"/>
                </a:solidFill>
                <a:latin typeface="Consolas" pitchFamily="34" charset="0"/>
                <a:ea typeface="Consolas" pitchFamily="34" charset="-122"/>
                <a:cs typeface="Consolas" pitchFamily="34" charset="-120"/>
              </a:rPr>
              <a:t>SAML-D · 996MB</a:t>
            </a:r>
            <a:endParaRPr lang="en-US" sz="788" dirty="0"/>
          </a:p>
        </p:txBody>
      </p:sp>
      <p:sp>
        <p:nvSpPr>
          <p:cNvPr id="10" name="Shape 8"/>
          <p:cNvSpPr/>
          <p:nvPr/>
        </p:nvSpPr>
        <p:spPr>
          <a:xfrm>
            <a:off x="4563809" y="1485900"/>
            <a:ext cx="1201674" cy="233362"/>
          </a:xfrm>
          <a:prstGeom prst="roundRect">
            <a:avLst>
              <a:gd name="adj" fmla="val 23510"/>
            </a:avLst>
          </a:prstGeom>
          <a:solidFill>
            <a:srgbClr val="2563EB">
              <a:alpha val="14000"/>
            </a:srgbClr>
          </a:solidFill>
          <a:ln w="9525">
            <a:solidFill>
              <a:srgbClr val="2563EB">
                <a:alpha val="40000"/>
              </a:srgbClr>
            </a:solidFill>
            <a:prstDash val="solid"/>
          </a:ln>
        </p:spPr>
      </p:sp>
      <p:sp>
        <p:nvSpPr>
          <p:cNvPr id="11" name="Text 9"/>
          <p:cNvSpPr txBox="1"/>
          <p:nvPr/>
        </p:nvSpPr>
        <p:spPr>
          <a:xfrm>
            <a:off x="4563809" y="1485900"/>
            <a:ext cx="1201674" cy="233362"/>
          </a:xfrm>
          <a:prstGeom prst="rect">
            <a:avLst/>
          </a:prstGeom>
          <a:noFill/>
          <a:ln/>
        </p:spPr>
        <p:txBody>
          <a:bodyPr wrap="square" lIns="0" tIns="0" rIns="0" bIns="0" rtlCol="0" anchor="ctr"/>
          <a:lstStyle/>
          <a:p>
            <a:pPr marL="0" indent="0" algn="ctr">
              <a:buNone/>
            </a:pPr>
            <a:r>
              <a:rPr lang="en-US" sz="788" dirty="0">
                <a:solidFill>
                  <a:srgbClr val="7CA9FF"/>
                </a:solidFill>
                <a:latin typeface="Consolas" pitchFamily="34" charset="0"/>
                <a:ea typeface="Consolas" pitchFamily="34" charset="-122"/>
                <a:cs typeface="Consolas" pitchFamily="34" charset="-120"/>
              </a:rPr>
              <a:t>HI-SMALL · 475MB</a:t>
            </a:r>
            <a:endParaRPr lang="en-US" sz="788" dirty="0"/>
          </a:p>
        </p:txBody>
      </p:sp>
      <p:sp>
        <p:nvSpPr>
          <p:cNvPr id="12" name="Shape 10"/>
          <p:cNvSpPr/>
          <p:nvPr/>
        </p:nvSpPr>
        <p:spPr>
          <a:xfrm>
            <a:off x="5822633" y="1485900"/>
            <a:ext cx="953643" cy="233362"/>
          </a:xfrm>
          <a:prstGeom prst="roundRect">
            <a:avLst>
              <a:gd name="adj" fmla="val 23510"/>
            </a:avLst>
          </a:prstGeom>
          <a:solidFill>
            <a:srgbClr val="2563EB">
              <a:alpha val="14000"/>
            </a:srgbClr>
          </a:solidFill>
          <a:ln w="9525">
            <a:solidFill>
              <a:srgbClr val="2563EB">
                <a:alpha val="40000"/>
              </a:srgbClr>
            </a:solidFill>
            <a:prstDash val="solid"/>
          </a:ln>
        </p:spPr>
      </p:sp>
      <p:sp>
        <p:nvSpPr>
          <p:cNvPr id="13" name="Text 11"/>
          <p:cNvSpPr txBox="1"/>
          <p:nvPr/>
        </p:nvSpPr>
        <p:spPr>
          <a:xfrm>
            <a:off x="5822633" y="1485900"/>
            <a:ext cx="953643" cy="233362"/>
          </a:xfrm>
          <a:prstGeom prst="rect">
            <a:avLst/>
          </a:prstGeom>
          <a:noFill/>
          <a:ln/>
        </p:spPr>
        <p:txBody>
          <a:bodyPr wrap="square" lIns="0" tIns="0" rIns="0" bIns="0" rtlCol="0" anchor="ctr"/>
          <a:lstStyle/>
          <a:p>
            <a:pPr marL="0" indent="0" algn="ctr">
              <a:buNone/>
            </a:pPr>
            <a:r>
              <a:rPr lang="en-US" sz="788" dirty="0">
                <a:solidFill>
                  <a:srgbClr val="7CA9FF"/>
                </a:solidFill>
                <a:latin typeface="Consolas" pitchFamily="34" charset="0"/>
                <a:ea typeface="Consolas" pitchFamily="34" charset="-122"/>
                <a:cs typeface="Consolas" pitchFamily="34" charset="-120"/>
              </a:rPr>
              <a:t>BASE · 213MB</a:t>
            </a:r>
            <a:endParaRPr lang="en-US" sz="788" dirty="0"/>
          </a:p>
        </p:txBody>
      </p:sp>
      <p:sp>
        <p:nvSpPr>
          <p:cNvPr id="14" name="Text 12"/>
          <p:cNvSpPr txBox="1"/>
          <p:nvPr/>
        </p:nvSpPr>
        <p:spPr>
          <a:xfrm>
            <a:off x="9810750" y="1238250"/>
            <a:ext cx="1714500" cy="742950"/>
          </a:xfrm>
          <a:prstGeom prst="rect">
            <a:avLst/>
          </a:prstGeom>
          <a:noFill/>
          <a:ln/>
        </p:spPr>
        <p:txBody>
          <a:bodyPr wrap="square" lIns="0" tIns="0" rIns="0" bIns="0" rtlCol="0" anchor="ctr"/>
          <a:lstStyle/>
          <a:p>
            <a:pPr marL="0" indent="0" algn="r">
              <a:buNone/>
            </a:pPr>
            <a:r>
              <a:rPr lang="en-US" sz="825" dirty="0">
                <a:solidFill>
                  <a:srgbClr val="F5C542"/>
                </a:solidFill>
                <a:latin typeface="Consolas" pitchFamily="34" charset="0"/>
                <a:ea typeface="Consolas" pitchFamily="34" charset="-122"/>
                <a:cs typeface="Consolas" pitchFamily="34" charset="-120"/>
              </a:rPr>
              <a:t>8.8M transactions</a:t>
            </a:r>
            <a:endParaRPr lang="en-US" sz="825" dirty="0"/>
          </a:p>
          <a:p>
            <a:pPr marL="0" indent="0" algn="r">
              <a:buNone/>
            </a:pPr>
            <a:r>
              <a:rPr lang="en-US" sz="825" dirty="0">
                <a:solidFill>
                  <a:srgbClr val="F5C542"/>
                </a:solidFill>
                <a:latin typeface="Consolas" pitchFamily="34" charset="0"/>
                <a:ea typeface="Consolas" pitchFamily="34" charset="-122"/>
                <a:cs typeface="Consolas" pitchFamily="34" charset="-120"/>
              </a:rPr>
              <a:t>560,913 accounts</a:t>
            </a:r>
            <a:endParaRPr lang="en-US" sz="825" dirty="0"/>
          </a:p>
        </p:txBody>
      </p:sp>
      <p:sp>
        <p:nvSpPr>
          <p:cNvPr id="15" name="Shape 13"/>
          <p:cNvSpPr/>
          <p:nvPr/>
        </p:nvSpPr>
        <p:spPr>
          <a:xfrm flipV="1">
            <a:off x="6019800" y="2009775"/>
            <a:ext cx="133350" cy="85725"/>
          </a:xfrm>
          <a:prstGeom prst="triangle">
            <a:avLst/>
          </a:prstGeom>
          <a:solidFill>
            <a:srgbClr val="9AA8BE">
              <a:alpha val="40000"/>
            </a:srgbClr>
          </a:solidFill>
          <a:ln/>
        </p:spPr>
      </p:sp>
      <p:sp>
        <p:nvSpPr>
          <p:cNvPr id="16" name="Shape 14"/>
          <p:cNvSpPr/>
          <p:nvPr/>
        </p:nvSpPr>
        <p:spPr>
          <a:xfrm>
            <a:off x="533400" y="2266950"/>
            <a:ext cx="11125200" cy="742950"/>
          </a:xfrm>
          <a:prstGeom prst="roundRect">
            <a:avLst>
              <a:gd name="adj" fmla="val 7385"/>
            </a:avLst>
          </a:prstGeom>
          <a:solidFill>
            <a:srgbClr val="FFFFFF">
              <a:alpha val="4000"/>
            </a:srgbClr>
          </a:solidFill>
          <a:ln w="9525">
            <a:solidFill>
              <a:srgbClr val="9AA8BE">
                <a:alpha val="16000"/>
              </a:srgbClr>
            </a:solidFill>
            <a:prstDash val="solid"/>
          </a:ln>
        </p:spPr>
      </p:sp>
      <p:sp>
        <p:nvSpPr>
          <p:cNvPr id="17" name="Shape 15"/>
          <p:cNvSpPr/>
          <p:nvPr/>
        </p:nvSpPr>
        <p:spPr>
          <a:xfrm>
            <a:off x="533400" y="2305050"/>
            <a:ext cx="28575" cy="666750"/>
          </a:xfrm>
          <a:prstGeom prst="rect">
            <a:avLst/>
          </a:prstGeom>
          <a:solidFill>
            <a:srgbClr val="0F9D91"/>
          </a:solidFill>
          <a:ln/>
        </p:spPr>
      </p:sp>
      <p:sp>
        <p:nvSpPr>
          <p:cNvPr id="18" name="Text 16"/>
          <p:cNvSpPr txBox="1"/>
          <p:nvPr/>
        </p:nvSpPr>
        <p:spPr>
          <a:xfrm>
            <a:off x="742950" y="2266950"/>
            <a:ext cx="381000" cy="742950"/>
          </a:xfrm>
          <a:prstGeom prst="rect">
            <a:avLst/>
          </a:prstGeom>
          <a:noFill/>
          <a:ln/>
        </p:spPr>
        <p:txBody>
          <a:bodyPr wrap="square" lIns="0" tIns="0" rIns="0" bIns="0" rtlCol="0" anchor="ctr"/>
          <a:lstStyle/>
          <a:p>
            <a:pPr marL="0" indent="0" algn="l">
              <a:buNone/>
            </a:pPr>
            <a:r>
              <a:rPr lang="en-US" sz="1425" b="1" dirty="0">
                <a:solidFill>
                  <a:srgbClr val="F5C542"/>
                </a:solidFill>
                <a:latin typeface="Consolas" pitchFamily="34" charset="0"/>
                <a:ea typeface="Consolas" pitchFamily="34" charset="-122"/>
                <a:cs typeface="Consolas" pitchFamily="34" charset="-120"/>
              </a:rPr>
              <a:t>02</a:t>
            </a:r>
            <a:endParaRPr lang="en-US" sz="1425" dirty="0"/>
          </a:p>
        </p:txBody>
      </p:sp>
      <p:sp>
        <p:nvSpPr>
          <p:cNvPr id="19" name="Text 17"/>
          <p:cNvSpPr txBox="1"/>
          <p:nvPr/>
        </p:nvSpPr>
        <p:spPr>
          <a:xfrm>
            <a:off x="1123950" y="2266950"/>
            <a:ext cx="2190750" cy="742950"/>
          </a:xfrm>
          <a:prstGeom prst="rect">
            <a:avLst/>
          </a:prstGeom>
          <a:noFill/>
          <a:ln/>
        </p:spPr>
        <p:txBody>
          <a:bodyPr wrap="square" lIns="0" tIns="0" rIns="0" bIns="0" rtlCol="0" anchor="ctr"/>
          <a:lstStyle/>
          <a:p>
            <a:pPr marL="0" indent="0" algn="l">
              <a:buNone/>
            </a:pPr>
            <a:r>
              <a:rPr lang="en-US" sz="1088" b="1" kern="0" spc="140" dirty="0">
                <a:solidFill>
                  <a:srgbClr val="FFFFFF"/>
                </a:solidFill>
                <a:latin typeface="Arial" pitchFamily="34" charset="0"/>
                <a:ea typeface="Arial" pitchFamily="34" charset="-122"/>
                <a:cs typeface="Arial" pitchFamily="34" charset="-120"/>
              </a:rPr>
              <a:t>FEATURE ENGINEERING</a:t>
            </a:r>
            <a:endParaRPr lang="en-US" sz="1088" dirty="0"/>
          </a:p>
        </p:txBody>
      </p:sp>
      <p:sp>
        <p:nvSpPr>
          <p:cNvPr id="20" name="Shape 18"/>
          <p:cNvSpPr/>
          <p:nvPr/>
        </p:nvSpPr>
        <p:spPr>
          <a:xfrm>
            <a:off x="3429000" y="2514600"/>
            <a:ext cx="1201674" cy="233362"/>
          </a:xfrm>
          <a:prstGeom prst="roundRect">
            <a:avLst>
              <a:gd name="adj" fmla="val 23510"/>
            </a:avLst>
          </a:prstGeom>
          <a:solidFill>
            <a:srgbClr val="0F9D91">
              <a:alpha val="12000"/>
            </a:srgbClr>
          </a:solidFill>
          <a:ln w="9525">
            <a:solidFill>
              <a:srgbClr val="0F9D91">
                <a:alpha val="40000"/>
              </a:srgbClr>
            </a:solidFill>
            <a:prstDash val="solid"/>
          </a:ln>
        </p:spPr>
      </p:sp>
      <p:sp>
        <p:nvSpPr>
          <p:cNvPr id="21" name="Text 19"/>
          <p:cNvSpPr txBox="1"/>
          <p:nvPr/>
        </p:nvSpPr>
        <p:spPr>
          <a:xfrm>
            <a:off x="3429000" y="2514600"/>
            <a:ext cx="1201674" cy="233362"/>
          </a:xfrm>
          <a:prstGeom prst="rect">
            <a:avLst/>
          </a:prstGeom>
          <a:noFill/>
          <a:ln/>
        </p:spPr>
        <p:txBody>
          <a:bodyPr wrap="square" lIns="0" tIns="0" rIns="0" bIns="0" rtlCol="0" anchor="ctr"/>
          <a:lstStyle/>
          <a:p>
            <a:pPr marL="0" indent="0" algn="ctr">
              <a:buNone/>
            </a:pPr>
            <a:r>
              <a:rPr lang="en-US" sz="788" dirty="0">
                <a:solidFill>
                  <a:srgbClr val="2CC5B7"/>
                </a:solidFill>
                <a:latin typeface="Consolas" pitchFamily="34" charset="0"/>
                <a:ea typeface="Consolas" pitchFamily="34" charset="-122"/>
                <a:cs typeface="Consolas" pitchFamily="34" charset="-120"/>
              </a:rPr>
              <a:t>BEHAVIOURAL (20)</a:t>
            </a:r>
            <a:endParaRPr lang="en-US" sz="788" dirty="0"/>
          </a:p>
        </p:txBody>
      </p:sp>
      <p:sp>
        <p:nvSpPr>
          <p:cNvPr id="22" name="Shape 20"/>
          <p:cNvSpPr/>
          <p:nvPr/>
        </p:nvSpPr>
        <p:spPr>
          <a:xfrm>
            <a:off x="4687824" y="2514600"/>
            <a:ext cx="767620" cy="233362"/>
          </a:xfrm>
          <a:prstGeom prst="roundRect">
            <a:avLst>
              <a:gd name="adj" fmla="val 23510"/>
            </a:avLst>
          </a:prstGeom>
          <a:solidFill>
            <a:srgbClr val="0F9D91">
              <a:alpha val="12000"/>
            </a:srgbClr>
          </a:solidFill>
          <a:ln w="9525">
            <a:solidFill>
              <a:srgbClr val="0F9D91">
                <a:alpha val="40000"/>
              </a:srgbClr>
            </a:solidFill>
            <a:prstDash val="solid"/>
          </a:ln>
        </p:spPr>
      </p:sp>
      <p:sp>
        <p:nvSpPr>
          <p:cNvPr id="23" name="Text 21"/>
          <p:cNvSpPr txBox="1"/>
          <p:nvPr/>
        </p:nvSpPr>
        <p:spPr>
          <a:xfrm>
            <a:off x="4687824" y="2514600"/>
            <a:ext cx="767620" cy="233362"/>
          </a:xfrm>
          <a:prstGeom prst="rect">
            <a:avLst/>
          </a:prstGeom>
          <a:noFill/>
          <a:ln/>
        </p:spPr>
        <p:txBody>
          <a:bodyPr wrap="square" lIns="0" tIns="0" rIns="0" bIns="0" rtlCol="0" anchor="ctr"/>
          <a:lstStyle/>
          <a:p>
            <a:pPr marL="0" indent="0" algn="ctr">
              <a:buNone/>
            </a:pPr>
            <a:r>
              <a:rPr lang="en-US" sz="788" dirty="0">
                <a:solidFill>
                  <a:srgbClr val="2CC5B7"/>
                </a:solidFill>
                <a:latin typeface="Consolas" pitchFamily="34" charset="0"/>
                <a:ea typeface="Consolas" pitchFamily="34" charset="-122"/>
                <a:cs typeface="Consolas" pitchFamily="34" charset="-120"/>
              </a:rPr>
              <a:t>GRAPH (9)</a:t>
            </a:r>
            <a:endParaRPr lang="en-US" sz="788" dirty="0"/>
          </a:p>
        </p:txBody>
      </p:sp>
      <p:sp>
        <p:nvSpPr>
          <p:cNvPr id="24" name="Shape 22"/>
          <p:cNvSpPr/>
          <p:nvPr/>
        </p:nvSpPr>
        <p:spPr>
          <a:xfrm>
            <a:off x="5512594" y="2514600"/>
            <a:ext cx="1015651" cy="233362"/>
          </a:xfrm>
          <a:prstGeom prst="roundRect">
            <a:avLst>
              <a:gd name="adj" fmla="val 23510"/>
            </a:avLst>
          </a:prstGeom>
          <a:solidFill>
            <a:srgbClr val="0F9D91">
              <a:alpha val="12000"/>
            </a:srgbClr>
          </a:solidFill>
          <a:ln w="9525">
            <a:solidFill>
              <a:srgbClr val="0F9D91">
                <a:alpha val="40000"/>
              </a:srgbClr>
            </a:solidFill>
            <a:prstDash val="solid"/>
          </a:ln>
        </p:spPr>
      </p:sp>
      <p:sp>
        <p:nvSpPr>
          <p:cNvPr id="25" name="Text 23"/>
          <p:cNvSpPr txBox="1"/>
          <p:nvPr/>
        </p:nvSpPr>
        <p:spPr>
          <a:xfrm>
            <a:off x="5512594" y="2514600"/>
            <a:ext cx="1015651" cy="233362"/>
          </a:xfrm>
          <a:prstGeom prst="rect">
            <a:avLst/>
          </a:prstGeom>
          <a:noFill/>
          <a:ln/>
        </p:spPr>
        <p:txBody>
          <a:bodyPr wrap="square" lIns="0" tIns="0" rIns="0" bIns="0" rtlCol="0" anchor="ctr"/>
          <a:lstStyle/>
          <a:p>
            <a:pPr marL="0" indent="0" algn="ctr">
              <a:buNone/>
            </a:pPr>
            <a:r>
              <a:rPr lang="en-US" sz="788" dirty="0">
                <a:solidFill>
                  <a:srgbClr val="2CC5B7"/>
                </a:solidFill>
                <a:latin typeface="Consolas" pitchFamily="34" charset="0"/>
                <a:ea typeface="Consolas" pitchFamily="34" charset="-122"/>
                <a:cs typeface="Consolas" pitchFamily="34" charset="-120"/>
              </a:rPr>
              <a:t>IDENTITY (35)</a:t>
            </a:r>
            <a:endParaRPr lang="en-US" sz="788" dirty="0"/>
          </a:p>
        </p:txBody>
      </p:sp>
      <p:sp>
        <p:nvSpPr>
          <p:cNvPr id="26" name="Text 24"/>
          <p:cNvSpPr txBox="1"/>
          <p:nvPr/>
        </p:nvSpPr>
        <p:spPr>
          <a:xfrm>
            <a:off x="9810750" y="2266950"/>
            <a:ext cx="1714500" cy="742950"/>
          </a:xfrm>
          <a:prstGeom prst="rect">
            <a:avLst/>
          </a:prstGeom>
          <a:noFill/>
          <a:ln/>
        </p:spPr>
        <p:txBody>
          <a:bodyPr wrap="square" lIns="0" tIns="0" rIns="0" bIns="0" rtlCol="0" anchor="ctr"/>
          <a:lstStyle/>
          <a:p>
            <a:pPr marL="0" indent="0" algn="r">
              <a:buNone/>
            </a:pPr>
            <a:r>
              <a:rPr lang="en-US" sz="825" dirty="0">
                <a:solidFill>
                  <a:srgbClr val="F5C542"/>
                </a:solidFill>
                <a:latin typeface="Consolas" pitchFamily="34" charset="0"/>
                <a:ea typeface="Consolas" pitchFamily="34" charset="-122"/>
                <a:cs typeface="Consolas" pitchFamily="34" charset="-120"/>
              </a:rPr>
              <a:t>64 features</a:t>
            </a:r>
            <a:endParaRPr lang="en-US" sz="825" dirty="0"/>
          </a:p>
          <a:p>
            <a:pPr marL="0" indent="0" algn="r">
              <a:buNone/>
            </a:pPr>
            <a:r>
              <a:rPr lang="en-US" sz="825" dirty="0">
                <a:solidFill>
                  <a:srgbClr val="F5C542"/>
                </a:solidFill>
                <a:latin typeface="Consolas" pitchFamily="34" charset="0"/>
                <a:ea typeface="Consolas" pitchFamily="34" charset="-122"/>
                <a:cs typeface="Consolas" pitchFamily="34" charset="-120"/>
              </a:rPr>
              <a:t>total</a:t>
            </a:r>
            <a:endParaRPr lang="en-US" sz="825" dirty="0"/>
          </a:p>
        </p:txBody>
      </p:sp>
      <p:sp>
        <p:nvSpPr>
          <p:cNvPr id="27" name="Shape 25"/>
          <p:cNvSpPr/>
          <p:nvPr/>
        </p:nvSpPr>
        <p:spPr>
          <a:xfrm flipV="1">
            <a:off x="6019800" y="3038475"/>
            <a:ext cx="133350" cy="85725"/>
          </a:xfrm>
          <a:prstGeom prst="triangle">
            <a:avLst/>
          </a:prstGeom>
          <a:solidFill>
            <a:srgbClr val="9AA8BE">
              <a:alpha val="40000"/>
            </a:srgbClr>
          </a:solidFill>
          <a:ln/>
        </p:spPr>
      </p:sp>
      <p:sp>
        <p:nvSpPr>
          <p:cNvPr id="28" name="Shape 26"/>
          <p:cNvSpPr/>
          <p:nvPr/>
        </p:nvSpPr>
        <p:spPr>
          <a:xfrm>
            <a:off x="533400" y="3295650"/>
            <a:ext cx="11125200" cy="742950"/>
          </a:xfrm>
          <a:prstGeom prst="roundRect">
            <a:avLst>
              <a:gd name="adj" fmla="val 7385"/>
            </a:avLst>
          </a:prstGeom>
          <a:solidFill>
            <a:srgbClr val="FFFFFF">
              <a:alpha val="4000"/>
            </a:srgbClr>
          </a:solidFill>
          <a:ln w="9525">
            <a:solidFill>
              <a:srgbClr val="9AA8BE">
                <a:alpha val="16000"/>
              </a:srgbClr>
            </a:solidFill>
            <a:prstDash val="solid"/>
          </a:ln>
        </p:spPr>
      </p:sp>
      <p:sp>
        <p:nvSpPr>
          <p:cNvPr id="29" name="Shape 27"/>
          <p:cNvSpPr/>
          <p:nvPr/>
        </p:nvSpPr>
        <p:spPr>
          <a:xfrm>
            <a:off x="533400" y="3333750"/>
            <a:ext cx="28575" cy="666750"/>
          </a:xfrm>
          <a:prstGeom prst="rect">
            <a:avLst/>
          </a:prstGeom>
          <a:solidFill>
            <a:srgbClr val="F5C542"/>
          </a:solidFill>
          <a:ln/>
        </p:spPr>
      </p:sp>
      <p:sp>
        <p:nvSpPr>
          <p:cNvPr id="30" name="Text 28"/>
          <p:cNvSpPr txBox="1"/>
          <p:nvPr/>
        </p:nvSpPr>
        <p:spPr>
          <a:xfrm>
            <a:off x="742950" y="3295650"/>
            <a:ext cx="381000" cy="742950"/>
          </a:xfrm>
          <a:prstGeom prst="rect">
            <a:avLst/>
          </a:prstGeom>
          <a:noFill/>
          <a:ln/>
        </p:spPr>
        <p:txBody>
          <a:bodyPr wrap="square" lIns="0" tIns="0" rIns="0" bIns="0" rtlCol="0" anchor="ctr"/>
          <a:lstStyle/>
          <a:p>
            <a:pPr marL="0" indent="0" algn="l">
              <a:buNone/>
            </a:pPr>
            <a:r>
              <a:rPr lang="en-US" sz="1425" b="1" dirty="0">
                <a:solidFill>
                  <a:srgbClr val="F5C542"/>
                </a:solidFill>
                <a:latin typeface="Consolas" pitchFamily="34" charset="0"/>
                <a:ea typeface="Consolas" pitchFamily="34" charset="-122"/>
                <a:cs typeface="Consolas" pitchFamily="34" charset="-120"/>
              </a:rPr>
              <a:t>03</a:t>
            </a:r>
            <a:endParaRPr lang="en-US" sz="1425" dirty="0"/>
          </a:p>
        </p:txBody>
      </p:sp>
      <p:sp>
        <p:nvSpPr>
          <p:cNvPr id="31" name="Text 29"/>
          <p:cNvSpPr txBox="1"/>
          <p:nvPr/>
        </p:nvSpPr>
        <p:spPr>
          <a:xfrm>
            <a:off x="1123950" y="3295650"/>
            <a:ext cx="2190750" cy="742950"/>
          </a:xfrm>
          <a:prstGeom prst="rect">
            <a:avLst/>
          </a:prstGeom>
          <a:noFill/>
          <a:ln/>
        </p:spPr>
        <p:txBody>
          <a:bodyPr wrap="square" lIns="0" tIns="0" rIns="0" bIns="0" rtlCol="0" anchor="ctr"/>
          <a:lstStyle/>
          <a:p>
            <a:pPr marL="0" indent="0" algn="l">
              <a:buNone/>
            </a:pPr>
            <a:r>
              <a:rPr lang="en-US" sz="1088" b="1" kern="0" spc="140" dirty="0">
                <a:solidFill>
                  <a:srgbClr val="FFFFFF"/>
                </a:solidFill>
                <a:latin typeface="Arial" pitchFamily="34" charset="0"/>
                <a:ea typeface="Arial" pitchFamily="34" charset="-122"/>
                <a:cs typeface="Arial" pitchFamily="34" charset="-120"/>
              </a:rPr>
              <a:t>MULTI-MODEL ENSEMBLE</a:t>
            </a:r>
            <a:endParaRPr lang="en-US" sz="1088" dirty="0"/>
          </a:p>
        </p:txBody>
      </p:sp>
      <p:sp>
        <p:nvSpPr>
          <p:cNvPr id="32" name="Shape 30"/>
          <p:cNvSpPr/>
          <p:nvPr/>
        </p:nvSpPr>
        <p:spPr>
          <a:xfrm>
            <a:off x="3429000" y="3543300"/>
            <a:ext cx="333565" cy="233362"/>
          </a:xfrm>
          <a:prstGeom prst="roundRect">
            <a:avLst>
              <a:gd name="adj" fmla="val 23510"/>
            </a:avLst>
          </a:prstGeom>
          <a:solidFill>
            <a:srgbClr val="F5C542">
              <a:alpha val="10000"/>
            </a:srgbClr>
          </a:solidFill>
          <a:ln w="9525">
            <a:solidFill>
              <a:srgbClr val="F5C542">
                <a:alpha val="40000"/>
              </a:srgbClr>
            </a:solidFill>
            <a:prstDash val="solid"/>
          </a:ln>
        </p:spPr>
      </p:sp>
      <p:sp>
        <p:nvSpPr>
          <p:cNvPr id="33" name="Text 31"/>
          <p:cNvSpPr txBox="1"/>
          <p:nvPr/>
        </p:nvSpPr>
        <p:spPr>
          <a:xfrm>
            <a:off x="3429000" y="3543300"/>
            <a:ext cx="333565" cy="233362"/>
          </a:xfrm>
          <a:prstGeom prst="rect">
            <a:avLst/>
          </a:prstGeom>
          <a:noFill/>
          <a:ln/>
        </p:spPr>
        <p:txBody>
          <a:bodyPr wrap="square" lIns="0" tIns="0" rIns="0" bIns="0" rtlCol="0" anchor="ctr"/>
          <a:lstStyle/>
          <a:p>
            <a:pPr marL="0" indent="0" algn="ctr">
              <a:buNone/>
            </a:pPr>
            <a:r>
              <a:rPr lang="en-US" sz="788" dirty="0">
                <a:solidFill>
                  <a:srgbClr val="F5C542"/>
                </a:solidFill>
                <a:latin typeface="Consolas" pitchFamily="34" charset="0"/>
                <a:ea typeface="Consolas" pitchFamily="34" charset="-122"/>
                <a:cs typeface="Consolas" pitchFamily="34" charset="-120"/>
              </a:rPr>
              <a:t>GB</a:t>
            </a:r>
            <a:endParaRPr lang="en-US" sz="788" dirty="0"/>
          </a:p>
        </p:txBody>
      </p:sp>
      <p:sp>
        <p:nvSpPr>
          <p:cNvPr id="34" name="Shape 32"/>
          <p:cNvSpPr/>
          <p:nvPr/>
        </p:nvSpPr>
        <p:spPr>
          <a:xfrm>
            <a:off x="3819715" y="3543300"/>
            <a:ext cx="643604" cy="233362"/>
          </a:xfrm>
          <a:prstGeom prst="roundRect">
            <a:avLst>
              <a:gd name="adj" fmla="val 23510"/>
            </a:avLst>
          </a:prstGeom>
          <a:solidFill>
            <a:srgbClr val="F5C542">
              <a:alpha val="10000"/>
            </a:srgbClr>
          </a:solidFill>
          <a:ln w="9525">
            <a:solidFill>
              <a:srgbClr val="F5C542">
                <a:alpha val="40000"/>
              </a:srgbClr>
            </a:solidFill>
            <a:prstDash val="solid"/>
          </a:ln>
        </p:spPr>
      </p:sp>
      <p:sp>
        <p:nvSpPr>
          <p:cNvPr id="35" name="Text 33"/>
          <p:cNvSpPr txBox="1"/>
          <p:nvPr/>
        </p:nvSpPr>
        <p:spPr>
          <a:xfrm>
            <a:off x="3819715" y="3543300"/>
            <a:ext cx="643604" cy="233362"/>
          </a:xfrm>
          <a:prstGeom prst="rect">
            <a:avLst/>
          </a:prstGeom>
          <a:noFill/>
          <a:ln/>
        </p:spPr>
        <p:txBody>
          <a:bodyPr wrap="square" lIns="0" tIns="0" rIns="0" bIns="0" rtlCol="0" anchor="ctr"/>
          <a:lstStyle/>
          <a:p>
            <a:pPr marL="0" indent="0" algn="ctr">
              <a:buNone/>
            </a:pPr>
            <a:r>
              <a:rPr lang="en-US" sz="788" dirty="0">
                <a:solidFill>
                  <a:srgbClr val="F5C542"/>
                </a:solidFill>
                <a:latin typeface="Consolas" pitchFamily="34" charset="0"/>
                <a:ea typeface="Consolas" pitchFamily="34" charset="-122"/>
                <a:cs typeface="Consolas" pitchFamily="34" charset="-120"/>
              </a:rPr>
              <a:t>BAGGING</a:t>
            </a:r>
            <a:endParaRPr lang="en-US" sz="788" dirty="0"/>
          </a:p>
        </p:txBody>
      </p:sp>
      <p:sp>
        <p:nvSpPr>
          <p:cNvPr id="36" name="Shape 34"/>
          <p:cNvSpPr/>
          <p:nvPr/>
        </p:nvSpPr>
        <p:spPr>
          <a:xfrm>
            <a:off x="4520470" y="3543300"/>
            <a:ext cx="395573" cy="233362"/>
          </a:xfrm>
          <a:prstGeom prst="roundRect">
            <a:avLst>
              <a:gd name="adj" fmla="val 23510"/>
            </a:avLst>
          </a:prstGeom>
          <a:solidFill>
            <a:srgbClr val="F5C542">
              <a:alpha val="10000"/>
            </a:srgbClr>
          </a:solidFill>
          <a:ln w="9525">
            <a:solidFill>
              <a:srgbClr val="F5C542">
                <a:alpha val="40000"/>
              </a:srgbClr>
            </a:solidFill>
            <a:prstDash val="solid"/>
          </a:ln>
        </p:spPr>
      </p:sp>
      <p:sp>
        <p:nvSpPr>
          <p:cNvPr id="37" name="Text 35"/>
          <p:cNvSpPr txBox="1"/>
          <p:nvPr/>
        </p:nvSpPr>
        <p:spPr>
          <a:xfrm>
            <a:off x="4520470" y="3543300"/>
            <a:ext cx="395573" cy="233362"/>
          </a:xfrm>
          <a:prstGeom prst="rect">
            <a:avLst/>
          </a:prstGeom>
          <a:noFill/>
          <a:ln/>
        </p:spPr>
        <p:txBody>
          <a:bodyPr wrap="square" lIns="0" tIns="0" rIns="0" bIns="0" rtlCol="0" anchor="ctr"/>
          <a:lstStyle/>
          <a:p>
            <a:pPr marL="0" indent="0" algn="ctr">
              <a:buNone/>
            </a:pPr>
            <a:r>
              <a:rPr lang="en-US" sz="788" dirty="0">
                <a:solidFill>
                  <a:srgbClr val="F5C542"/>
                </a:solidFill>
                <a:latin typeface="Consolas" pitchFamily="34" charset="0"/>
                <a:ea typeface="Consolas" pitchFamily="34" charset="-122"/>
                <a:cs typeface="Consolas" pitchFamily="34" charset="-120"/>
              </a:rPr>
              <a:t>XGB</a:t>
            </a:r>
            <a:endParaRPr lang="en-US" sz="788" dirty="0"/>
          </a:p>
        </p:txBody>
      </p:sp>
      <p:sp>
        <p:nvSpPr>
          <p:cNvPr id="38" name="Shape 36"/>
          <p:cNvSpPr/>
          <p:nvPr/>
        </p:nvSpPr>
        <p:spPr>
          <a:xfrm>
            <a:off x="4973193" y="3543300"/>
            <a:ext cx="333565"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39" name="Text 37"/>
          <p:cNvSpPr txBox="1"/>
          <p:nvPr/>
        </p:nvSpPr>
        <p:spPr>
          <a:xfrm>
            <a:off x="4973193" y="3543300"/>
            <a:ext cx="333565"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RF</a:t>
            </a:r>
            <a:endParaRPr lang="en-US" sz="788" dirty="0"/>
          </a:p>
        </p:txBody>
      </p:sp>
      <p:sp>
        <p:nvSpPr>
          <p:cNvPr id="40" name="Shape 38"/>
          <p:cNvSpPr/>
          <p:nvPr/>
        </p:nvSpPr>
        <p:spPr>
          <a:xfrm>
            <a:off x="5363909" y="3543300"/>
            <a:ext cx="333565"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41" name="Text 39"/>
          <p:cNvSpPr txBox="1"/>
          <p:nvPr/>
        </p:nvSpPr>
        <p:spPr>
          <a:xfrm>
            <a:off x="5363909" y="3543300"/>
            <a:ext cx="333565"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ET</a:t>
            </a:r>
            <a:endParaRPr lang="en-US" sz="788" dirty="0"/>
          </a:p>
        </p:txBody>
      </p:sp>
      <p:sp>
        <p:nvSpPr>
          <p:cNvPr id="42" name="Shape 40"/>
          <p:cNvSpPr/>
          <p:nvPr/>
        </p:nvSpPr>
        <p:spPr>
          <a:xfrm>
            <a:off x="5754624" y="3543300"/>
            <a:ext cx="333565"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43" name="Text 41"/>
          <p:cNvSpPr txBox="1"/>
          <p:nvPr/>
        </p:nvSpPr>
        <p:spPr>
          <a:xfrm>
            <a:off x="5754624" y="3543300"/>
            <a:ext cx="333565"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DT</a:t>
            </a:r>
            <a:endParaRPr lang="en-US" sz="788" dirty="0"/>
          </a:p>
        </p:txBody>
      </p:sp>
      <p:sp>
        <p:nvSpPr>
          <p:cNvPr id="44" name="Shape 42"/>
          <p:cNvSpPr/>
          <p:nvPr/>
        </p:nvSpPr>
        <p:spPr>
          <a:xfrm>
            <a:off x="6145339" y="3543300"/>
            <a:ext cx="333565"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45" name="Text 43"/>
          <p:cNvSpPr txBox="1"/>
          <p:nvPr/>
        </p:nvSpPr>
        <p:spPr>
          <a:xfrm>
            <a:off x="6145339" y="3543300"/>
            <a:ext cx="333565"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LR</a:t>
            </a:r>
            <a:endParaRPr lang="en-US" sz="788" dirty="0"/>
          </a:p>
        </p:txBody>
      </p:sp>
      <p:sp>
        <p:nvSpPr>
          <p:cNvPr id="46" name="Text 44"/>
          <p:cNvSpPr txBox="1"/>
          <p:nvPr/>
        </p:nvSpPr>
        <p:spPr>
          <a:xfrm>
            <a:off x="9810750" y="3295650"/>
            <a:ext cx="1714500" cy="742950"/>
          </a:xfrm>
          <a:prstGeom prst="rect">
            <a:avLst/>
          </a:prstGeom>
          <a:noFill/>
          <a:ln/>
        </p:spPr>
        <p:txBody>
          <a:bodyPr wrap="square" lIns="0" tIns="0" rIns="0" bIns="0" rtlCol="0" anchor="ctr"/>
          <a:lstStyle/>
          <a:p>
            <a:pPr marL="0" indent="0" algn="r">
              <a:buNone/>
            </a:pPr>
            <a:r>
              <a:rPr lang="en-US" sz="825" dirty="0">
                <a:solidFill>
                  <a:srgbClr val="F5C542"/>
                </a:solidFill>
                <a:latin typeface="Consolas" pitchFamily="34" charset="0"/>
                <a:ea typeface="Consolas" pitchFamily="34" charset="-122"/>
                <a:cs typeface="Consolas" pitchFamily="34" charset="-120"/>
              </a:rPr>
              <a:t>7 algorithms</a:t>
            </a:r>
            <a:endParaRPr lang="en-US" sz="825" dirty="0"/>
          </a:p>
          <a:p>
            <a:pPr marL="0" indent="0" algn="r">
              <a:buNone/>
            </a:pPr>
            <a:r>
              <a:rPr lang="en-US" sz="825" dirty="0">
                <a:solidFill>
                  <a:srgbClr val="F5C542"/>
                </a:solidFill>
                <a:latin typeface="Consolas" pitchFamily="34" charset="0"/>
                <a:ea typeface="Consolas" pitchFamily="34" charset="-122"/>
                <a:cs typeface="Consolas" pitchFamily="34" charset="-120"/>
              </a:rPr>
              <a:t>compared</a:t>
            </a:r>
            <a:endParaRPr lang="en-US" sz="825" dirty="0"/>
          </a:p>
        </p:txBody>
      </p:sp>
      <p:sp>
        <p:nvSpPr>
          <p:cNvPr id="47" name="Shape 45"/>
          <p:cNvSpPr/>
          <p:nvPr/>
        </p:nvSpPr>
        <p:spPr>
          <a:xfrm flipV="1">
            <a:off x="6019800" y="4067175"/>
            <a:ext cx="133350" cy="85725"/>
          </a:xfrm>
          <a:prstGeom prst="triangle">
            <a:avLst/>
          </a:prstGeom>
          <a:solidFill>
            <a:srgbClr val="9AA8BE">
              <a:alpha val="40000"/>
            </a:srgbClr>
          </a:solidFill>
          <a:ln/>
        </p:spPr>
      </p:sp>
      <p:sp>
        <p:nvSpPr>
          <p:cNvPr id="48" name="Shape 46"/>
          <p:cNvSpPr/>
          <p:nvPr/>
        </p:nvSpPr>
        <p:spPr>
          <a:xfrm>
            <a:off x="533400" y="4324350"/>
            <a:ext cx="11125200" cy="742950"/>
          </a:xfrm>
          <a:prstGeom prst="roundRect">
            <a:avLst>
              <a:gd name="adj" fmla="val 7385"/>
            </a:avLst>
          </a:prstGeom>
          <a:solidFill>
            <a:srgbClr val="FFFFFF">
              <a:alpha val="4000"/>
            </a:srgbClr>
          </a:solidFill>
          <a:ln w="9525">
            <a:solidFill>
              <a:srgbClr val="9AA8BE">
                <a:alpha val="16000"/>
              </a:srgbClr>
            </a:solidFill>
            <a:prstDash val="solid"/>
          </a:ln>
        </p:spPr>
      </p:sp>
      <p:sp>
        <p:nvSpPr>
          <p:cNvPr id="49" name="Shape 47"/>
          <p:cNvSpPr/>
          <p:nvPr/>
        </p:nvSpPr>
        <p:spPr>
          <a:xfrm>
            <a:off x="533400" y="4362450"/>
            <a:ext cx="28575" cy="666750"/>
          </a:xfrm>
          <a:prstGeom prst="rect">
            <a:avLst/>
          </a:prstGeom>
          <a:solidFill>
            <a:srgbClr val="DC2626"/>
          </a:solidFill>
          <a:ln/>
        </p:spPr>
      </p:sp>
      <p:sp>
        <p:nvSpPr>
          <p:cNvPr id="50" name="Text 48"/>
          <p:cNvSpPr txBox="1"/>
          <p:nvPr/>
        </p:nvSpPr>
        <p:spPr>
          <a:xfrm>
            <a:off x="742950" y="4324350"/>
            <a:ext cx="381000" cy="742950"/>
          </a:xfrm>
          <a:prstGeom prst="rect">
            <a:avLst/>
          </a:prstGeom>
          <a:noFill/>
          <a:ln/>
        </p:spPr>
        <p:txBody>
          <a:bodyPr wrap="square" lIns="0" tIns="0" rIns="0" bIns="0" rtlCol="0" anchor="ctr"/>
          <a:lstStyle/>
          <a:p>
            <a:pPr marL="0" indent="0" algn="l">
              <a:buNone/>
            </a:pPr>
            <a:r>
              <a:rPr lang="en-US" sz="1425" b="1" dirty="0">
                <a:solidFill>
                  <a:srgbClr val="F5C542"/>
                </a:solidFill>
                <a:latin typeface="Consolas" pitchFamily="34" charset="0"/>
                <a:ea typeface="Consolas" pitchFamily="34" charset="-122"/>
                <a:cs typeface="Consolas" pitchFamily="34" charset="-120"/>
              </a:rPr>
              <a:t>04</a:t>
            </a:r>
            <a:endParaRPr lang="en-US" sz="1425" dirty="0"/>
          </a:p>
        </p:txBody>
      </p:sp>
      <p:sp>
        <p:nvSpPr>
          <p:cNvPr id="51" name="Text 49"/>
          <p:cNvSpPr txBox="1"/>
          <p:nvPr/>
        </p:nvSpPr>
        <p:spPr>
          <a:xfrm>
            <a:off x="1123950" y="4324350"/>
            <a:ext cx="2190750" cy="742950"/>
          </a:xfrm>
          <a:prstGeom prst="rect">
            <a:avLst/>
          </a:prstGeom>
          <a:noFill/>
          <a:ln/>
        </p:spPr>
        <p:txBody>
          <a:bodyPr wrap="square" lIns="0" tIns="0" rIns="0" bIns="0" rtlCol="0" anchor="ctr"/>
          <a:lstStyle/>
          <a:p>
            <a:pPr marL="0" indent="0" algn="l">
              <a:buNone/>
            </a:pPr>
            <a:r>
              <a:rPr lang="en-US" sz="1088" b="1" kern="0" spc="140" dirty="0">
                <a:solidFill>
                  <a:srgbClr val="FFFFFF"/>
                </a:solidFill>
                <a:latin typeface="Arial" pitchFamily="34" charset="0"/>
                <a:ea typeface="Arial" pitchFamily="34" charset="-122"/>
                <a:cs typeface="Arial" pitchFamily="34" charset="-120"/>
              </a:rPr>
              <a:t>FUSION + EXPLAINABILITY</a:t>
            </a:r>
            <a:endParaRPr lang="en-US" sz="1088" dirty="0"/>
          </a:p>
        </p:txBody>
      </p:sp>
      <p:sp>
        <p:nvSpPr>
          <p:cNvPr id="52" name="Shape 50"/>
          <p:cNvSpPr/>
          <p:nvPr/>
        </p:nvSpPr>
        <p:spPr>
          <a:xfrm>
            <a:off x="3429000" y="4572000"/>
            <a:ext cx="1945767" cy="233362"/>
          </a:xfrm>
          <a:prstGeom prst="roundRect">
            <a:avLst>
              <a:gd name="adj" fmla="val 23510"/>
            </a:avLst>
          </a:prstGeom>
          <a:solidFill>
            <a:srgbClr val="DC2626">
              <a:alpha val="12000"/>
            </a:srgbClr>
          </a:solidFill>
          <a:ln w="9525">
            <a:solidFill>
              <a:srgbClr val="DC2626">
                <a:alpha val="40000"/>
              </a:srgbClr>
            </a:solidFill>
            <a:prstDash val="solid"/>
          </a:ln>
        </p:spPr>
      </p:sp>
      <p:sp>
        <p:nvSpPr>
          <p:cNvPr id="53" name="Text 51"/>
          <p:cNvSpPr txBox="1"/>
          <p:nvPr/>
        </p:nvSpPr>
        <p:spPr>
          <a:xfrm>
            <a:off x="3429000" y="4572000"/>
            <a:ext cx="1945767" cy="233362"/>
          </a:xfrm>
          <a:prstGeom prst="rect">
            <a:avLst/>
          </a:prstGeom>
          <a:noFill/>
          <a:ln/>
        </p:spPr>
        <p:txBody>
          <a:bodyPr wrap="square" lIns="0" tIns="0" rIns="0" bIns="0" rtlCol="0" anchor="ctr"/>
          <a:lstStyle/>
          <a:p>
            <a:pPr marL="0" indent="0" algn="ctr">
              <a:buNone/>
            </a:pPr>
            <a:r>
              <a:rPr lang="en-US" sz="788" dirty="0">
                <a:solidFill>
                  <a:srgbClr val="F87171"/>
                </a:solidFill>
                <a:latin typeface="Consolas" pitchFamily="34" charset="0"/>
                <a:ea typeface="Consolas" pitchFamily="34" charset="-122"/>
                <a:cs typeface="Consolas" pitchFamily="34" charset="-120"/>
              </a:rPr>
              <a:t>R = 0.50×B + 0.30×G + 0.20×I</a:t>
            </a:r>
            <a:endParaRPr lang="en-US" sz="788" dirty="0"/>
          </a:p>
        </p:txBody>
      </p:sp>
      <p:sp>
        <p:nvSpPr>
          <p:cNvPr id="54" name="Shape 52"/>
          <p:cNvSpPr/>
          <p:nvPr/>
        </p:nvSpPr>
        <p:spPr>
          <a:xfrm>
            <a:off x="5431917" y="4572000"/>
            <a:ext cx="1263682"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55" name="Text 53"/>
          <p:cNvSpPr txBox="1"/>
          <p:nvPr/>
        </p:nvSpPr>
        <p:spPr>
          <a:xfrm>
            <a:off x="5431917" y="4572000"/>
            <a:ext cx="1263682"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SHAP REASON CODES</a:t>
            </a:r>
            <a:endParaRPr lang="en-US" sz="788" dirty="0"/>
          </a:p>
        </p:txBody>
      </p:sp>
      <p:sp>
        <p:nvSpPr>
          <p:cNvPr id="56" name="Text 54"/>
          <p:cNvSpPr txBox="1"/>
          <p:nvPr/>
        </p:nvSpPr>
        <p:spPr>
          <a:xfrm>
            <a:off x="9810750" y="4324350"/>
            <a:ext cx="1714500" cy="742950"/>
          </a:xfrm>
          <a:prstGeom prst="rect">
            <a:avLst/>
          </a:prstGeom>
          <a:noFill/>
          <a:ln/>
        </p:spPr>
        <p:txBody>
          <a:bodyPr wrap="square" lIns="0" tIns="0" rIns="0" bIns="0" rtlCol="0" anchor="ctr"/>
          <a:lstStyle/>
          <a:p>
            <a:pPr marL="0" indent="0" algn="r">
              <a:buNone/>
            </a:pPr>
            <a:r>
              <a:rPr lang="en-US" sz="825" dirty="0">
                <a:solidFill>
                  <a:srgbClr val="F5C542"/>
                </a:solidFill>
                <a:latin typeface="Consolas" pitchFamily="34" charset="0"/>
                <a:ea typeface="Consolas" pitchFamily="34" charset="-122"/>
                <a:cs typeface="Consolas" pitchFamily="34" charset="-120"/>
              </a:rPr>
              <a:t>HIGH ≥70</a:t>
            </a:r>
            <a:endParaRPr lang="en-US" sz="825" dirty="0"/>
          </a:p>
          <a:p>
            <a:pPr marL="0" indent="0" algn="r">
              <a:buNone/>
            </a:pPr>
            <a:r>
              <a:rPr lang="en-US" sz="825" dirty="0">
                <a:solidFill>
                  <a:srgbClr val="F5C542"/>
                </a:solidFill>
                <a:latin typeface="Consolas" pitchFamily="34" charset="0"/>
                <a:ea typeface="Consolas" pitchFamily="34" charset="-122"/>
                <a:cs typeface="Consolas" pitchFamily="34" charset="-120"/>
              </a:rPr>
              <a:t>MED 40–69 · LOW &lt;40</a:t>
            </a:r>
            <a:endParaRPr lang="en-US" sz="825" dirty="0"/>
          </a:p>
        </p:txBody>
      </p:sp>
      <p:sp>
        <p:nvSpPr>
          <p:cNvPr id="57" name="Shape 55"/>
          <p:cNvSpPr/>
          <p:nvPr/>
        </p:nvSpPr>
        <p:spPr>
          <a:xfrm flipV="1">
            <a:off x="6019800" y="5095875"/>
            <a:ext cx="133350" cy="85725"/>
          </a:xfrm>
          <a:prstGeom prst="triangle">
            <a:avLst/>
          </a:prstGeom>
          <a:solidFill>
            <a:srgbClr val="9AA8BE">
              <a:alpha val="40000"/>
            </a:srgbClr>
          </a:solidFill>
          <a:ln/>
        </p:spPr>
      </p:sp>
      <p:sp>
        <p:nvSpPr>
          <p:cNvPr id="58" name="Shape 56"/>
          <p:cNvSpPr/>
          <p:nvPr/>
        </p:nvSpPr>
        <p:spPr>
          <a:xfrm>
            <a:off x="533400" y="5353050"/>
            <a:ext cx="11125200" cy="742950"/>
          </a:xfrm>
          <a:prstGeom prst="roundRect">
            <a:avLst>
              <a:gd name="adj" fmla="val 7385"/>
            </a:avLst>
          </a:prstGeom>
          <a:solidFill>
            <a:srgbClr val="FFFFFF">
              <a:alpha val="4000"/>
            </a:srgbClr>
          </a:solidFill>
          <a:ln w="9525">
            <a:solidFill>
              <a:srgbClr val="9AA8BE">
                <a:alpha val="16000"/>
              </a:srgbClr>
            </a:solidFill>
            <a:prstDash val="solid"/>
          </a:ln>
        </p:spPr>
      </p:sp>
      <p:sp>
        <p:nvSpPr>
          <p:cNvPr id="59" name="Shape 57"/>
          <p:cNvSpPr/>
          <p:nvPr/>
        </p:nvSpPr>
        <p:spPr>
          <a:xfrm>
            <a:off x="533400" y="5391150"/>
            <a:ext cx="28575" cy="666750"/>
          </a:xfrm>
          <a:prstGeom prst="rect">
            <a:avLst/>
          </a:prstGeom>
          <a:solidFill>
            <a:srgbClr val="9AA8BE"/>
          </a:solidFill>
          <a:ln/>
        </p:spPr>
      </p:sp>
      <p:sp>
        <p:nvSpPr>
          <p:cNvPr id="60" name="Text 58"/>
          <p:cNvSpPr txBox="1"/>
          <p:nvPr/>
        </p:nvSpPr>
        <p:spPr>
          <a:xfrm>
            <a:off x="742950" y="5353050"/>
            <a:ext cx="381000" cy="742950"/>
          </a:xfrm>
          <a:prstGeom prst="rect">
            <a:avLst/>
          </a:prstGeom>
          <a:noFill/>
          <a:ln/>
        </p:spPr>
        <p:txBody>
          <a:bodyPr wrap="square" lIns="0" tIns="0" rIns="0" bIns="0" rtlCol="0" anchor="ctr"/>
          <a:lstStyle/>
          <a:p>
            <a:pPr marL="0" indent="0" algn="l">
              <a:buNone/>
            </a:pPr>
            <a:r>
              <a:rPr lang="en-US" sz="1425" b="1" dirty="0">
                <a:solidFill>
                  <a:srgbClr val="F5C542"/>
                </a:solidFill>
                <a:latin typeface="Consolas" pitchFamily="34" charset="0"/>
                <a:ea typeface="Consolas" pitchFamily="34" charset="-122"/>
                <a:cs typeface="Consolas" pitchFamily="34" charset="-120"/>
              </a:rPr>
              <a:t>05</a:t>
            </a:r>
            <a:endParaRPr lang="en-US" sz="1425" dirty="0"/>
          </a:p>
        </p:txBody>
      </p:sp>
      <p:sp>
        <p:nvSpPr>
          <p:cNvPr id="61" name="Text 59"/>
          <p:cNvSpPr txBox="1"/>
          <p:nvPr/>
        </p:nvSpPr>
        <p:spPr>
          <a:xfrm>
            <a:off x="1123950" y="5353050"/>
            <a:ext cx="2190750" cy="742950"/>
          </a:xfrm>
          <a:prstGeom prst="rect">
            <a:avLst/>
          </a:prstGeom>
          <a:noFill/>
          <a:ln/>
        </p:spPr>
        <p:txBody>
          <a:bodyPr wrap="square" lIns="0" tIns="0" rIns="0" bIns="0" rtlCol="0" anchor="ctr"/>
          <a:lstStyle/>
          <a:p>
            <a:pPr marL="0" indent="0" algn="l">
              <a:buNone/>
            </a:pPr>
            <a:r>
              <a:rPr lang="en-US" sz="1088" b="1" kern="0" spc="140" dirty="0">
                <a:solidFill>
                  <a:srgbClr val="FFFFFF"/>
                </a:solidFill>
                <a:latin typeface="Arial" pitchFamily="34" charset="0"/>
                <a:ea typeface="Arial" pitchFamily="34" charset="-122"/>
                <a:cs typeface="Arial" pitchFamily="34" charset="-120"/>
              </a:rPr>
              <a:t>INVESTIGATION DASHBOARD</a:t>
            </a:r>
            <a:endParaRPr lang="en-US" sz="1088" dirty="0"/>
          </a:p>
        </p:txBody>
      </p:sp>
      <p:sp>
        <p:nvSpPr>
          <p:cNvPr id="62" name="Shape 60"/>
          <p:cNvSpPr/>
          <p:nvPr/>
        </p:nvSpPr>
        <p:spPr>
          <a:xfrm>
            <a:off x="3429000" y="5600700"/>
            <a:ext cx="829628"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63" name="Text 61"/>
          <p:cNvSpPr txBox="1"/>
          <p:nvPr/>
        </p:nvSpPr>
        <p:spPr>
          <a:xfrm>
            <a:off x="3429000" y="5600700"/>
            <a:ext cx="829628"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RISK QUEUE</a:t>
            </a:r>
            <a:endParaRPr lang="en-US" sz="788" dirty="0"/>
          </a:p>
        </p:txBody>
      </p:sp>
      <p:sp>
        <p:nvSpPr>
          <p:cNvPr id="64" name="Shape 62"/>
          <p:cNvSpPr/>
          <p:nvPr/>
        </p:nvSpPr>
        <p:spPr>
          <a:xfrm>
            <a:off x="4315778" y="5600700"/>
            <a:ext cx="891635"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65" name="Text 63"/>
          <p:cNvSpPr txBox="1"/>
          <p:nvPr/>
        </p:nvSpPr>
        <p:spPr>
          <a:xfrm>
            <a:off x="4315778" y="5600700"/>
            <a:ext cx="891635"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MONEY TRAIL</a:t>
            </a:r>
            <a:endParaRPr lang="en-US" sz="788" dirty="0"/>
          </a:p>
        </p:txBody>
      </p:sp>
      <p:sp>
        <p:nvSpPr>
          <p:cNvPr id="66" name="Shape 64"/>
          <p:cNvSpPr/>
          <p:nvPr/>
        </p:nvSpPr>
        <p:spPr>
          <a:xfrm>
            <a:off x="5264563" y="5600700"/>
            <a:ext cx="643604"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67" name="Text 65"/>
          <p:cNvSpPr txBox="1"/>
          <p:nvPr/>
        </p:nvSpPr>
        <p:spPr>
          <a:xfrm>
            <a:off x="5264563" y="5600700"/>
            <a:ext cx="643604"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NETWORK</a:t>
            </a:r>
            <a:endParaRPr lang="en-US" sz="788" dirty="0"/>
          </a:p>
        </p:txBody>
      </p:sp>
      <p:sp>
        <p:nvSpPr>
          <p:cNvPr id="68" name="Shape 66"/>
          <p:cNvSpPr/>
          <p:nvPr/>
        </p:nvSpPr>
        <p:spPr>
          <a:xfrm>
            <a:off x="5965317" y="5600700"/>
            <a:ext cx="643604"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69" name="Text 67"/>
          <p:cNvSpPr txBox="1"/>
          <p:nvPr/>
        </p:nvSpPr>
        <p:spPr>
          <a:xfrm>
            <a:off x="5965317" y="5600700"/>
            <a:ext cx="643604"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REPORTS</a:t>
            </a:r>
            <a:endParaRPr lang="en-US" sz="788" dirty="0"/>
          </a:p>
        </p:txBody>
      </p:sp>
      <p:sp>
        <p:nvSpPr>
          <p:cNvPr id="70" name="Text 68"/>
          <p:cNvSpPr txBox="1"/>
          <p:nvPr/>
        </p:nvSpPr>
        <p:spPr>
          <a:xfrm>
            <a:off x="9810750" y="5353050"/>
            <a:ext cx="1714500" cy="742950"/>
          </a:xfrm>
          <a:prstGeom prst="rect">
            <a:avLst/>
          </a:prstGeom>
          <a:noFill/>
          <a:ln/>
        </p:spPr>
        <p:txBody>
          <a:bodyPr wrap="square" lIns="0" tIns="0" rIns="0" bIns="0" rtlCol="0" anchor="ctr"/>
          <a:lstStyle/>
          <a:p>
            <a:pPr marL="0" indent="0" algn="r">
              <a:buNone/>
            </a:pPr>
            <a:r>
              <a:rPr lang="en-US" sz="825" dirty="0">
                <a:solidFill>
                  <a:srgbClr val="F5C542"/>
                </a:solidFill>
                <a:latin typeface="Consolas" pitchFamily="34" charset="0"/>
                <a:ea typeface="Consolas" pitchFamily="34" charset="-122"/>
                <a:cs typeface="Consolas" pitchFamily="34" charset="-120"/>
              </a:rPr>
              <a:t>SAR-style output</a:t>
            </a:r>
            <a:endParaRPr lang="en-US" sz="825" dirty="0"/>
          </a:p>
          <a:p>
            <a:pPr marL="0" indent="0" algn="r">
              <a:buNone/>
            </a:pPr>
            <a:r>
              <a:rPr lang="en-US" sz="825" dirty="0">
                <a:solidFill>
                  <a:srgbClr val="F5C542"/>
                </a:solidFill>
                <a:latin typeface="Consolas" pitchFamily="34" charset="0"/>
                <a:ea typeface="Consolas" pitchFamily="34" charset="-122"/>
                <a:cs typeface="Consolas" pitchFamily="34" charset="-120"/>
              </a:rPr>
              <a:t>TXT · HTML · PDF</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03 — DATASETS &amp; FEATURE ENGINEERING</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Three benchmark datasets. </a:t>
            </a:r>
            <a:r>
              <a:rPr lang="en-US" sz="2475" b="1" dirty="0">
                <a:solidFill>
                  <a:srgbClr val="F5C542"/>
                </a:solidFill>
                <a:latin typeface="Arial" pitchFamily="34" charset="0"/>
                <a:ea typeface="Arial" pitchFamily="34" charset="-122"/>
                <a:cs typeface="Arial" pitchFamily="34" charset="-120"/>
              </a:rPr>
              <a:t>64 engineered features.</a:t>
            </a:r>
            <a:endParaRPr lang="en-US" sz="2475" dirty="0"/>
          </a:p>
        </p:txBody>
      </p:sp>
      <p:sp>
        <p:nvSpPr>
          <p:cNvPr id="4" name="Shape 2"/>
          <p:cNvSpPr/>
          <p:nvPr/>
        </p:nvSpPr>
        <p:spPr>
          <a:xfrm>
            <a:off x="533400" y="1181100"/>
            <a:ext cx="3609975" cy="1905000"/>
          </a:xfrm>
          <a:prstGeom prst="roundRect">
            <a:avLst>
              <a:gd name="adj" fmla="val 2880"/>
            </a:avLst>
          </a:prstGeom>
          <a:solidFill>
            <a:srgbClr val="FFFFFF">
              <a:alpha val="4000"/>
            </a:srgbClr>
          </a:solidFill>
          <a:ln w="9525">
            <a:solidFill>
              <a:srgbClr val="9AA8BE">
                <a:alpha val="16000"/>
              </a:srgbClr>
            </a:solidFill>
            <a:prstDash val="solid"/>
          </a:ln>
        </p:spPr>
      </p:sp>
      <p:sp>
        <p:nvSpPr>
          <p:cNvPr id="5" name="Shape 3"/>
          <p:cNvSpPr/>
          <p:nvPr/>
        </p:nvSpPr>
        <p:spPr>
          <a:xfrm>
            <a:off x="704850" y="1371600"/>
            <a:ext cx="66675" cy="66675"/>
          </a:xfrm>
          <a:prstGeom prst="ellipse">
            <a:avLst/>
          </a:prstGeom>
          <a:solidFill>
            <a:srgbClr val="2563EB"/>
          </a:solidFill>
          <a:ln/>
        </p:spPr>
      </p:sp>
      <p:sp>
        <p:nvSpPr>
          <p:cNvPr id="6" name="Text 4"/>
          <p:cNvSpPr txBox="1"/>
          <p:nvPr/>
        </p:nvSpPr>
        <p:spPr>
          <a:xfrm>
            <a:off x="857250" y="13239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SAML-D</a:t>
            </a:r>
            <a:endParaRPr lang="en-US" sz="975" dirty="0"/>
          </a:p>
        </p:txBody>
      </p:sp>
      <p:sp>
        <p:nvSpPr>
          <p:cNvPr id="7" name="Text 5"/>
          <p:cNvSpPr txBox="1"/>
          <p:nvPr/>
        </p:nvSpPr>
        <p:spPr>
          <a:xfrm>
            <a:off x="704850" y="1524000"/>
            <a:ext cx="3238500" cy="323850"/>
          </a:xfrm>
          <a:prstGeom prst="rect">
            <a:avLst/>
          </a:prstGeom>
          <a:noFill/>
          <a:ln/>
        </p:spPr>
        <p:txBody>
          <a:bodyPr wrap="square" lIns="0" tIns="0" rIns="0" bIns="0" rtlCol="0" anchor="t"/>
          <a:lstStyle/>
          <a:p>
            <a:pPr marL="0" indent="0" algn="l">
              <a:buNone/>
            </a:pPr>
            <a:r>
              <a:rPr lang="en-US" sz="1950" b="1" dirty="0">
                <a:solidFill>
                  <a:srgbClr val="FFFFFF"/>
                </a:solidFill>
                <a:latin typeface="Consolas" pitchFamily="34" charset="0"/>
                <a:ea typeface="Consolas" pitchFamily="34" charset="-122"/>
                <a:cs typeface="Consolas" pitchFamily="34" charset="-120"/>
              </a:rPr>
              <a:t>9,504,852</a:t>
            </a:r>
            <a:endParaRPr lang="en-US" sz="1950" dirty="0"/>
          </a:p>
        </p:txBody>
      </p:sp>
      <p:sp>
        <p:nvSpPr>
          <p:cNvPr id="8" name="Text 6"/>
          <p:cNvSpPr txBox="1"/>
          <p:nvPr/>
        </p:nvSpPr>
        <p:spPr>
          <a:xfrm>
            <a:off x="704850" y="1866900"/>
            <a:ext cx="2857500" cy="133350"/>
          </a:xfrm>
          <a:prstGeom prst="rect">
            <a:avLst/>
          </a:prstGeom>
          <a:noFill/>
          <a:ln/>
        </p:spPr>
        <p:txBody>
          <a:bodyPr wrap="square" lIns="0" tIns="0" rIns="0" bIns="0" rtlCol="0" anchor="t"/>
          <a:lstStyle/>
          <a:p>
            <a:pPr marL="0" indent="0" algn="l">
              <a:buNone/>
            </a:pPr>
            <a:r>
              <a:rPr lang="en-US" sz="750" b="1" kern="0" spc="200" dirty="0">
                <a:solidFill>
                  <a:srgbClr val="9AA8BE"/>
                </a:solidFill>
                <a:latin typeface="Calibri" pitchFamily="34" charset="0"/>
                <a:ea typeface="Calibri" pitchFamily="34" charset="-122"/>
                <a:cs typeface="Calibri" pitchFamily="34" charset="-120"/>
              </a:rPr>
              <a:t>TRANSACTIONS</a:t>
            </a:r>
            <a:endParaRPr lang="en-US" sz="750" dirty="0"/>
          </a:p>
        </p:txBody>
      </p:sp>
      <p:sp>
        <p:nvSpPr>
          <p:cNvPr id="9" name="Text 7"/>
          <p:cNvSpPr txBox="1"/>
          <p:nvPr/>
        </p:nvSpPr>
        <p:spPr>
          <a:xfrm>
            <a:off x="704850" y="2076450"/>
            <a:ext cx="2857500" cy="152400"/>
          </a:xfrm>
          <a:prstGeom prst="rect">
            <a:avLst/>
          </a:prstGeom>
          <a:noFill/>
          <a:ln/>
        </p:spPr>
        <p:txBody>
          <a:bodyPr wrap="square" lIns="0" tIns="0" rIns="0" bIns="0" rtlCol="0" anchor="t"/>
          <a:lstStyle/>
          <a:p>
            <a:pPr marL="0" indent="0" algn="l">
              <a:buNone/>
            </a:pPr>
            <a:r>
              <a:rPr lang="en-US" sz="900" dirty="0">
                <a:solidFill>
                  <a:srgbClr val="F5C542"/>
                </a:solidFill>
                <a:latin typeface="Consolas" pitchFamily="34" charset="0"/>
                <a:ea typeface="Consolas" pitchFamily="34" charset="-122"/>
                <a:cs typeface="Consolas" pitchFamily="34" charset="-120"/>
              </a:rPr>
              <a:t>0.107% fraud</a:t>
            </a:r>
            <a:endParaRPr lang="en-US" sz="900" dirty="0"/>
          </a:p>
        </p:txBody>
      </p:sp>
      <p:sp>
        <p:nvSpPr>
          <p:cNvPr id="10" name="Shape 8"/>
          <p:cNvSpPr/>
          <p:nvPr/>
        </p:nvSpPr>
        <p:spPr>
          <a:xfrm>
            <a:off x="704850" y="2343150"/>
            <a:ext cx="1201674"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11" name="Text 9"/>
          <p:cNvSpPr txBox="1"/>
          <p:nvPr/>
        </p:nvSpPr>
        <p:spPr>
          <a:xfrm>
            <a:off x="704850" y="2343150"/>
            <a:ext cx="1201674"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MONEY LAUNDERING</a:t>
            </a:r>
            <a:endParaRPr lang="en-US" sz="788" dirty="0"/>
          </a:p>
        </p:txBody>
      </p:sp>
      <p:sp>
        <p:nvSpPr>
          <p:cNvPr id="12" name="Shape 10"/>
          <p:cNvSpPr/>
          <p:nvPr/>
        </p:nvSpPr>
        <p:spPr>
          <a:xfrm>
            <a:off x="704850" y="2667000"/>
            <a:ext cx="1325690"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13" name="Text 11"/>
          <p:cNvSpPr txBox="1"/>
          <p:nvPr/>
        </p:nvSpPr>
        <p:spPr>
          <a:xfrm>
            <a:off x="704850" y="2667000"/>
            <a:ext cx="1325690"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UK / INTERNATIONAL</a:t>
            </a:r>
            <a:endParaRPr lang="en-US" sz="788" dirty="0"/>
          </a:p>
        </p:txBody>
      </p:sp>
      <p:sp>
        <p:nvSpPr>
          <p:cNvPr id="14" name="Shape 12"/>
          <p:cNvSpPr/>
          <p:nvPr/>
        </p:nvSpPr>
        <p:spPr>
          <a:xfrm>
            <a:off x="4291013" y="1181100"/>
            <a:ext cx="3609975" cy="1905000"/>
          </a:xfrm>
          <a:prstGeom prst="roundRect">
            <a:avLst>
              <a:gd name="adj" fmla="val 2880"/>
            </a:avLst>
          </a:prstGeom>
          <a:solidFill>
            <a:srgbClr val="FFFFFF">
              <a:alpha val="4000"/>
            </a:srgbClr>
          </a:solidFill>
          <a:ln w="9525">
            <a:solidFill>
              <a:srgbClr val="9AA8BE">
                <a:alpha val="16000"/>
              </a:srgbClr>
            </a:solidFill>
            <a:prstDash val="solid"/>
          </a:ln>
        </p:spPr>
      </p:sp>
      <p:sp>
        <p:nvSpPr>
          <p:cNvPr id="15" name="Shape 13"/>
          <p:cNvSpPr/>
          <p:nvPr/>
        </p:nvSpPr>
        <p:spPr>
          <a:xfrm>
            <a:off x="4462463" y="1371600"/>
            <a:ext cx="66675" cy="66675"/>
          </a:xfrm>
          <a:prstGeom prst="ellipse">
            <a:avLst/>
          </a:prstGeom>
          <a:solidFill>
            <a:srgbClr val="0F9D91"/>
          </a:solidFill>
          <a:ln/>
        </p:spPr>
      </p:sp>
      <p:sp>
        <p:nvSpPr>
          <p:cNvPr id="16" name="Text 14"/>
          <p:cNvSpPr txBox="1"/>
          <p:nvPr/>
        </p:nvSpPr>
        <p:spPr>
          <a:xfrm>
            <a:off x="4614863" y="13239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HI-SMALL</a:t>
            </a:r>
            <a:endParaRPr lang="en-US" sz="975" dirty="0"/>
          </a:p>
        </p:txBody>
      </p:sp>
      <p:sp>
        <p:nvSpPr>
          <p:cNvPr id="17" name="Text 15"/>
          <p:cNvSpPr txBox="1"/>
          <p:nvPr/>
        </p:nvSpPr>
        <p:spPr>
          <a:xfrm>
            <a:off x="4462463" y="1524000"/>
            <a:ext cx="3238500" cy="323850"/>
          </a:xfrm>
          <a:prstGeom prst="rect">
            <a:avLst/>
          </a:prstGeom>
          <a:noFill/>
          <a:ln/>
        </p:spPr>
        <p:txBody>
          <a:bodyPr wrap="square" lIns="0" tIns="0" rIns="0" bIns="0" rtlCol="0" anchor="t"/>
          <a:lstStyle/>
          <a:p>
            <a:pPr marL="0" indent="0" algn="l">
              <a:buNone/>
            </a:pPr>
            <a:r>
              <a:rPr lang="en-US" sz="1950" b="1" dirty="0">
                <a:solidFill>
                  <a:srgbClr val="FFFFFF"/>
                </a:solidFill>
                <a:latin typeface="Consolas" pitchFamily="34" charset="0"/>
                <a:ea typeface="Consolas" pitchFamily="34" charset="-122"/>
                <a:cs typeface="Consolas" pitchFamily="34" charset="-120"/>
              </a:rPr>
              <a:t>5,078,345</a:t>
            </a:r>
            <a:endParaRPr lang="en-US" sz="1950" dirty="0"/>
          </a:p>
        </p:txBody>
      </p:sp>
      <p:sp>
        <p:nvSpPr>
          <p:cNvPr id="18" name="Text 16"/>
          <p:cNvSpPr txBox="1"/>
          <p:nvPr/>
        </p:nvSpPr>
        <p:spPr>
          <a:xfrm>
            <a:off x="4462463" y="1866900"/>
            <a:ext cx="2857500" cy="133350"/>
          </a:xfrm>
          <a:prstGeom prst="rect">
            <a:avLst/>
          </a:prstGeom>
          <a:noFill/>
          <a:ln/>
        </p:spPr>
        <p:txBody>
          <a:bodyPr wrap="square" lIns="0" tIns="0" rIns="0" bIns="0" rtlCol="0" anchor="t"/>
          <a:lstStyle/>
          <a:p>
            <a:pPr marL="0" indent="0" algn="l">
              <a:buNone/>
            </a:pPr>
            <a:r>
              <a:rPr lang="en-US" sz="750" b="1" kern="0" spc="200" dirty="0">
                <a:solidFill>
                  <a:srgbClr val="9AA8BE"/>
                </a:solidFill>
                <a:latin typeface="Calibri" pitchFamily="34" charset="0"/>
                <a:ea typeface="Calibri" pitchFamily="34" charset="-122"/>
                <a:cs typeface="Calibri" pitchFamily="34" charset="-120"/>
              </a:rPr>
              <a:t>TRANSACTIONS</a:t>
            </a:r>
            <a:endParaRPr lang="en-US" sz="750" dirty="0"/>
          </a:p>
        </p:txBody>
      </p:sp>
      <p:sp>
        <p:nvSpPr>
          <p:cNvPr id="19" name="Text 17"/>
          <p:cNvSpPr txBox="1"/>
          <p:nvPr/>
        </p:nvSpPr>
        <p:spPr>
          <a:xfrm>
            <a:off x="4462463" y="2076450"/>
            <a:ext cx="2857500" cy="152400"/>
          </a:xfrm>
          <a:prstGeom prst="rect">
            <a:avLst/>
          </a:prstGeom>
          <a:noFill/>
          <a:ln/>
        </p:spPr>
        <p:txBody>
          <a:bodyPr wrap="square" lIns="0" tIns="0" rIns="0" bIns="0" rtlCol="0" anchor="t"/>
          <a:lstStyle/>
          <a:p>
            <a:pPr marL="0" indent="0" algn="l">
              <a:buNone/>
            </a:pPr>
            <a:r>
              <a:rPr lang="en-US" sz="900" dirty="0">
                <a:solidFill>
                  <a:srgbClr val="F5C542"/>
                </a:solidFill>
                <a:latin typeface="Consolas" pitchFamily="34" charset="0"/>
                <a:ea typeface="Consolas" pitchFamily="34" charset="-122"/>
                <a:cs typeface="Consolas" pitchFamily="34" charset="-120"/>
              </a:rPr>
              <a:t>0.105% fraud</a:t>
            </a:r>
            <a:endParaRPr lang="en-US" sz="900" dirty="0"/>
          </a:p>
        </p:txBody>
      </p:sp>
      <p:sp>
        <p:nvSpPr>
          <p:cNvPr id="20" name="Shape 18"/>
          <p:cNvSpPr/>
          <p:nvPr/>
        </p:nvSpPr>
        <p:spPr>
          <a:xfrm>
            <a:off x="4462463" y="2343150"/>
            <a:ext cx="1511713"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21" name="Text 19"/>
          <p:cNvSpPr txBox="1"/>
          <p:nvPr/>
        </p:nvSpPr>
        <p:spPr>
          <a:xfrm>
            <a:off x="4462463" y="2343150"/>
            <a:ext cx="1511713"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AML BANK TRANSACTIONS</a:t>
            </a:r>
            <a:endParaRPr lang="en-US" sz="788" dirty="0"/>
          </a:p>
        </p:txBody>
      </p:sp>
      <p:sp>
        <p:nvSpPr>
          <p:cNvPr id="22" name="Shape 20"/>
          <p:cNvSpPr/>
          <p:nvPr/>
        </p:nvSpPr>
        <p:spPr>
          <a:xfrm>
            <a:off x="4462463" y="2667000"/>
            <a:ext cx="705612"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23" name="Text 21"/>
          <p:cNvSpPr txBox="1"/>
          <p:nvPr/>
        </p:nvSpPr>
        <p:spPr>
          <a:xfrm>
            <a:off x="4462463" y="2667000"/>
            <a:ext cx="705612"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US BANKS</a:t>
            </a:r>
            <a:endParaRPr lang="en-US" sz="788" dirty="0"/>
          </a:p>
        </p:txBody>
      </p:sp>
      <p:sp>
        <p:nvSpPr>
          <p:cNvPr id="24" name="Shape 22"/>
          <p:cNvSpPr/>
          <p:nvPr/>
        </p:nvSpPr>
        <p:spPr>
          <a:xfrm>
            <a:off x="8048625" y="1181100"/>
            <a:ext cx="3609975" cy="1905000"/>
          </a:xfrm>
          <a:prstGeom prst="roundRect">
            <a:avLst>
              <a:gd name="adj" fmla="val 2880"/>
            </a:avLst>
          </a:prstGeom>
          <a:solidFill>
            <a:srgbClr val="FFFFFF">
              <a:alpha val="4000"/>
            </a:srgbClr>
          </a:solidFill>
          <a:ln w="9525">
            <a:solidFill>
              <a:srgbClr val="9AA8BE">
                <a:alpha val="16000"/>
              </a:srgbClr>
            </a:solidFill>
            <a:prstDash val="solid"/>
          </a:ln>
        </p:spPr>
      </p:sp>
      <p:sp>
        <p:nvSpPr>
          <p:cNvPr id="25" name="Shape 23"/>
          <p:cNvSpPr/>
          <p:nvPr/>
        </p:nvSpPr>
        <p:spPr>
          <a:xfrm>
            <a:off x="8220075" y="1371600"/>
            <a:ext cx="66675" cy="66675"/>
          </a:xfrm>
          <a:prstGeom prst="ellipse">
            <a:avLst/>
          </a:prstGeom>
          <a:solidFill>
            <a:srgbClr val="F5C542"/>
          </a:solidFill>
          <a:ln/>
        </p:spPr>
      </p:sp>
      <p:sp>
        <p:nvSpPr>
          <p:cNvPr id="26" name="Text 24"/>
          <p:cNvSpPr txBox="1"/>
          <p:nvPr/>
        </p:nvSpPr>
        <p:spPr>
          <a:xfrm>
            <a:off x="8372475" y="13239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BASE</a:t>
            </a:r>
            <a:endParaRPr lang="en-US" sz="975" dirty="0"/>
          </a:p>
        </p:txBody>
      </p:sp>
      <p:sp>
        <p:nvSpPr>
          <p:cNvPr id="27" name="Text 25"/>
          <p:cNvSpPr txBox="1"/>
          <p:nvPr/>
        </p:nvSpPr>
        <p:spPr>
          <a:xfrm>
            <a:off x="8220075" y="1524000"/>
            <a:ext cx="3238500" cy="323850"/>
          </a:xfrm>
          <a:prstGeom prst="rect">
            <a:avLst/>
          </a:prstGeom>
          <a:noFill/>
          <a:ln/>
        </p:spPr>
        <p:txBody>
          <a:bodyPr wrap="square" lIns="0" tIns="0" rIns="0" bIns="0" rtlCol="0" anchor="t"/>
          <a:lstStyle/>
          <a:p>
            <a:pPr marL="0" indent="0" algn="l">
              <a:buNone/>
            </a:pPr>
            <a:r>
              <a:rPr lang="en-US" sz="1950" b="1" dirty="0">
                <a:solidFill>
                  <a:srgbClr val="FFFFFF"/>
                </a:solidFill>
                <a:latin typeface="Consolas" pitchFamily="34" charset="0"/>
                <a:ea typeface="Consolas" pitchFamily="34" charset="-122"/>
                <a:cs typeface="Consolas" pitchFamily="34" charset="-120"/>
              </a:rPr>
              <a:t>1,000,000</a:t>
            </a:r>
            <a:endParaRPr lang="en-US" sz="1950" dirty="0"/>
          </a:p>
        </p:txBody>
      </p:sp>
      <p:sp>
        <p:nvSpPr>
          <p:cNvPr id="28" name="Text 26"/>
          <p:cNvSpPr txBox="1"/>
          <p:nvPr/>
        </p:nvSpPr>
        <p:spPr>
          <a:xfrm>
            <a:off x="8220075" y="1866900"/>
            <a:ext cx="2857500" cy="133350"/>
          </a:xfrm>
          <a:prstGeom prst="rect">
            <a:avLst/>
          </a:prstGeom>
          <a:noFill/>
          <a:ln/>
        </p:spPr>
        <p:txBody>
          <a:bodyPr wrap="square" lIns="0" tIns="0" rIns="0" bIns="0" rtlCol="0" anchor="t"/>
          <a:lstStyle/>
          <a:p>
            <a:pPr marL="0" indent="0" algn="l">
              <a:buNone/>
            </a:pPr>
            <a:r>
              <a:rPr lang="en-US" sz="750" b="1" kern="0" spc="200" dirty="0">
                <a:solidFill>
                  <a:srgbClr val="9AA8BE"/>
                </a:solidFill>
                <a:latin typeface="Calibri" pitchFamily="34" charset="0"/>
                <a:ea typeface="Calibri" pitchFamily="34" charset="-122"/>
                <a:cs typeface="Calibri" pitchFamily="34" charset="-120"/>
              </a:rPr>
              <a:t>APPLICATIONS</a:t>
            </a:r>
            <a:endParaRPr lang="en-US" sz="750" dirty="0"/>
          </a:p>
        </p:txBody>
      </p:sp>
      <p:sp>
        <p:nvSpPr>
          <p:cNvPr id="29" name="Text 27"/>
          <p:cNvSpPr txBox="1"/>
          <p:nvPr/>
        </p:nvSpPr>
        <p:spPr>
          <a:xfrm>
            <a:off x="8220075" y="2076450"/>
            <a:ext cx="2857500" cy="152400"/>
          </a:xfrm>
          <a:prstGeom prst="rect">
            <a:avLst/>
          </a:prstGeom>
          <a:noFill/>
          <a:ln/>
        </p:spPr>
        <p:txBody>
          <a:bodyPr wrap="square" lIns="0" tIns="0" rIns="0" bIns="0" rtlCol="0" anchor="t"/>
          <a:lstStyle/>
          <a:p>
            <a:pPr marL="0" indent="0" algn="l">
              <a:buNone/>
            </a:pPr>
            <a:r>
              <a:rPr lang="en-US" sz="900" dirty="0">
                <a:solidFill>
                  <a:srgbClr val="F5C542"/>
                </a:solidFill>
                <a:latin typeface="Consolas" pitchFamily="34" charset="0"/>
                <a:ea typeface="Consolas" pitchFamily="34" charset="-122"/>
                <a:cs typeface="Consolas" pitchFamily="34" charset="-120"/>
              </a:rPr>
              <a:t>1.103% fraud</a:t>
            </a:r>
            <a:endParaRPr lang="en-US" sz="900" dirty="0"/>
          </a:p>
        </p:txBody>
      </p:sp>
      <p:sp>
        <p:nvSpPr>
          <p:cNvPr id="30" name="Shape 28"/>
          <p:cNvSpPr/>
          <p:nvPr/>
        </p:nvSpPr>
        <p:spPr>
          <a:xfrm>
            <a:off x="8220075" y="2343150"/>
            <a:ext cx="1077659"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31" name="Text 29"/>
          <p:cNvSpPr txBox="1"/>
          <p:nvPr/>
        </p:nvSpPr>
        <p:spPr>
          <a:xfrm>
            <a:off x="8220075" y="2343150"/>
            <a:ext cx="1077659"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IDENTITY FRAUD</a:t>
            </a:r>
            <a:endParaRPr lang="en-US" sz="788" dirty="0"/>
          </a:p>
        </p:txBody>
      </p:sp>
      <p:sp>
        <p:nvSpPr>
          <p:cNvPr id="32" name="Shape 30"/>
          <p:cNvSpPr/>
          <p:nvPr/>
        </p:nvSpPr>
        <p:spPr>
          <a:xfrm>
            <a:off x="8220075" y="2667000"/>
            <a:ext cx="1387697"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33" name="Text 31"/>
          <p:cNvSpPr txBox="1"/>
          <p:nvPr/>
        </p:nvSpPr>
        <p:spPr>
          <a:xfrm>
            <a:off x="8220075" y="2667000"/>
            <a:ext cx="1387697"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DEVICE INTELLIGENCE</a:t>
            </a:r>
            <a:endParaRPr lang="en-US" sz="788" dirty="0"/>
          </a:p>
        </p:txBody>
      </p:sp>
      <p:sp>
        <p:nvSpPr>
          <p:cNvPr id="34" name="Shape 32"/>
          <p:cNvSpPr/>
          <p:nvPr/>
        </p:nvSpPr>
        <p:spPr>
          <a:xfrm>
            <a:off x="533400" y="3219450"/>
            <a:ext cx="11125200" cy="533400"/>
          </a:xfrm>
          <a:prstGeom prst="roundRect">
            <a:avLst>
              <a:gd name="adj" fmla="val 10286"/>
            </a:avLst>
          </a:prstGeom>
          <a:solidFill>
            <a:srgbClr val="F5C542">
              <a:alpha val="9000"/>
            </a:srgbClr>
          </a:solidFill>
          <a:ln w="9525">
            <a:solidFill>
              <a:srgbClr val="F5C542">
                <a:alpha val="38000"/>
              </a:srgbClr>
            </a:solidFill>
            <a:prstDash val="solid"/>
          </a:ln>
        </p:spPr>
      </p:sp>
      <p:sp>
        <p:nvSpPr>
          <p:cNvPr id="35" name="Text 33"/>
          <p:cNvSpPr txBox="1"/>
          <p:nvPr/>
        </p:nvSpPr>
        <p:spPr>
          <a:xfrm>
            <a:off x="723900" y="3219450"/>
            <a:ext cx="1143000" cy="533400"/>
          </a:xfrm>
          <a:prstGeom prst="rect">
            <a:avLst/>
          </a:prstGeom>
          <a:noFill/>
          <a:ln/>
        </p:spPr>
        <p:txBody>
          <a:bodyPr wrap="square" lIns="0" tIns="0" rIns="0" bIns="0" rtlCol="0" anchor="ctr"/>
          <a:lstStyle/>
          <a:p>
            <a:pPr marL="0" indent="0" algn="l">
              <a:buNone/>
            </a:pPr>
            <a:r>
              <a:rPr lang="en-US" sz="825" b="1" kern="0" spc="220" dirty="0">
                <a:solidFill>
                  <a:srgbClr val="F5C542"/>
                </a:solidFill>
                <a:latin typeface="Consolas" pitchFamily="34" charset="0"/>
                <a:ea typeface="Consolas" pitchFamily="34" charset="-122"/>
                <a:cs typeface="Consolas" pitchFamily="34" charset="-120"/>
              </a:rPr>
              <a:t>COMBINED</a:t>
            </a:r>
            <a:endParaRPr lang="en-US" sz="825" dirty="0"/>
          </a:p>
        </p:txBody>
      </p:sp>
      <p:sp>
        <p:nvSpPr>
          <p:cNvPr id="36" name="Text 34"/>
          <p:cNvSpPr txBox="1"/>
          <p:nvPr/>
        </p:nvSpPr>
        <p:spPr>
          <a:xfrm>
            <a:off x="1905000" y="3219450"/>
            <a:ext cx="4762500" cy="533400"/>
          </a:xfrm>
          <a:prstGeom prst="rect">
            <a:avLst/>
          </a:prstGeom>
          <a:noFill/>
          <a:ln/>
        </p:spPr>
        <p:txBody>
          <a:bodyPr wrap="square" lIns="0" tIns="0" rIns="0" bIns="0" rtlCol="0" anchor="ctr"/>
          <a:lstStyle/>
          <a:p>
            <a:pPr marL="0" indent="0" algn="l">
              <a:buNone/>
            </a:pPr>
            <a:r>
              <a:rPr lang="en-US" sz="1050" dirty="0">
                <a:solidFill>
                  <a:srgbClr val="FFFFFF"/>
                </a:solidFill>
                <a:latin typeface="Consolas" pitchFamily="34" charset="0"/>
                <a:ea typeface="Consolas" pitchFamily="34" charset="-122"/>
                <a:cs typeface="Consolas" pitchFamily="34" charset="-120"/>
              </a:rPr>
              <a:t>8.8M transactions analysed  →  560,913 accounts</a:t>
            </a:r>
            <a:endParaRPr lang="en-US" sz="1050" dirty="0"/>
          </a:p>
        </p:txBody>
      </p:sp>
      <p:sp>
        <p:nvSpPr>
          <p:cNvPr id="37" name="Text 35"/>
          <p:cNvSpPr txBox="1"/>
          <p:nvPr/>
        </p:nvSpPr>
        <p:spPr>
          <a:xfrm>
            <a:off x="6858000" y="3219450"/>
            <a:ext cx="2857500" cy="533400"/>
          </a:xfrm>
          <a:prstGeom prst="rect">
            <a:avLst/>
          </a:prstGeom>
          <a:noFill/>
          <a:ln/>
        </p:spPr>
        <p:txBody>
          <a:bodyPr wrap="square" lIns="0" tIns="0" rIns="0" bIns="0" rtlCol="0" anchor="ctr"/>
          <a:lstStyle/>
          <a:p>
            <a:pPr marL="0" indent="0" algn="r">
              <a:buNone/>
            </a:pPr>
            <a:r>
              <a:rPr lang="en-US" sz="1050" b="1" dirty="0">
                <a:solidFill>
                  <a:srgbClr val="F87171"/>
                </a:solidFill>
                <a:latin typeface="Consolas" pitchFamily="34" charset="0"/>
                <a:ea typeface="Consolas" pitchFamily="34" charset="-122"/>
                <a:cs typeface="Consolas" pitchFamily="34" charset="-120"/>
              </a:rPr>
              <a:t>3,864 mule accounts  ·  0.69%</a:t>
            </a:r>
            <a:endParaRPr lang="en-US" sz="1050" dirty="0"/>
          </a:p>
        </p:txBody>
      </p:sp>
      <p:sp>
        <p:nvSpPr>
          <p:cNvPr id="38" name="Shape 36"/>
          <p:cNvSpPr/>
          <p:nvPr/>
        </p:nvSpPr>
        <p:spPr>
          <a:xfrm>
            <a:off x="9906000" y="3390900"/>
            <a:ext cx="1263682" cy="233362"/>
          </a:xfrm>
          <a:prstGeom prst="roundRect">
            <a:avLst>
              <a:gd name="adj" fmla="val 23510"/>
            </a:avLst>
          </a:prstGeom>
          <a:solidFill>
            <a:srgbClr val="DC2626">
              <a:alpha val="12000"/>
            </a:srgbClr>
          </a:solidFill>
          <a:ln w="9525">
            <a:solidFill>
              <a:srgbClr val="DC2626">
                <a:alpha val="40000"/>
              </a:srgbClr>
            </a:solidFill>
            <a:prstDash val="solid"/>
          </a:ln>
        </p:spPr>
      </p:sp>
      <p:sp>
        <p:nvSpPr>
          <p:cNvPr id="39" name="Text 37"/>
          <p:cNvSpPr txBox="1"/>
          <p:nvPr/>
        </p:nvSpPr>
        <p:spPr>
          <a:xfrm>
            <a:off x="9906000" y="3390900"/>
            <a:ext cx="1263682" cy="233362"/>
          </a:xfrm>
          <a:prstGeom prst="rect">
            <a:avLst/>
          </a:prstGeom>
          <a:noFill/>
          <a:ln/>
        </p:spPr>
        <p:txBody>
          <a:bodyPr wrap="square" lIns="0" tIns="0" rIns="0" bIns="0" rtlCol="0" anchor="ctr"/>
          <a:lstStyle/>
          <a:p>
            <a:pPr marL="0" indent="0" algn="ctr">
              <a:buNone/>
            </a:pPr>
            <a:r>
              <a:rPr lang="en-US" sz="788" dirty="0">
                <a:solidFill>
                  <a:srgbClr val="F87171"/>
                </a:solidFill>
                <a:latin typeface="Consolas" pitchFamily="34" charset="0"/>
                <a:ea typeface="Consolas" pitchFamily="34" charset="-122"/>
                <a:cs typeface="Consolas" pitchFamily="34" charset="-120"/>
              </a:rPr>
              <a:t>EXTREME IMBALANCE</a:t>
            </a:r>
            <a:endParaRPr lang="en-US" sz="788" dirty="0"/>
          </a:p>
        </p:txBody>
      </p:sp>
      <p:sp>
        <p:nvSpPr>
          <p:cNvPr id="40" name="Shape 38"/>
          <p:cNvSpPr/>
          <p:nvPr/>
        </p:nvSpPr>
        <p:spPr>
          <a:xfrm>
            <a:off x="533400" y="3905250"/>
            <a:ext cx="3609975" cy="1238250"/>
          </a:xfrm>
          <a:prstGeom prst="roundRect">
            <a:avLst>
              <a:gd name="adj" fmla="val 4431"/>
            </a:avLst>
          </a:prstGeom>
          <a:solidFill>
            <a:srgbClr val="FFFFFF">
              <a:alpha val="4000"/>
            </a:srgbClr>
          </a:solidFill>
          <a:ln w="9525">
            <a:solidFill>
              <a:srgbClr val="9AA8BE">
                <a:alpha val="16000"/>
              </a:srgbClr>
            </a:solidFill>
            <a:prstDash val="solid"/>
          </a:ln>
        </p:spPr>
      </p:sp>
      <p:sp>
        <p:nvSpPr>
          <p:cNvPr id="41" name="Shape 39"/>
          <p:cNvSpPr/>
          <p:nvPr/>
        </p:nvSpPr>
        <p:spPr>
          <a:xfrm>
            <a:off x="704850" y="4095750"/>
            <a:ext cx="66675" cy="66675"/>
          </a:xfrm>
          <a:prstGeom prst="ellipse">
            <a:avLst/>
          </a:prstGeom>
          <a:solidFill>
            <a:srgbClr val="F5C542"/>
          </a:solidFill>
          <a:ln/>
        </p:spPr>
      </p:sp>
      <p:sp>
        <p:nvSpPr>
          <p:cNvPr id="42" name="Text 40"/>
          <p:cNvSpPr txBox="1"/>
          <p:nvPr/>
        </p:nvSpPr>
        <p:spPr>
          <a:xfrm>
            <a:off x="857250" y="404812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BEHAVIOURAL — 20 FEATURES</a:t>
            </a:r>
            <a:endParaRPr lang="en-US" sz="975" dirty="0"/>
          </a:p>
        </p:txBody>
      </p:sp>
      <p:sp>
        <p:nvSpPr>
          <p:cNvPr id="43" name="Shape 41"/>
          <p:cNvSpPr/>
          <p:nvPr/>
        </p:nvSpPr>
        <p:spPr>
          <a:xfrm>
            <a:off x="704850" y="4305300"/>
            <a:ext cx="1201674"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44" name="Text 42"/>
          <p:cNvSpPr txBox="1"/>
          <p:nvPr/>
        </p:nvSpPr>
        <p:spPr>
          <a:xfrm>
            <a:off x="704850" y="4305300"/>
            <a:ext cx="1201674"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FAN-IN / FAN-OUT</a:t>
            </a:r>
            <a:endParaRPr lang="en-US" sz="788" dirty="0"/>
          </a:p>
        </p:txBody>
      </p:sp>
      <p:sp>
        <p:nvSpPr>
          <p:cNvPr id="45" name="Shape 43"/>
          <p:cNvSpPr/>
          <p:nvPr/>
        </p:nvSpPr>
        <p:spPr>
          <a:xfrm>
            <a:off x="1963674" y="4305300"/>
            <a:ext cx="953643"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46" name="Text 44"/>
          <p:cNvSpPr txBox="1"/>
          <p:nvPr/>
        </p:nvSpPr>
        <p:spPr>
          <a:xfrm>
            <a:off x="1963674" y="4305300"/>
            <a:ext cx="953643"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PASS-THROUGH</a:t>
            </a:r>
            <a:endParaRPr lang="en-US" sz="788" dirty="0"/>
          </a:p>
        </p:txBody>
      </p:sp>
      <p:sp>
        <p:nvSpPr>
          <p:cNvPr id="47" name="Shape 45"/>
          <p:cNvSpPr/>
          <p:nvPr/>
        </p:nvSpPr>
        <p:spPr>
          <a:xfrm>
            <a:off x="2974467" y="4305300"/>
            <a:ext cx="705612"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48" name="Text 46"/>
          <p:cNvSpPr txBox="1"/>
          <p:nvPr/>
        </p:nvSpPr>
        <p:spPr>
          <a:xfrm>
            <a:off x="2974467" y="4305300"/>
            <a:ext cx="705612"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VELOCITY</a:t>
            </a:r>
            <a:endParaRPr lang="en-US" sz="788" dirty="0"/>
          </a:p>
        </p:txBody>
      </p:sp>
      <p:sp>
        <p:nvSpPr>
          <p:cNvPr id="49" name="Shape 47"/>
          <p:cNvSpPr/>
          <p:nvPr/>
        </p:nvSpPr>
        <p:spPr>
          <a:xfrm>
            <a:off x="704850" y="4614863"/>
            <a:ext cx="891635"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50" name="Text 48"/>
          <p:cNvSpPr txBox="1"/>
          <p:nvPr/>
        </p:nvSpPr>
        <p:spPr>
          <a:xfrm>
            <a:off x="704850" y="4614863"/>
            <a:ext cx="891635"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STRUCTURING</a:t>
            </a:r>
            <a:endParaRPr lang="en-US" sz="788" dirty="0"/>
          </a:p>
        </p:txBody>
      </p:sp>
      <p:sp>
        <p:nvSpPr>
          <p:cNvPr id="51" name="Shape 49"/>
          <p:cNvSpPr/>
          <p:nvPr/>
        </p:nvSpPr>
        <p:spPr>
          <a:xfrm>
            <a:off x="1653635" y="4614863"/>
            <a:ext cx="829628"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52" name="Text 50"/>
          <p:cNvSpPr txBox="1"/>
          <p:nvPr/>
        </p:nvSpPr>
        <p:spPr>
          <a:xfrm>
            <a:off x="1653635" y="4614863"/>
            <a:ext cx="829628"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DWELL TIME</a:t>
            </a:r>
            <a:endParaRPr lang="en-US" sz="788" dirty="0"/>
          </a:p>
        </p:txBody>
      </p:sp>
      <p:sp>
        <p:nvSpPr>
          <p:cNvPr id="53" name="Shape 51"/>
          <p:cNvSpPr/>
          <p:nvPr/>
        </p:nvSpPr>
        <p:spPr>
          <a:xfrm>
            <a:off x="4291013" y="3905250"/>
            <a:ext cx="3609975" cy="1238250"/>
          </a:xfrm>
          <a:prstGeom prst="roundRect">
            <a:avLst>
              <a:gd name="adj" fmla="val 4431"/>
            </a:avLst>
          </a:prstGeom>
          <a:solidFill>
            <a:srgbClr val="FFFFFF">
              <a:alpha val="4000"/>
            </a:srgbClr>
          </a:solidFill>
          <a:ln w="9525">
            <a:solidFill>
              <a:srgbClr val="9AA8BE">
                <a:alpha val="16000"/>
              </a:srgbClr>
            </a:solidFill>
            <a:prstDash val="solid"/>
          </a:ln>
        </p:spPr>
      </p:sp>
      <p:sp>
        <p:nvSpPr>
          <p:cNvPr id="54" name="Shape 52"/>
          <p:cNvSpPr/>
          <p:nvPr/>
        </p:nvSpPr>
        <p:spPr>
          <a:xfrm>
            <a:off x="4462463" y="4095750"/>
            <a:ext cx="66675" cy="66675"/>
          </a:xfrm>
          <a:prstGeom prst="ellipse">
            <a:avLst/>
          </a:prstGeom>
          <a:solidFill>
            <a:srgbClr val="0F9D91"/>
          </a:solidFill>
          <a:ln/>
        </p:spPr>
      </p:sp>
      <p:sp>
        <p:nvSpPr>
          <p:cNvPr id="55" name="Text 53"/>
          <p:cNvSpPr txBox="1"/>
          <p:nvPr/>
        </p:nvSpPr>
        <p:spPr>
          <a:xfrm>
            <a:off x="4614863" y="404812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GRAPH — 9 FEATURES</a:t>
            </a:r>
            <a:endParaRPr lang="en-US" sz="975" dirty="0"/>
          </a:p>
        </p:txBody>
      </p:sp>
      <p:sp>
        <p:nvSpPr>
          <p:cNvPr id="56" name="Shape 54"/>
          <p:cNvSpPr/>
          <p:nvPr/>
        </p:nvSpPr>
        <p:spPr>
          <a:xfrm>
            <a:off x="4462463" y="4305300"/>
            <a:ext cx="705612" cy="233362"/>
          </a:xfrm>
          <a:prstGeom prst="roundRect">
            <a:avLst>
              <a:gd name="adj" fmla="val 23510"/>
            </a:avLst>
          </a:prstGeom>
          <a:solidFill>
            <a:srgbClr val="0F9D91">
              <a:alpha val="12000"/>
            </a:srgbClr>
          </a:solidFill>
          <a:ln w="9525">
            <a:solidFill>
              <a:srgbClr val="0F9D91">
                <a:alpha val="40000"/>
              </a:srgbClr>
            </a:solidFill>
            <a:prstDash val="solid"/>
          </a:ln>
        </p:spPr>
      </p:sp>
      <p:sp>
        <p:nvSpPr>
          <p:cNvPr id="57" name="Text 55"/>
          <p:cNvSpPr txBox="1"/>
          <p:nvPr/>
        </p:nvSpPr>
        <p:spPr>
          <a:xfrm>
            <a:off x="4462463" y="4305300"/>
            <a:ext cx="705612" cy="233362"/>
          </a:xfrm>
          <a:prstGeom prst="rect">
            <a:avLst/>
          </a:prstGeom>
          <a:noFill/>
          <a:ln/>
        </p:spPr>
        <p:txBody>
          <a:bodyPr wrap="square" lIns="0" tIns="0" rIns="0" bIns="0" rtlCol="0" anchor="ctr"/>
          <a:lstStyle/>
          <a:p>
            <a:pPr marL="0" indent="0" algn="ctr">
              <a:buNone/>
            </a:pPr>
            <a:r>
              <a:rPr lang="en-US" sz="788" dirty="0">
                <a:solidFill>
                  <a:srgbClr val="2CC5B7"/>
                </a:solidFill>
                <a:latin typeface="Consolas" pitchFamily="34" charset="0"/>
                <a:ea typeface="Consolas" pitchFamily="34" charset="-122"/>
                <a:cs typeface="Consolas" pitchFamily="34" charset="-120"/>
              </a:rPr>
              <a:t>PAGERANK</a:t>
            </a:r>
            <a:endParaRPr lang="en-US" sz="788" dirty="0"/>
          </a:p>
        </p:txBody>
      </p:sp>
      <p:sp>
        <p:nvSpPr>
          <p:cNvPr id="58" name="Shape 56"/>
          <p:cNvSpPr/>
          <p:nvPr/>
        </p:nvSpPr>
        <p:spPr>
          <a:xfrm>
            <a:off x="5225225" y="4305300"/>
            <a:ext cx="891635" cy="233362"/>
          </a:xfrm>
          <a:prstGeom prst="roundRect">
            <a:avLst>
              <a:gd name="adj" fmla="val 23510"/>
            </a:avLst>
          </a:prstGeom>
          <a:solidFill>
            <a:srgbClr val="0F9D91">
              <a:alpha val="12000"/>
            </a:srgbClr>
          </a:solidFill>
          <a:ln w="9525">
            <a:solidFill>
              <a:srgbClr val="0F9D91">
                <a:alpha val="40000"/>
              </a:srgbClr>
            </a:solidFill>
            <a:prstDash val="solid"/>
          </a:ln>
        </p:spPr>
      </p:sp>
      <p:sp>
        <p:nvSpPr>
          <p:cNvPr id="59" name="Text 57"/>
          <p:cNvSpPr txBox="1"/>
          <p:nvPr/>
        </p:nvSpPr>
        <p:spPr>
          <a:xfrm>
            <a:off x="5225225" y="4305300"/>
            <a:ext cx="891635" cy="233362"/>
          </a:xfrm>
          <a:prstGeom prst="rect">
            <a:avLst/>
          </a:prstGeom>
          <a:noFill/>
          <a:ln/>
        </p:spPr>
        <p:txBody>
          <a:bodyPr wrap="square" lIns="0" tIns="0" rIns="0" bIns="0" rtlCol="0" anchor="ctr"/>
          <a:lstStyle/>
          <a:p>
            <a:pPr marL="0" indent="0" algn="ctr">
              <a:buNone/>
            </a:pPr>
            <a:r>
              <a:rPr lang="en-US" sz="788" dirty="0">
                <a:solidFill>
                  <a:srgbClr val="2CC5B7"/>
                </a:solidFill>
                <a:latin typeface="Consolas" pitchFamily="34" charset="0"/>
                <a:ea typeface="Consolas" pitchFamily="34" charset="-122"/>
                <a:cs typeface="Consolas" pitchFamily="34" charset="-120"/>
              </a:rPr>
              <a:t>BETWEENNESS</a:t>
            </a:r>
            <a:endParaRPr lang="en-US" sz="788" dirty="0"/>
          </a:p>
        </p:txBody>
      </p:sp>
      <p:sp>
        <p:nvSpPr>
          <p:cNvPr id="60" name="Shape 58"/>
          <p:cNvSpPr/>
          <p:nvPr/>
        </p:nvSpPr>
        <p:spPr>
          <a:xfrm>
            <a:off x="6174010" y="4305300"/>
            <a:ext cx="1387697" cy="233362"/>
          </a:xfrm>
          <a:prstGeom prst="roundRect">
            <a:avLst>
              <a:gd name="adj" fmla="val 23510"/>
            </a:avLst>
          </a:prstGeom>
          <a:solidFill>
            <a:srgbClr val="0F9D91">
              <a:alpha val="12000"/>
            </a:srgbClr>
          </a:solidFill>
          <a:ln w="9525">
            <a:solidFill>
              <a:srgbClr val="0F9D91">
                <a:alpha val="40000"/>
              </a:srgbClr>
            </a:solidFill>
            <a:prstDash val="solid"/>
          </a:ln>
        </p:spPr>
      </p:sp>
      <p:sp>
        <p:nvSpPr>
          <p:cNvPr id="61" name="Text 59"/>
          <p:cNvSpPr txBox="1"/>
          <p:nvPr/>
        </p:nvSpPr>
        <p:spPr>
          <a:xfrm>
            <a:off x="6174010" y="4305300"/>
            <a:ext cx="1387697" cy="233362"/>
          </a:xfrm>
          <a:prstGeom prst="rect">
            <a:avLst/>
          </a:prstGeom>
          <a:noFill/>
          <a:ln/>
        </p:spPr>
        <p:txBody>
          <a:bodyPr wrap="square" lIns="0" tIns="0" rIns="0" bIns="0" rtlCol="0" anchor="ctr"/>
          <a:lstStyle/>
          <a:p>
            <a:pPr marL="0" indent="0" algn="ctr">
              <a:buNone/>
            </a:pPr>
            <a:r>
              <a:rPr lang="en-US" sz="788" dirty="0">
                <a:solidFill>
                  <a:srgbClr val="2CC5B7"/>
                </a:solidFill>
                <a:latin typeface="Consolas" pitchFamily="34" charset="0"/>
                <a:ea typeface="Consolas" pitchFamily="34" charset="-122"/>
                <a:cs typeface="Consolas" pitchFamily="34" charset="-120"/>
              </a:rPr>
              <a:t>LOUVAIN COMMUNITIES</a:t>
            </a:r>
            <a:endParaRPr lang="en-US" sz="788" dirty="0"/>
          </a:p>
        </p:txBody>
      </p:sp>
      <p:sp>
        <p:nvSpPr>
          <p:cNvPr id="62" name="Shape 60"/>
          <p:cNvSpPr/>
          <p:nvPr/>
        </p:nvSpPr>
        <p:spPr>
          <a:xfrm>
            <a:off x="4462463" y="4614863"/>
            <a:ext cx="1139666" cy="233362"/>
          </a:xfrm>
          <a:prstGeom prst="roundRect">
            <a:avLst>
              <a:gd name="adj" fmla="val 23510"/>
            </a:avLst>
          </a:prstGeom>
          <a:solidFill>
            <a:srgbClr val="0F9D91">
              <a:alpha val="12000"/>
            </a:srgbClr>
          </a:solidFill>
          <a:ln w="9525">
            <a:solidFill>
              <a:srgbClr val="0F9D91">
                <a:alpha val="40000"/>
              </a:srgbClr>
            </a:solidFill>
            <a:prstDash val="solid"/>
          </a:ln>
        </p:spPr>
      </p:sp>
      <p:sp>
        <p:nvSpPr>
          <p:cNvPr id="63" name="Text 61"/>
          <p:cNvSpPr txBox="1"/>
          <p:nvPr/>
        </p:nvSpPr>
        <p:spPr>
          <a:xfrm>
            <a:off x="4462463" y="4614863"/>
            <a:ext cx="1139666" cy="233362"/>
          </a:xfrm>
          <a:prstGeom prst="rect">
            <a:avLst/>
          </a:prstGeom>
          <a:noFill/>
          <a:ln/>
        </p:spPr>
        <p:txBody>
          <a:bodyPr wrap="square" lIns="0" tIns="0" rIns="0" bIns="0" rtlCol="0" anchor="ctr"/>
          <a:lstStyle/>
          <a:p>
            <a:pPr marL="0" indent="0" algn="ctr">
              <a:buNone/>
            </a:pPr>
            <a:r>
              <a:rPr lang="en-US" sz="788" dirty="0">
                <a:solidFill>
                  <a:srgbClr val="2CC5B7"/>
                </a:solidFill>
                <a:latin typeface="Consolas" pitchFamily="34" charset="0"/>
                <a:ea typeface="Consolas" pitchFamily="34" charset="-122"/>
                <a:cs typeface="Consolas" pitchFamily="34" charset="-120"/>
              </a:rPr>
              <a:t>DISTANCE-TO-BAD</a:t>
            </a:r>
            <a:endParaRPr lang="en-US" sz="788" dirty="0"/>
          </a:p>
        </p:txBody>
      </p:sp>
      <p:sp>
        <p:nvSpPr>
          <p:cNvPr id="64" name="Shape 62"/>
          <p:cNvSpPr/>
          <p:nvPr/>
        </p:nvSpPr>
        <p:spPr>
          <a:xfrm>
            <a:off x="8048625" y="3905250"/>
            <a:ext cx="3609975" cy="1238250"/>
          </a:xfrm>
          <a:prstGeom prst="roundRect">
            <a:avLst>
              <a:gd name="adj" fmla="val 4431"/>
            </a:avLst>
          </a:prstGeom>
          <a:solidFill>
            <a:srgbClr val="FFFFFF">
              <a:alpha val="4000"/>
            </a:srgbClr>
          </a:solidFill>
          <a:ln w="9525">
            <a:solidFill>
              <a:srgbClr val="9AA8BE">
                <a:alpha val="16000"/>
              </a:srgbClr>
            </a:solidFill>
            <a:prstDash val="solid"/>
          </a:ln>
        </p:spPr>
      </p:sp>
      <p:sp>
        <p:nvSpPr>
          <p:cNvPr id="65" name="Shape 63"/>
          <p:cNvSpPr/>
          <p:nvPr/>
        </p:nvSpPr>
        <p:spPr>
          <a:xfrm>
            <a:off x="8220075" y="4095750"/>
            <a:ext cx="66675" cy="66675"/>
          </a:xfrm>
          <a:prstGeom prst="ellipse">
            <a:avLst/>
          </a:prstGeom>
          <a:solidFill>
            <a:srgbClr val="2563EB"/>
          </a:solidFill>
          <a:ln/>
        </p:spPr>
      </p:sp>
      <p:sp>
        <p:nvSpPr>
          <p:cNvPr id="66" name="Text 64"/>
          <p:cNvSpPr txBox="1"/>
          <p:nvPr/>
        </p:nvSpPr>
        <p:spPr>
          <a:xfrm>
            <a:off x="8372475" y="404812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IDENTITY — 35 FEATURES</a:t>
            </a:r>
            <a:endParaRPr lang="en-US" sz="975" dirty="0"/>
          </a:p>
        </p:txBody>
      </p:sp>
      <p:sp>
        <p:nvSpPr>
          <p:cNvPr id="67" name="Shape 65"/>
          <p:cNvSpPr/>
          <p:nvPr/>
        </p:nvSpPr>
        <p:spPr>
          <a:xfrm>
            <a:off x="8220075" y="4305300"/>
            <a:ext cx="953643" cy="233362"/>
          </a:xfrm>
          <a:prstGeom prst="roundRect">
            <a:avLst>
              <a:gd name="adj" fmla="val 23510"/>
            </a:avLst>
          </a:prstGeom>
          <a:solidFill>
            <a:srgbClr val="2563EB">
              <a:alpha val="14000"/>
            </a:srgbClr>
          </a:solidFill>
          <a:ln w="9525">
            <a:solidFill>
              <a:srgbClr val="2563EB">
                <a:alpha val="40000"/>
              </a:srgbClr>
            </a:solidFill>
            <a:prstDash val="solid"/>
          </a:ln>
        </p:spPr>
      </p:sp>
      <p:sp>
        <p:nvSpPr>
          <p:cNvPr id="68" name="Text 66"/>
          <p:cNvSpPr txBox="1"/>
          <p:nvPr/>
        </p:nvSpPr>
        <p:spPr>
          <a:xfrm>
            <a:off x="8220075" y="4305300"/>
            <a:ext cx="953643" cy="233362"/>
          </a:xfrm>
          <a:prstGeom prst="rect">
            <a:avLst/>
          </a:prstGeom>
          <a:noFill/>
          <a:ln/>
        </p:spPr>
        <p:txBody>
          <a:bodyPr wrap="square" lIns="0" tIns="0" rIns="0" bIns="0" rtlCol="0" anchor="ctr"/>
          <a:lstStyle/>
          <a:p>
            <a:pPr marL="0" indent="0" algn="ctr">
              <a:buNone/>
            </a:pPr>
            <a:r>
              <a:rPr lang="en-US" sz="788" dirty="0">
                <a:solidFill>
                  <a:srgbClr val="7CA9FF"/>
                </a:solidFill>
                <a:latin typeface="Consolas" pitchFamily="34" charset="0"/>
                <a:ea typeface="Consolas" pitchFamily="34" charset="-122"/>
                <a:cs typeface="Consolas" pitchFamily="34" charset="-120"/>
              </a:rPr>
              <a:t>DEVICE REUSE</a:t>
            </a:r>
            <a:endParaRPr lang="en-US" sz="788" dirty="0"/>
          </a:p>
        </p:txBody>
      </p:sp>
      <p:sp>
        <p:nvSpPr>
          <p:cNvPr id="69" name="Shape 67"/>
          <p:cNvSpPr/>
          <p:nvPr/>
        </p:nvSpPr>
        <p:spPr>
          <a:xfrm>
            <a:off x="9230868" y="4305300"/>
            <a:ext cx="953643" cy="233362"/>
          </a:xfrm>
          <a:prstGeom prst="roundRect">
            <a:avLst>
              <a:gd name="adj" fmla="val 23510"/>
            </a:avLst>
          </a:prstGeom>
          <a:solidFill>
            <a:srgbClr val="2563EB">
              <a:alpha val="14000"/>
            </a:srgbClr>
          </a:solidFill>
          <a:ln w="9525">
            <a:solidFill>
              <a:srgbClr val="2563EB">
                <a:alpha val="40000"/>
              </a:srgbClr>
            </a:solidFill>
            <a:prstDash val="solid"/>
          </a:ln>
        </p:spPr>
      </p:sp>
      <p:sp>
        <p:nvSpPr>
          <p:cNvPr id="70" name="Text 68"/>
          <p:cNvSpPr txBox="1"/>
          <p:nvPr/>
        </p:nvSpPr>
        <p:spPr>
          <a:xfrm>
            <a:off x="9230868" y="4305300"/>
            <a:ext cx="953643" cy="233362"/>
          </a:xfrm>
          <a:prstGeom prst="rect">
            <a:avLst/>
          </a:prstGeom>
          <a:noFill/>
          <a:ln/>
        </p:spPr>
        <p:txBody>
          <a:bodyPr wrap="square" lIns="0" tIns="0" rIns="0" bIns="0" rtlCol="0" anchor="ctr"/>
          <a:lstStyle/>
          <a:p>
            <a:pPr marL="0" indent="0" algn="ctr">
              <a:buNone/>
            </a:pPr>
            <a:r>
              <a:rPr lang="en-US" sz="788" dirty="0">
                <a:solidFill>
                  <a:srgbClr val="7CA9FF"/>
                </a:solidFill>
                <a:latin typeface="Consolas" pitchFamily="34" charset="0"/>
                <a:ea typeface="Consolas" pitchFamily="34" charset="-122"/>
                <a:cs typeface="Consolas" pitchFamily="34" charset="-120"/>
              </a:rPr>
              <a:t>KYC VELOCITY</a:t>
            </a:r>
            <a:endParaRPr lang="en-US" sz="788" dirty="0"/>
          </a:p>
        </p:txBody>
      </p:sp>
      <p:sp>
        <p:nvSpPr>
          <p:cNvPr id="71" name="Shape 69"/>
          <p:cNvSpPr/>
          <p:nvPr/>
        </p:nvSpPr>
        <p:spPr>
          <a:xfrm>
            <a:off x="10241661" y="4305300"/>
            <a:ext cx="1201674" cy="233362"/>
          </a:xfrm>
          <a:prstGeom prst="roundRect">
            <a:avLst>
              <a:gd name="adj" fmla="val 23510"/>
            </a:avLst>
          </a:prstGeom>
          <a:solidFill>
            <a:srgbClr val="2563EB">
              <a:alpha val="14000"/>
            </a:srgbClr>
          </a:solidFill>
          <a:ln w="9525">
            <a:solidFill>
              <a:srgbClr val="2563EB">
                <a:alpha val="40000"/>
              </a:srgbClr>
            </a:solidFill>
            <a:prstDash val="solid"/>
          </a:ln>
        </p:spPr>
      </p:sp>
      <p:sp>
        <p:nvSpPr>
          <p:cNvPr id="72" name="Text 70"/>
          <p:cNvSpPr txBox="1"/>
          <p:nvPr/>
        </p:nvSpPr>
        <p:spPr>
          <a:xfrm>
            <a:off x="10241661" y="4305300"/>
            <a:ext cx="1201674" cy="233362"/>
          </a:xfrm>
          <a:prstGeom prst="rect">
            <a:avLst/>
          </a:prstGeom>
          <a:noFill/>
          <a:ln/>
        </p:spPr>
        <p:txBody>
          <a:bodyPr wrap="square" lIns="0" tIns="0" rIns="0" bIns="0" rtlCol="0" anchor="ctr"/>
          <a:lstStyle/>
          <a:p>
            <a:pPr marL="0" indent="0" algn="ctr">
              <a:buNone/>
            </a:pPr>
            <a:r>
              <a:rPr lang="en-US" sz="788" dirty="0">
                <a:solidFill>
                  <a:srgbClr val="7CA9FF"/>
                </a:solidFill>
                <a:latin typeface="Consolas" pitchFamily="34" charset="0"/>
                <a:ea typeface="Consolas" pitchFamily="34" charset="-122"/>
                <a:cs typeface="Consolas" pitchFamily="34" charset="-120"/>
              </a:rPr>
              <a:t>EMAIL SIMILARITY</a:t>
            </a:r>
            <a:endParaRPr lang="en-US" sz="788" dirty="0"/>
          </a:p>
        </p:txBody>
      </p:sp>
      <p:sp>
        <p:nvSpPr>
          <p:cNvPr id="73" name="Shape 71"/>
          <p:cNvSpPr/>
          <p:nvPr/>
        </p:nvSpPr>
        <p:spPr>
          <a:xfrm>
            <a:off x="8220075" y="4614863"/>
            <a:ext cx="1077659" cy="233362"/>
          </a:xfrm>
          <a:prstGeom prst="roundRect">
            <a:avLst>
              <a:gd name="adj" fmla="val 23510"/>
            </a:avLst>
          </a:prstGeom>
          <a:solidFill>
            <a:srgbClr val="2563EB">
              <a:alpha val="14000"/>
            </a:srgbClr>
          </a:solidFill>
          <a:ln w="9525">
            <a:solidFill>
              <a:srgbClr val="2563EB">
                <a:alpha val="40000"/>
              </a:srgbClr>
            </a:solidFill>
            <a:prstDash val="solid"/>
          </a:ln>
        </p:spPr>
      </p:sp>
      <p:sp>
        <p:nvSpPr>
          <p:cNvPr id="74" name="Text 72"/>
          <p:cNvSpPr txBox="1"/>
          <p:nvPr/>
        </p:nvSpPr>
        <p:spPr>
          <a:xfrm>
            <a:off x="8220075" y="4614863"/>
            <a:ext cx="1077659" cy="233362"/>
          </a:xfrm>
          <a:prstGeom prst="rect">
            <a:avLst/>
          </a:prstGeom>
          <a:noFill/>
          <a:ln/>
        </p:spPr>
        <p:txBody>
          <a:bodyPr wrap="square" lIns="0" tIns="0" rIns="0" bIns="0" rtlCol="0" anchor="ctr"/>
          <a:lstStyle/>
          <a:p>
            <a:pPr marL="0" indent="0" algn="ctr">
              <a:buNone/>
            </a:pPr>
            <a:r>
              <a:rPr lang="en-US" sz="788" dirty="0">
                <a:solidFill>
                  <a:srgbClr val="7CA9FF"/>
                </a:solidFill>
                <a:latin typeface="Consolas" pitchFamily="34" charset="0"/>
                <a:ea typeface="Consolas" pitchFamily="34" charset="-122"/>
                <a:cs typeface="Consolas" pitchFamily="34" charset="-120"/>
              </a:rPr>
              <a:t>PHONE VALIDITY</a:t>
            </a:r>
            <a:endParaRPr lang="en-US" sz="78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04 — MODEL COMPARISON</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7 algorithms benchmarked — </a:t>
            </a:r>
            <a:r>
              <a:rPr lang="en-US" sz="2475" b="1" dirty="0">
                <a:solidFill>
                  <a:srgbClr val="F5C542"/>
                </a:solidFill>
                <a:latin typeface="Arial" pitchFamily="34" charset="0"/>
                <a:ea typeface="Arial" pitchFamily="34" charset="-122"/>
                <a:cs typeface="Arial" pitchFamily="34" charset="-120"/>
              </a:rPr>
              <a:t>ensembles dominate</a:t>
            </a:r>
            <a:endParaRPr lang="en-US" sz="2475" dirty="0"/>
          </a:p>
        </p:txBody>
      </p:sp>
      <p:sp>
        <p:nvSpPr>
          <p:cNvPr id="4" name="Shape 2"/>
          <p:cNvSpPr/>
          <p:nvPr/>
        </p:nvSpPr>
        <p:spPr>
          <a:xfrm>
            <a:off x="533400" y="1181100"/>
            <a:ext cx="6781800" cy="2857500"/>
          </a:xfrm>
          <a:prstGeom prst="roundRect">
            <a:avLst>
              <a:gd name="adj" fmla="val 1920"/>
            </a:avLst>
          </a:prstGeom>
          <a:solidFill>
            <a:srgbClr val="FFFFFF">
              <a:alpha val="4000"/>
            </a:srgbClr>
          </a:solidFill>
          <a:ln w="9525">
            <a:solidFill>
              <a:srgbClr val="9AA8BE">
                <a:alpha val="16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6750" y="1276350"/>
          <a:ext cx="6515100" cy="2590800"/>
        </p:xfrm>
        <a:graphic>
          <a:graphicData uri="http://schemas.openxmlformats.org/drawingml/2006/table">
            <a:tbl>
              <a:tblPr/>
              <a:tblGrid>
                <a:gridCol w="18669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62865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323850">
                <a:tc>
                  <a:txBody>
                    <a:bodyPr/>
                    <a:lstStyle/>
                    <a:p>
                      <a:pPr marL="0" indent="0" algn="l">
                        <a:buNone/>
                      </a:pPr>
                      <a:r>
                        <a:rPr lang="en-US" sz="720" dirty="0">
                          <a:solidFill>
                            <a:srgbClr val="9AA8BE"/>
                          </a:solidFill>
                          <a:latin typeface="Consolas" pitchFamily="34" charset="0"/>
                          <a:ea typeface="Consolas" pitchFamily="34" charset="-122"/>
                          <a:cs typeface="Consolas" pitchFamily="34" charset="-120"/>
                        </a:rPr>
                        <a:t>MODEL</a:t>
                      </a:r>
                      <a:endParaRPr lang="en-US" sz="72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tc>
                  <a:txBody>
                    <a:bodyPr/>
                    <a:lstStyle/>
                    <a:p>
                      <a:pPr marL="0" indent="0" algn="r">
                        <a:buNone/>
                      </a:pPr>
                      <a:r>
                        <a:rPr lang="en-US" sz="720" dirty="0">
                          <a:solidFill>
                            <a:srgbClr val="9AA8BE"/>
                          </a:solidFill>
                          <a:latin typeface="Consolas" pitchFamily="34" charset="0"/>
                          <a:ea typeface="Consolas" pitchFamily="34" charset="-122"/>
                          <a:cs typeface="Consolas" pitchFamily="34" charset="-120"/>
                        </a:rPr>
                        <a:t>PR-AUC</a:t>
                      </a:r>
                      <a:endParaRPr lang="en-US" sz="72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tc>
                  <a:txBody>
                    <a:bodyPr/>
                    <a:lstStyle/>
                    <a:p>
                      <a:pPr marL="0" indent="0" algn="r">
                        <a:buNone/>
                      </a:pPr>
                      <a:r>
                        <a:rPr lang="en-US" sz="720" dirty="0">
                          <a:solidFill>
                            <a:srgbClr val="9AA8BE"/>
                          </a:solidFill>
                          <a:latin typeface="Consolas" pitchFamily="34" charset="0"/>
                          <a:ea typeface="Consolas" pitchFamily="34" charset="-122"/>
                          <a:cs typeface="Consolas" pitchFamily="34" charset="-120"/>
                        </a:rPr>
                        <a:t>ROC-AUC</a:t>
                      </a:r>
                      <a:endParaRPr lang="en-US" sz="72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tc>
                  <a:txBody>
                    <a:bodyPr/>
                    <a:lstStyle/>
                    <a:p>
                      <a:pPr marL="0" indent="0" algn="r">
                        <a:buNone/>
                      </a:pPr>
                      <a:r>
                        <a:rPr lang="en-US" sz="720" dirty="0">
                          <a:solidFill>
                            <a:srgbClr val="9AA8BE"/>
                          </a:solidFill>
                          <a:latin typeface="Consolas" pitchFamily="34" charset="0"/>
                          <a:ea typeface="Consolas" pitchFamily="34" charset="-122"/>
                          <a:cs typeface="Consolas" pitchFamily="34" charset="-120"/>
                        </a:rPr>
                        <a:t>F1</a:t>
                      </a:r>
                      <a:endParaRPr lang="en-US" sz="72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tc>
                  <a:txBody>
                    <a:bodyPr/>
                    <a:lstStyle/>
                    <a:p>
                      <a:pPr marL="0" indent="0" algn="r">
                        <a:buNone/>
                      </a:pPr>
                      <a:r>
                        <a:rPr lang="en-US" sz="720" dirty="0">
                          <a:solidFill>
                            <a:srgbClr val="9AA8BE"/>
                          </a:solidFill>
                          <a:latin typeface="Consolas" pitchFamily="34" charset="0"/>
                          <a:ea typeface="Consolas" pitchFamily="34" charset="-122"/>
                          <a:cs typeface="Consolas" pitchFamily="34" charset="-120"/>
                        </a:rPr>
                        <a:t>P@50</a:t>
                      </a:r>
                      <a:endParaRPr lang="en-US" sz="72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tc>
                  <a:txBody>
                    <a:bodyPr/>
                    <a:lstStyle/>
                    <a:p>
                      <a:pPr marL="0" indent="0" algn="r">
                        <a:buNone/>
                      </a:pPr>
                      <a:r>
                        <a:rPr lang="en-US" sz="720" dirty="0">
                          <a:solidFill>
                            <a:srgbClr val="9AA8BE"/>
                          </a:solidFill>
                          <a:latin typeface="Consolas" pitchFamily="34" charset="0"/>
                          <a:ea typeface="Consolas" pitchFamily="34" charset="-122"/>
                          <a:cs typeface="Consolas" pitchFamily="34" charset="-120"/>
                        </a:rPr>
                        <a:t>P@10</a:t>
                      </a:r>
                      <a:endParaRPr lang="en-US" sz="72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tc>
                  <a:txBody>
                    <a:bodyPr/>
                    <a:lstStyle/>
                    <a:p>
                      <a:pPr marL="0" indent="0" algn="r">
                        <a:buNone/>
                      </a:pPr>
                      <a:r>
                        <a:rPr lang="en-US" sz="720" dirty="0">
                          <a:solidFill>
                            <a:srgbClr val="9AA8BE"/>
                          </a:solidFill>
                          <a:latin typeface="Consolas" pitchFamily="34" charset="0"/>
                          <a:ea typeface="Consolas" pitchFamily="34" charset="-122"/>
                          <a:cs typeface="Consolas" pitchFamily="34" charset="-120"/>
                        </a:rPr>
                        <a:t>TIME</a:t>
                      </a:r>
                      <a:endParaRPr lang="en-US" sz="72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0"/>
                  </a:ext>
                </a:extLst>
              </a:tr>
              <a:tr h="323850">
                <a:tc>
                  <a:txBody>
                    <a:bodyPr/>
                    <a:lstStyle/>
                    <a:p>
                      <a:pPr marL="0" indent="0" algn="l">
                        <a:buNone/>
                      </a:pPr>
                      <a:r>
                        <a:rPr lang="en-US" sz="880" b="1" dirty="0">
                          <a:solidFill>
                            <a:srgbClr val="F5C542"/>
                          </a:solidFill>
                          <a:latin typeface="Consolas" pitchFamily="34" charset="0"/>
                          <a:ea typeface="Consolas" pitchFamily="34" charset="-122"/>
                          <a:cs typeface="Consolas" pitchFamily="34" charset="-120"/>
                        </a:rPr>
                        <a:t>01  Gradient Boosting</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F5C542">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0.5795</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F5C542">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0.9796</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F5C542">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0.5097</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F5C542">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0.86</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F5C542">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0.70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F5C542">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333s</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F5C542">
                        <a:alpha val="14000"/>
                      </a:srgbClr>
                    </a:solidFill>
                  </a:tcPr>
                </a:tc>
                <a:extLst>
                  <a:ext uri="{0D108BD9-81ED-4DB2-BD59-A6C34878D82A}">
                    <a16:rowId xmlns:a16="http://schemas.microsoft.com/office/drawing/2014/main" val="10001"/>
                  </a:ext>
                </a:extLst>
              </a:tr>
              <a:tr h="323850">
                <a:tc>
                  <a:txBody>
                    <a:bodyPr/>
                    <a:lstStyle/>
                    <a:p>
                      <a:pPr marL="0" indent="0" algn="l">
                        <a:buNone/>
                      </a:pPr>
                      <a:r>
                        <a:rPr lang="en-US" sz="880" b="1" dirty="0">
                          <a:solidFill>
                            <a:srgbClr val="FFFFFF"/>
                          </a:solidFill>
                          <a:latin typeface="Consolas" pitchFamily="34" charset="0"/>
                          <a:ea typeface="Consolas" pitchFamily="34" charset="-122"/>
                          <a:cs typeface="Consolas" pitchFamily="34" charset="-120"/>
                        </a:rPr>
                        <a:t>02  Bagging</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0F9D91">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0.5701</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0F9D91">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0.9558</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0F9D91">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0.4946</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0F9D91">
                        <a:alpha val="14000"/>
                      </a:srgbClr>
                    </a:solidFill>
                  </a:tcPr>
                </a:tc>
                <a:tc>
                  <a:txBody>
                    <a:bodyPr/>
                    <a:lstStyle/>
                    <a:p>
                      <a:pPr marL="0" indent="0" algn="r">
                        <a:buNone/>
                      </a:pPr>
                      <a:r>
                        <a:rPr lang="en-US" sz="880" b="1" dirty="0">
                          <a:solidFill>
                            <a:srgbClr val="2CC5B7"/>
                          </a:solidFill>
                          <a:latin typeface="Consolas" pitchFamily="34" charset="0"/>
                          <a:ea typeface="Consolas" pitchFamily="34" charset="-122"/>
                          <a:cs typeface="Consolas" pitchFamily="34" charset="-120"/>
                        </a:rPr>
                        <a:t>1.00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0F9D91">
                        <a:alpha val="14000"/>
                      </a:srgbClr>
                    </a:solidFill>
                  </a:tcPr>
                </a:tc>
                <a:tc>
                  <a:txBody>
                    <a:bodyPr/>
                    <a:lstStyle/>
                    <a:p>
                      <a:pPr marL="0" indent="0" algn="r">
                        <a:buNone/>
                      </a:pPr>
                      <a:r>
                        <a:rPr lang="en-US" sz="880" b="1" dirty="0">
                          <a:solidFill>
                            <a:srgbClr val="2CC5B7"/>
                          </a:solidFill>
                          <a:latin typeface="Consolas" pitchFamily="34" charset="0"/>
                          <a:ea typeface="Consolas" pitchFamily="34" charset="-122"/>
                          <a:cs typeface="Consolas" pitchFamily="34" charset="-120"/>
                        </a:rPr>
                        <a:t>1.00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0F9D91">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62s</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0F9D91">
                        <a:alpha val="14000"/>
                      </a:srgbClr>
                    </a:solidFill>
                  </a:tcPr>
                </a:tc>
                <a:extLst>
                  <a:ext uri="{0D108BD9-81ED-4DB2-BD59-A6C34878D82A}">
                    <a16:rowId xmlns:a16="http://schemas.microsoft.com/office/drawing/2014/main" val="10002"/>
                  </a:ext>
                </a:extLst>
              </a:tr>
              <a:tr h="323850">
                <a:tc>
                  <a:txBody>
                    <a:bodyPr/>
                    <a:lstStyle/>
                    <a:p>
                      <a:pPr marL="0" indent="0" algn="l">
                        <a:buNone/>
                      </a:pPr>
                      <a:r>
                        <a:rPr lang="en-US" sz="880" b="1" dirty="0">
                          <a:solidFill>
                            <a:srgbClr val="FFFFFF"/>
                          </a:solidFill>
                          <a:latin typeface="Consolas" pitchFamily="34" charset="0"/>
                          <a:ea typeface="Consolas" pitchFamily="34" charset="-122"/>
                          <a:cs typeface="Consolas" pitchFamily="34" charset="-120"/>
                        </a:rPr>
                        <a:t>03  XGBoost</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2563EB">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0.5497</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2563EB">
                        <a:alpha val="14000"/>
                      </a:srgbClr>
                    </a:solidFill>
                  </a:tcPr>
                </a:tc>
                <a:tc>
                  <a:txBody>
                    <a:bodyPr/>
                    <a:lstStyle/>
                    <a:p>
                      <a:pPr marL="0" indent="0" algn="r">
                        <a:buNone/>
                      </a:pPr>
                      <a:r>
                        <a:rPr lang="en-US" sz="880" b="1" dirty="0">
                          <a:solidFill>
                            <a:srgbClr val="2CC5B7"/>
                          </a:solidFill>
                          <a:latin typeface="Consolas" pitchFamily="34" charset="0"/>
                          <a:ea typeface="Consolas" pitchFamily="34" charset="-122"/>
                          <a:cs typeface="Consolas" pitchFamily="34" charset="-120"/>
                        </a:rPr>
                        <a:t>0.9910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2563EB">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0.2655</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2563EB">
                        <a:alpha val="14000"/>
                      </a:srgbClr>
                    </a:solidFill>
                  </a:tcPr>
                </a:tc>
                <a:tc>
                  <a:txBody>
                    <a:bodyPr/>
                    <a:lstStyle/>
                    <a:p>
                      <a:pPr marL="0" indent="0" algn="r">
                        <a:buNone/>
                      </a:pPr>
                      <a:r>
                        <a:rPr lang="en-US" sz="880" b="1" dirty="0">
                          <a:solidFill>
                            <a:srgbClr val="FFFFFF"/>
                          </a:solidFill>
                          <a:latin typeface="Consolas" pitchFamily="34" charset="0"/>
                          <a:ea typeface="Consolas" pitchFamily="34" charset="-122"/>
                          <a:cs typeface="Consolas" pitchFamily="34" charset="-120"/>
                        </a:rPr>
                        <a:t>0.88</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2563EB">
                        <a:alpha val="14000"/>
                      </a:srgbClr>
                    </a:solidFill>
                  </a:tcPr>
                </a:tc>
                <a:tc>
                  <a:txBody>
                    <a:bodyPr/>
                    <a:lstStyle/>
                    <a:p>
                      <a:pPr marL="0" indent="0" algn="r">
                        <a:buNone/>
                      </a:pPr>
                      <a:r>
                        <a:rPr lang="en-US" sz="880" b="1" dirty="0">
                          <a:solidFill>
                            <a:srgbClr val="2CC5B7"/>
                          </a:solidFill>
                          <a:latin typeface="Consolas" pitchFamily="34" charset="0"/>
                          <a:ea typeface="Consolas" pitchFamily="34" charset="-122"/>
                          <a:cs typeface="Consolas" pitchFamily="34" charset="-120"/>
                        </a:rPr>
                        <a:t>1.00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2563EB">
                        <a:alpha val="14000"/>
                      </a:srgbClr>
                    </a:solidFill>
                  </a:tcPr>
                </a:tc>
                <a:tc>
                  <a:txBody>
                    <a:bodyPr/>
                    <a:lstStyle/>
                    <a:p>
                      <a:pPr marL="0" indent="0" algn="r">
                        <a:buNone/>
                      </a:pPr>
                      <a:r>
                        <a:rPr lang="en-US" sz="880" b="1" dirty="0">
                          <a:solidFill>
                            <a:srgbClr val="2CC5B7"/>
                          </a:solidFill>
                          <a:latin typeface="Consolas" pitchFamily="34" charset="0"/>
                          <a:ea typeface="Consolas" pitchFamily="34" charset="-122"/>
                          <a:cs typeface="Consolas" pitchFamily="34" charset="-120"/>
                        </a:rPr>
                        <a:t>22s</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solidFill>
                      <a:srgbClr val="2563EB">
                        <a:alpha val="14000"/>
                      </a:srgbClr>
                    </a:solidFill>
                  </a:tcPr>
                </a:tc>
                <a:extLst>
                  <a:ext uri="{0D108BD9-81ED-4DB2-BD59-A6C34878D82A}">
                    <a16:rowId xmlns:a16="http://schemas.microsoft.com/office/drawing/2014/main" val="10003"/>
                  </a:ext>
                </a:extLst>
              </a:tr>
              <a:tr h="323850">
                <a:tc>
                  <a:txBody>
                    <a:bodyPr/>
                    <a:lstStyle/>
                    <a:p>
                      <a:pPr marL="0" indent="0" algn="l">
                        <a:buNone/>
                      </a:pPr>
                      <a:r>
                        <a:rPr lang="en-US" sz="880" dirty="0">
                          <a:solidFill>
                            <a:srgbClr val="D2DBEA"/>
                          </a:solidFill>
                          <a:latin typeface="Consolas" pitchFamily="34" charset="0"/>
                          <a:ea typeface="Consolas" pitchFamily="34" charset="-122"/>
                          <a:cs typeface="Consolas" pitchFamily="34" charset="-120"/>
                        </a:rPr>
                        <a:t>Decision Tree</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0.4193</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0.9702</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0.1652</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0.64</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0.80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3s</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4"/>
                  </a:ext>
                </a:extLst>
              </a:tr>
              <a:tr h="323850">
                <a:tc>
                  <a:txBody>
                    <a:bodyPr/>
                    <a:lstStyle/>
                    <a:p>
                      <a:pPr marL="0" indent="0" algn="l">
                        <a:buNone/>
                      </a:pPr>
                      <a:r>
                        <a:rPr lang="en-US" sz="880" dirty="0">
                          <a:solidFill>
                            <a:srgbClr val="D2DBEA"/>
                          </a:solidFill>
                          <a:latin typeface="Consolas" pitchFamily="34" charset="0"/>
                          <a:ea typeface="Consolas" pitchFamily="34" charset="-122"/>
                          <a:cs typeface="Consolas" pitchFamily="34" charset="-120"/>
                        </a:rPr>
                        <a:t>Random Forest</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0.3953</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0.9895</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0.1670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0.62</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0.70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D2DBEA"/>
                          </a:solidFill>
                          <a:latin typeface="Consolas" pitchFamily="34" charset="0"/>
                          <a:ea typeface="Consolas" pitchFamily="34" charset="-122"/>
                          <a:cs typeface="Consolas" pitchFamily="34" charset="-120"/>
                        </a:rPr>
                        <a:t>40s</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5"/>
                  </a:ext>
                </a:extLst>
              </a:tr>
              <a:tr h="323850">
                <a:tc>
                  <a:txBody>
                    <a:bodyPr/>
                    <a:lstStyle/>
                    <a:p>
                      <a:pPr marL="0" indent="0" algn="l">
                        <a:buNone/>
                      </a:pPr>
                      <a:r>
                        <a:rPr lang="en-US" sz="880" dirty="0">
                          <a:solidFill>
                            <a:srgbClr val="8FA0B8"/>
                          </a:solidFill>
                          <a:latin typeface="Consolas" pitchFamily="34" charset="0"/>
                          <a:ea typeface="Consolas" pitchFamily="34" charset="-122"/>
                          <a:cs typeface="Consolas" pitchFamily="34" charset="-120"/>
                        </a:rPr>
                        <a:t>Extra Trees</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0.2720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0.9853</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0.2858</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0.40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0.30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28s</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6"/>
                  </a:ext>
                </a:extLst>
              </a:tr>
              <a:tr h="323850">
                <a:tc>
                  <a:txBody>
                    <a:bodyPr/>
                    <a:lstStyle/>
                    <a:p>
                      <a:pPr marL="0" indent="0" algn="l">
                        <a:buNone/>
                      </a:pPr>
                      <a:r>
                        <a:rPr lang="en-US" sz="880" dirty="0">
                          <a:solidFill>
                            <a:srgbClr val="8FA0B8"/>
                          </a:solidFill>
                          <a:latin typeface="Consolas" pitchFamily="34" charset="0"/>
                          <a:ea typeface="Consolas" pitchFamily="34" charset="-122"/>
                          <a:cs typeface="Consolas" pitchFamily="34" charset="-120"/>
                        </a:rPr>
                        <a:t>Logistic Regression</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0.0744</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0.9202</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0.1233</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0.20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0.70</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lgn="r">
                        <a:buNone/>
                      </a:pPr>
                      <a:r>
                        <a:rPr lang="en-US" sz="880" dirty="0">
                          <a:solidFill>
                            <a:srgbClr val="8FA0B8"/>
                          </a:solidFill>
                          <a:latin typeface="Consolas" pitchFamily="34" charset="0"/>
                          <a:ea typeface="Consolas" pitchFamily="34" charset="-122"/>
                          <a:cs typeface="Consolas" pitchFamily="34" charset="-120"/>
                        </a:rPr>
                        <a:t>24s</a:t>
                      </a:r>
                      <a:endParaRPr lang="en-US" sz="88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3"/>
          <p:cNvSpPr/>
          <p:nvPr/>
        </p:nvSpPr>
        <p:spPr>
          <a:xfrm>
            <a:off x="7467600" y="1181100"/>
            <a:ext cx="4191000" cy="2857500"/>
          </a:xfrm>
          <a:prstGeom prst="roundRect">
            <a:avLst>
              <a:gd name="adj" fmla="val 1920"/>
            </a:avLst>
          </a:prstGeom>
          <a:solidFill>
            <a:srgbClr val="FFFFFF">
              <a:alpha val="4000"/>
            </a:srgbClr>
          </a:solidFill>
          <a:ln w="9525">
            <a:solidFill>
              <a:srgbClr val="9AA8BE">
                <a:alpha val="16000"/>
              </a:srgbClr>
            </a:solidFill>
            <a:prstDash val="solid"/>
          </a:ln>
        </p:spPr>
      </p:sp>
      <p:sp>
        <p:nvSpPr>
          <p:cNvPr id="7" name="Shape 4"/>
          <p:cNvSpPr/>
          <p:nvPr/>
        </p:nvSpPr>
        <p:spPr>
          <a:xfrm>
            <a:off x="7639050" y="1371600"/>
            <a:ext cx="66675" cy="66675"/>
          </a:xfrm>
          <a:prstGeom prst="ellipse">
            <a:avLst/>
          </a:prstGeom>
          <a:solidFill>
            <a:srgbClr val="F5C542"/>
          </a:solidFill>
          <a:ln/>
        </p:spPr>
      </p:sp>
      <p:sp>
        <p:nvSpPr>
          <p:cNvPr id="8" name="Text 5"/>
          <p:cNvSpPr txBox="1"/>
          <p:nvPr/>
        </p:nvSpPr>
        <p:spPr>
          <a:xfrm>
            <a:off x="7791450" y="13239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PR-AUC COMPARISON</a:t>
            </a:r>
            <a:endParaRPr lang="en-US" sz="975" dirty="0"/>
          </a:p>
        </p:txBody>
      </p:sp>
      <p:sp>
        <p:nvSpPr>
          <p:cNvPr id="9" name="Text 6"/>
          <p:cNvSpPr txBox="1"/>
          <p:nvPr/>
        </p:nvSpPr>
        <p:spPr>
          <a:xfrm>
            <a:off x="7639050" y="1638300"/>
            <a:ext cx="361950" cy="142875"/>
          </a:xfrm>
          <a:prstGeom prst="rect">
            <a:avLst/>
          </a:prstGeom>
          <a:noFill/>
          <a:ln/>
        </p:spPr>
        <p:txBody>
          <a:bodyPr wrap="square" lIns="0" tIns="0" rIns="0" bIns="0" rtlCol="0" anchor="ctr"/>
          <a:lstStyle/>
          <a:p>
            <a:pPr marL="0" indent="0" algn="r">
              <a:buNone/>
            </a:pPr>
            <a:r>
              <a:rPr lang="en-US" sz="750" dirty="0">
                <a:solidFill>
                  <a:srgbClr val="9AA8BE"/>
                </a:solidFill>
                <a:latin typeface="Consolas" pitchFamily="34" charset="0"/>
                <a:ea typeface="Consolas" pitchFamily="34" charset="-122"/>
                <a:cs typeface="Consolas" pitchFamily="34" charset="-120"/>
              </a:rPr>
              <a:t>GB</a:t>
            </a:r>
            <a:endParaRPr lang="en-US" sz="750" dirty="0"/>
          </a:p>
        </p:txBody>
      </p:sp>
      <p:sp>
        <p:nvSpPr>
          <p:cNvPr id="10" name="Shape 7"/>
          <p:cNvSpPr/>
          <p:nvPr/>
        </p:nvSpPr>
        <p:spPr>
          <a:xfrm>
            <a:off x="8096250" y="1638300"/>
            <a:ext cx="2667000" cy="142875"/>
          </a:xfrm>
          <a:prstGeom prst="roundRect">
            <a:avLst>
              <a:gd name="adj" fmla="val 38400"/>
            </a:avLst>
          </a:prstGeom>
          <a:solidFill>
            <a:srgbClr val="FFFFFF">
              <a:alpha val="6000"/>
            </a:srgbClr>
          </a:solidFill>
          <a:ln/>
        </p:spPr>
      </p:sp>
      <p:sp>
        <p:nvSpPr>
          <p:cNvPr id="11" name="Shape 8"/>
          <p:cNvSpPr/>
          <p:nvPr/>
        </p:nvSpPr>
        <p:spPr>
          <a:xfrm>
            <a:off x="8096250" y="1638300"/>
            <a:ext cx="2576322" cy="142875"/>
          </a:xfrm>
          <a:prstGeom prst="roundRect">
            <a:avLst>
              <a:gd name="adj" fmla="val 38400"/>
            </a:avLst>
          </a:prstGeom>
          <a:solidFill>
            <a:srgbClr val="F5C542"/>
          </a:solidFill>
          <a:ln/>
        </p:spPr>
      </p:sp>
      <p:sp>
        <p:nvSpPr>
          <p:cNvPr id="12" name="Text 9"/>
          <p:cNvSpPr txBox="1"/>
          <p:nvPr/>
        </p:nvSpPr>
        <p:spPr>
          <a:xfrm>
            <a:off x="10839450" y="1638300"/>
            <a:ext cx="533400" cy="142875"/>
          </a:xfrm>
          <a:prstGeom prst="rect">
            <a:avLst/>
          </a:prstGeom>
          <a:noFill/>
          <a:ln/>
        </p:spPr>
        <p:txBody>
          <a:bodyPr wrap="square" lIns="0" tIns="0" rIns="0" bIns="0" rtlCol="0" anchor="ctr"/>
          <a:lstStyle/>
          <a:p>
            <a:pPr marL="0" indent="0" algn="r">
              <a:buNone/>
            </a:pPr>
            <a:r>
              <a:rPr lang="en-US" sz="750" b="1" dirty="0">
                <a:solidFill>
                  <a:srgbClr val="FFFFFF"/>
                </a:solidFill>
                <a:latin typeface="Consolas" pitchFamily="34" charset="0"/>
                <a:ea typeface="Consolas" pitchFamily="34" charset="-122"/>
                <a:cs typeface="Consolas" pitchFamily="34" charset="-120"/>
              </a:rPr>
              <a:t>0.5795</a:t>
            </a:r>
            <a:endParaRPr lang="en-US" sz="750" dirty="0"/>
          </a:p>
        </p:txBody>
      </p:sp>
      <p:sp>
        <p:nvSpPr>
          <p:cNvPr id="13" name="Text 10"/>
          <p:cNvSpPr txBox="1"/>
          <p:nvPr/>
        </p:nvSpPr>
        <p:spPr>
          <a:xfrm>
            <a:off x="7639050" y="1905000"/>
            <a:ext cx="361950" cy="142875"/>
          </a:xfrm>
          <a:prstGeom prst="rect">
            <a:avLst/>
          </a:prstGeom>
          <a:noFill/>
          <a:ln/>
        </p:spPr>
        <p:txBody>
          <a:bodyPr wrap="square" lIns="0" tIns="0" rIns="0" bIns="0" rtlCol="0" anchor="ctr"/>
          <a:lstStyle/>
          <a:p>
            <a:pPr marL="0" indent="0" algn="r">
              <a:buNone/>
            </a:pPr>
            <a:r>
              <a:rPr lang="en-US" sz="750" dirty="0">
                <a:solidFill>
                  <a:srgbClr val="9AA8BE"/>
                </a:solidFill>
                <a:latin typeface="Consolas" pitchFamily="34" charset="0"/>
                <a:ea typeface="Consolas" pitchFamily="34" charset="-122"/>
                <a:cs typeface="Consolas" pitchFamily="34" charset="-120"/>
              </a:rPr>
              <a:t>BAG</a:t>
            </a:r>
            <a:endParaRPr lang="en-US" sz="750" dirty="0"/>
          </a:p>
        </p:txBody>
      </p:sp>
      <p:sp>
        <p:nvSpPr>
          <p:cNvPr id="14" name="Shape 11"/>
          <p:cNvSpPr/>
          <p:nvPr/>
        </p:nvSpPr>
        <p:spPr>
          <a:xfrm>
            <a:off x="8096250" y="1905000"/>
            <a:ext cx="2667000" cy="142875"/>
          </a:xfrm>
          <a:prstGeom prst="roundRect">
            <a:avLst>
              <a:gd name="adj" fmla="val 38400"/>
            </a:avLst>
          </a:prstGeom>
          <a:solidFill>
            <a:srgbClr val="FFFFFF">
              <a:alpha val="6000"/>
            </a:srgbClr>
          </a:solidFill>
          <a:ln/>
        </p:spPr>
      </p:sp>
      <p:sp>
        <p:nvSpPr>
          <p:cNvPr id="15" name="Shape 12"/>
          <p:cNvSpPr/>
          <p:nvPr/>
        </p:nvSpPr>
        <p:spPr>
          <a:xfrm>
            <a:off x="8096250" y="1905000"/>
            <a:ext cx="2533650" cy="142875"/>
          </a:xfrm>
          <a:prstGeom prst="roundRect">
            <a:avLst>
              <a:gd name="adj" fmla="val 38400"/>
            </a:avLst>
          </a:prstGeom>
          <a:solidFill>
            <a:srgbClr val="0F9D91"/>
          </a:solidFill>
          <a:ln/>
        </p:spPr>
      </p:sp>
      <p:sp>
        <p:nvSpPr>
          <p:cNvPr id="16" name="Text 13"/>
          <p:cNvSpPr txBox="1"/>
          <p:nvPr/>
        </p:nvSpPr>
        <p:spPr>
          <a:xfrm>
            <a:off x="10839450" y="1905000"/>
            <a:ext cx="533400" cy="142875"/>
          </a:xfrm>
          <a:prstGeom prst="rect">
            <a:avLst/>
          </a:prstGeom>
          <a:noFill/>
          <a:ln/>
        </p:spPr>
        <p:txBody>
          <a:bodyPr wrap="square" lIns="0" tIns="0" rIns="0" bIns="0" rtlCol="0" anchor="ctr"/>
          <a:lstStyle/>
          <a:p>
            <a:pPr marL="0" indent="0" algn="r">
              <a:buNone/>
            </a:pPr>
            <a:r>
              <a:rPr lang="en-US" sz="750" b="1" dirty="0">
                <a:solidFill>
                  <a:srgbClr val="FFFFFF"/>
                </a:solidFill>
                <a:latin typeface="Consolas" pitchFamily="34" charset="0"/>
                <a:ea typeface="Consolas" pitchFamily="34" charset="-122"/>
                <a:cs typeface="Consolas" pitchFamily="34" charset="-120"/>
              </a:rPr>
              <a:t>0.5701</a:t>
            </a:r>
            <a:endParaRPr lang="en-US" sz="750" dirty="0"/>
          </a:p>
        </p:txBody>
      </p:sp>
      <p:sp>
        <p:nvSpPr>
          <p:cNvPr id="17" name="Text 14"/>
          <p:cNvSpPr txBox="1"/>
          <p:nvPr/>
        </p:nvSpPr>
        <p:spPr>
          <a:xfrm>
            <a:off x="7639050" y="2171700"/>
            <a:ext cx="361950" cy="142875"/>
          </a:xfrm>
          <a:prstGeom prst="rect">
            <a:avLst/>
          </a:prstGeom>
          <a:noFill/>
          <a:ln/>
        </p:spPr>
        <p:txBody>
          <a:bodyPr wrap="square" lIns="0" tIns="0" rIns="0" bIns="0" rtlCol="0" anchor="ctr"/>
          <a:lstStyle/>
          <a:p>
            <a:pPr marL="0" indent="0" algn="r">
              <a:buNone/>
            </a:pPr>
            <a:r>
              <a:rPr lang="en-US" sz="750" dirty="0">
                <a:solidFill>
                  <a:srgbClr val="9AA8BE"/>
                </a:solidFill>
                <a:latin typeface="Consolas" pitchFamily="34" charset="0"/>
                <a:ea typeface="Consolas" pitchFamily="34" charset="-122"/>
                <a:cs typeface="Consolas" pitchFamily="34" charset="-120"/>
              </a:rPr>
              <a:t>XGB</a:t>
            </a:r>
            <a:endParaRPr lang="en-US" sz="750" dirty="0"/>
          </a:p>
        </p:txBody>
      </p:sp>
      <p:sp>
        <p:nvSpPr>
          <p:cNvPr id="18" name="Shape 15"/>
          <p:cNvSpPr/>
          <p:nvPr/>
        </p:nvSpPr>
        <p:spPr>
          <a:xfrm>
            <a:off x="8096250" y="2171700"/>
            <a:ext cx="2667000" cy="142875"/>
          </a:xfrm>
          <a:prstGeom prst="roundRect">
            <a:avLst>
              <a:gd name="adj" fmla="val 38400"/>
            </a:avLst>
          </a:prstGeom>
          <a:solidFill>
            <a:srgbClr val="FFFFFF">
              <a:alpha val="6000"/>
            </a:srgbClr>
          </a:solidFill>
          <a:ln/>
        </p:spPr>
      </p:sp>
      <p:sp>
        <p:nvSpPr>
          <p:cNvPr id="19" name="Shape 16"/>
          <p:cNvSpPr/>
          <p:nvPr/>
        </p:nvSpPr>
        <p:spPr>
          <a:xfrm>
            <a:off x="8096250" y="2171700"/>
            <a:ext cx="2442972" cy="142875"/>
          </a:xfrm>
          <a:prstGeom prst="roundRect">
            <a:avLst>
              <a:gd name="adj" fmla="val 38400"/>
            </a:avLst>
          </a:prstGeom>
          <a:solidFill>
            <a:srgbClr val="2563EB"/>
          </a:solidFill>
          <a:ln/>
        </p:spPr>
      </p:sp>
      <p:sp>
        <p:nvSpPr>
          <p:cNvPr id="20" name="Text 17"/>
          <p:cNvSpPr txBox="1"/>
          <p:nvPr/>
        </p:nvSpPr>
        <p:spPr>
          <a:xfrm>
            <a:off x="10839450" y="2171700"/>
            <a:ext cx="533400" cy="142875"/>
          </a:xfrm>
          <a:prstGeom prst="rect">
            <a:avLst/>
          </a:prstGeom>
          <a:noFill/>
          <a:ln/>
        </p:spPr>
        <p:txBody>
          <a:bodyPr wrap="square" lIns="0" tIns="0" rIns="0" bIns="0" rtlCol="0" anchor="ctr"/>
          <a:lstStyle/>
          <a:p>
            <a:pPr marL="0" indent="0" algn="r">
              <a:buNone/>
            </a:pPr>
            <a:r>
              <a:rPr lang="en-US" sz="750" b="1" dirty="0">
                <a:solidFill>
                  <a:srgbClr val="FFFFFF"/>
                </a:solidFill>
                <a:latin typeface="Consolas" pitchFamily="34" charset="0"/>
                <a:ea typeface="Consolas" pitchFamily="34" charset="-122"/>
                <a:cs typeface="Consolas" pitchFamily="34" charset="-120"/>
              </a:rPr>
              <a:t>0.5497</a:t>
            </a:r>
            <a:endParaRPr lang="en-US" sz="750" dirty="0"/>
          </a:p>
        </p:txBody>
      </p:sp>
      <p:sp>
        <p:nvSpPr>
          <p:cNvPr id="21" name="Text 18"/>
          <p:cNvSpPr txBox="1"/>
          <p:nvPr/>
        </p:nvSpPr>
        <p:spPr>
          <a:xfrm>
            <a:off x="7639050" y="2438400"/>
            <a:ext cx="361950" cy="142875"/>
          </a:xfrm>
          <a:prstGeom prst="rect">
            <a:avLst/>
          </a:prstGeom>
          <a:noFill/>
          <a:ln/>
        </p:spPr>
        <p:txBody>
          <a:bodyPr wrap="square" lIns="0" tIns="0" rIns="0" bIns="0" rtlCol="0" anchor="ctr"/>
          <a:lstStyle/>
          <a:p>
            <a:pPr marL="0" indent="0" algn="r">
              <a:buNone/>
            </a:pPr>
            <a:r>
              <a:rPr lang="en-US" sz="750" dirty="0">
                <a:solidFill>
                  <a:srgbClr val="9AA8BE"/>
                </a:solidFill>
                <a:latin typeface="Consolas" pitchFamily="34" charset="0"/>
                <a:ea typeface="Consolas" pitchFamily="34" charset="-122"/>
                <a:cs typeface="Consolas" pitchFamily="34" charset="-120"/>
              </a:rPr>
              <a:t>DT</a:t>
            </a:r>
            <a:endParaRPr lang="en-US" sz="750" dirty="0"/>
          </a:p>
        </p:txBody>
      </p:sp>
      <p:sp>
        <p:nvSpPr>
          <p:cNvPr id="22" name="Shape 19"/>
          <p:cNvSpPr/>
          <p:nvPr/>
        </p:nvSpPr>
        <p:spPr>
          <a:xfrm>
            <a:off x="8096250" y="2438400"/>
            <a:ext cx="2667000" cy="142875"/>
          </a:xfrm>
          <a:prstGeom prst="roundRect">
            <a:avLst>
              <a:gd name="adj" fmla="val 38400"/>
            </a:avLst>
          </a:prstGeom>
          <a:solidFill>
            <a:srgbClr val="FFFFFF">
              <a:alpha val="6000"/>
            </a:srgbClr>
          </a:solidFill>
          <a:ln/>
        </p:spPr>
      </p:sp>
      <p:sp>
        <p:nvSpPr>
          <p:cNvPr id="23" name="Shape 20"/>
          <p:cNvSpPr/>
          <p:nvPr/>
        </p:nvSpPr>
        <p:spPr>
          <a:xfrm>
            <a:off x="8096250" y="2438400"/>
            <a:ext cx="1864233" cy="142875"/>
          </a:xfrm>
          <a:prstGeom prst="roundRect">
            <a:avLst>
              <a:gd name="adj" fmla="val 38400"/>
            </a:avLst>
          </a:prstGeom>
          <a:solidFill>
            <a:srgbClr val="7A879B"/>
          </a:solidFill>
          <a:ln/>
        </p:spPr>
      </p:sp>
      <p:sp>
        <p:nvSpPr>
          <p:cNvPr id="24" name="Text 21"/>
          <p:cNvSpPr txBox="1"/>
          <p:nvPr/>
        </p:nvSpPr>
        <p:spPr>
          <a:xfrm>
            <a:off x="10839450" y="2438400"/>
            <a:ext cx="533400" cy="142875"/>
          </a:xfrm>
          <a:prstGeom prst="rect">
            <a:avLst/>
          </a:prstGeom>
          <a:noFill/>
          <a:ln/>
        </p:spPr>
        <p:txBody>
          <a:bodyPr wrap="square" lIns="0" tIns="0" rIns="0" bIns="0" rtlCol="0" anchor="ctr"/>
          <a:lstStyle/>
          <a:p>
            <a:pPr marL="0" indent="0" algn="r">
              <a:buNone/>
            </a:pPr>
            <a:r>
              <a:rPr lang="en-US" sz="750" b="1" dirty="0">
                <a:solidFill>
                  <a:srgbClr val="FFFFFF"/>
                </a:solidFill>
                <a:latin typeface="Consolas" pitchFamily="34" charset="0"/>
                <a:ea typeface="Consolas" pitchFamily="34" charset="-122"/>
                <a:cs typeface="Consolas" pitchFamily="34" charset="-120"/>
              </a:rPr>
              <a:t>0.4193</a:t>
            </a:r>
            <a:endParaRPr lang="en-US" sz="750" dirty="0"/>
          </a:p>
        </p:txBody>
      </p:sp>
      <p:sp>
        <p:nvSpPr>
          <p:cNvPr id="25" name="Text 22"/>
          <p:cNvSpPr txBox="1"/>
          <p:nvPr/>
        </p:nvSpPr>
        <p:spPr>
          <a:xfrm>
            <a:off x="7639050" y="2705100"/>
            <a:ext cx="361950" cy="142875"/>
          </a:xfrm>
          <a:prstGeom prst="rect">
            <a:avLst/>
          </a:prstGeom>
          <a:noFill/>
          <a:ln/>
        </p:spPr>
        <p:txBody>
          <a:bodyPr wrap="square" lIns="0" tIns="0" rIns="0" bIns="0" rtlCol="0" anchor="ctr"/>
          <a:lstStyle/>
          <a:p>
            <a:pPr marL="0" indent="0" algn="r">
              <a:buNone/>
            </a:pPr>
            <a:r>
              <a:rPr lang="en-US" sz="750" dirty="0">
                <a:solidFill>
                  <a:srgbClr val="9AA8BE"/>
                </a:solidFill>
                <a:latin typeface="Consolas" pitchFamily="34" charset="0"/>
                <a:ea typeface="Consolas" pitchFamily="34" charset="-122"/>
                <a:cs typeface="Consolas" pitchFamily="34" charset="-120"/>
              </a:rPr>
              <a:t>RF</a:t>
            </a:r>
            <a:endParaRPr lang="en-US" sz="750" dirty="0"/>
          </a:p>
        </p:txBody>
      </p:sp>
      <p:sp>
        <p:nvSpPr>
          <p:cNvPr id="26" name="Shape 23"/>
          <p:cNvSpPr/>
          <p:nvPr/>
        </p:nvSpPr>
        <p:spPr>
          <a:xfrm>
            <a:off x="8096250" y="2705100"/>
            <a:ext cx="2667000" cy="142875"/>
          </a:xfrm>
          <a:prstGeom prst="roundRect">
            <a:avLst>
              <a:gd name="adj" fmla="val 38400"/>
            </a:avLst>
          </a:prstGeom>
          <a:solidFill>
            <a:srgbClr val="FFFFFF">
              <a:alpha val="6000"/>
            </a:srgbClr>
          </a:solidFill>
          <a:ln/>
        </p:spPr>
      </p:sp>
      <p:sp>
        <p:nvSpPr>
          <p:cNvPr id="27" name="Shape 24"/>
          <p:cNvSpPr/>
          <p:nvPr/>
        </p:nvSpPr>
        <p:spPr>
          <a:xfrm>
            <a:off x="8096250" y="2705100"/>
            <a:ext cx="1757553" cy="142875"/>
          </a:xfrm>
          <a:prstGeom prst="roundRect">
            <a:avLst>
              <a:gd name="adj" fmla="val 38400"/>
            </a:avLst>
          </a:prstGeom>
          <a:solidFill>
            <a:srgbClr val="7A879B"/>
          </a:solidFill>
          <a:ln/>
        </p:spPr>
      </p:sp>
      <p:sp>
        <p:nvSpPr>
          <p:cNvPr id="28" name="Text 25"/>
          <p:cNvSpPr txBox="1"/>
          <p:nvPr/>
        </p:nvSpPr>
        <p:spPr>
          <a:xfrm>
            <a:off x="10839450" y="2705100"/>
            <a:ext cx="533400" cy="142875"/>
          </a:xfrm>
          <a:prstGeom prst="rect">
            <a:avLst/>
          </a:prstGeom>
          <a:noFill/>
          <a:ln/>
        </p:spPr>
        <p:txBody>
          <a:bodyPr wrap="square" lIns="0" tIns="0" rIns="0" bIns="0" rtlCol="0" anchor="ctr"/>
          <a:lstStyle/>
          <a:p>
            <a:pPr marL="0" indent="0" algn="r">
              <a:buNone/>
            </a:pPr>
            <a:r>
              <a:rPr lang="en-US" sz="750" b="1" dirty="0">
                <a:solidFill>
                  <a:srgbClr val="FFFFFF"/>
                </a:solidFill>
                <a:latin typeface="Consolas" pitchFamily="34" charset="0"/>
                <a:ea typeface="Consolas" pitchFamily="34" charset="-122"/>
                <a:cs typeface="Consolas" pitchFamily="34" charset="-120"/>
              </a:rPr>
              <a:t>0.3953</a:t>
            </a:r>
            <a:endParaRPr lang="en-US" sz="750" dirty="0"/>
          </a:p>
        </p:txBody>
      </p:sp>
      <p:sp>
        <p:nvSpPr>
          <p:cNvPr id="29" name="Text 26"/>
          <p:cNvSpPr txBox="1"/>
          <p:nvPr/>
        </p:nvSpPr>
        <p:spPr>
          <a:xfrm>
            <a:off x="7639050" y="2971800"/>
            <a:ext cx="361950" cy="142875"/>
          </a:xfrm>
          <a:prstGeom prst="rect">
            <a:avLst/>
          </a:prstGeom>
          <a:noFill/>
          <a:ln/>
        </p:spPr>
        <p:txBody>
          <a:bodyPr wrap="square" lIns="0" tIns="0" rIns="0" bIns="0" rtlCol="0" anchor="ctr"/>
          <a:lstStyle/>
          <a:p>
            <a:pPr marL="0" indent="0" algn="r">
              <a:buNone/>
            </a:pPr>
            <a:r>
              <a:rPr lang="en-US" sz="750" dirty="0">
                <a:solidFill>
                  <a:srgbClr val="9AA8BE"/>
                </a:solidFill>
                <a:latin typeface="Consolas" pitchFamily="34" charset="0"/>
                <a:ea typeface="Consolas" pitchFamily="34" charset="-122"/>
                <a:cs typeface="Consolas" pitchFamily="34" charset="-120"/>
              </a:rPr>
              <a:t>ET</a:t>
            </a:r>
            <a:endParaRPr lang="en-US" sz="750" dirty="0"/>
          </a:p>
        </p:txBody>
      </p:sp>
      <p:sp>
        <p:nvSpPr>
          <p:cNvPr id="30" name="Shape 27"/>
          <p:cNvSpPr/>
          <p:nvPr/>
        </p:nvSpPr>
        <p:spPr>
          <a:xfrm>
            <a:off x="8096250" y="2971800"/>
            <a:ext cx="2667000" cy="142875"/>
          </a:xfrm>
          <a:prstGeom prst="roundRect">
            <a:avLst>
              <a:gd name="adj" fmla="val 38400"/>
            </a:avLst>
          </a:prstGeom>
          <a:solidFill>
            <a:srgbClr val="FFFFFF">
              <a:alpha val="6000"/>
            </a:srgbClr>
          </a:solidFill>
          <a:ln/>
        </p:spPr>
      </p:sp>
      <p:sp>
        <p:nvSpPr>
          <p:cNvPr id="31" name="Shape 28"/>
          <p:cNvSpPr/>
          <p:nvPr/>
        </p:nvSpPr>
        <p:spPr>
          <a:xfrm>
            <a:off x="8096250" y="2971800"/>
            <a:ext cx="1208151" cy="142875"/>
          </a:xfrm>
          <a:prstGeom prst="roundRect">
            <a:avLst>
              <a:gd name="adj" fmla="val 38400"/>
            </a:avLst>
          </a:prstGeom>
          <a:solidFill>
            <a:srgbClr val="5A667A"/>
          </a:solidFill>
          <a:ln/>
        </p:spPr>
      </p:sp>
      <p:sp>
        <p:nvSpPr>
          <p:cNvPr id="32" name="Text 29"/>
          <p:cNvSpPr txBox="1"/>
          <p:nvPr/>
        </p:nvSpPr>
        <p:spPr>
          <a:xfrm>
            <a:off x="10839450" y="2971800"/>
            <a:ext cx="533400" cy="142875"/>
          </a:xfrm>
          <a:prstGeom prst="rect">
            <a:avLst/>
          </a:prstGeom>
          <a:noFill/>
          <a:ln/>
        </p:spPr>
        <p:txBody>
          <a:bodyPr wrap="square" lIns="0" tIns="0" rIns="0" bIns="0" rtlCol="0" anchor="ctr"/>
          <a:lstStyle/>
          <a:p>
            <a:pPr marL="0" indent="0" algn="r">
              <a:buNone/>
            </a:pPr>
            <a:r>
              <a:rPr lang="en-US" sz="750" b="1" dirty="0">
                <a:solidFill>
                  <a:srgbClr val="FFFFFF"/>
                </a:solidFill>
                <a:latin typeface="Consolas" pitchFamily="34" charset="0"/>
                <a:ea typeface="Consolas" pitchFamily="34" charset="-122"/>
                <a:cs typeface="Consolas" pitchFamily="34" charset="-120"/>
              </a:rPr>
              <a:t>0.2720</a:t>
            </a:r>
            <a:endParaRPr lang="en-US" sz="750" dirty="0"/>
          </a:p>
        </p:txBody>
      </p:sp>
      <p:sp>
        <p:nvSpPr>
          <p:cNvPr id="33" name="Text 30"/>
          <p:cNvSpPr txBox="1"/>
          <p:nvPr/>
        </p:nvSpPr>
        <p:spPr>
          <a:xfrm>
            <a:off x="7639050" y="3238500"/>
            <a:ext cx="361950" cy="142875"/>
          </a:xfrm>
          <a:prstGeom prst="rect">
            <a:avLst/>
          </a:prstGeom>
          <a:noFill/>
          <a:ln/>
        </p:spPr>
        <p:txBody>
          <a:bodyPr wrap="square" lIns="0" tIns="0" rIns="0" bIns="0" rtlCol="0" anchor="ctr"/>
          <a:lstStyle/>
          <a:p>
            <a:pPr marL="0" indent="0" algn="r">
              <a:buNone/>
            </a:pPr>
            <a:r>
              <a:rPr lang="en-US" sz="750" dirty="0">
                <a:solidFill>
                  <a:srgbClr val="9AA8BE"/>
                </a:solidFill>
                <a:latin typeface="Consolas" pitchFamily="34" charset="0"/>
                <a:ea typeface="Consolas" pitchFamily="34" charset="-122"/>
                <a:cs typeface="Consolas" pitchFamily="34" charset="-120"/>
              </a:rPr>
              <a:t>LR</a:t>
            </a:r>
            <a:endParaRPr lang="en-US" sz="750" dirty="0"/>
          </a:p>
        </p:txBody>
      </p:sp>
      <p:sp>
        <p:nvSpPr>
          <p:cNvPr id="34" name="Shape 31"/>
          <p:cNvSpPr/>
          <p:nvPr/>
        </p:nvSpPr>
        <p:spPr>
          <a:xfrm>
            <a:off x="8096250" y="3238500"/>
            <a:ext cx="2667000" cy="142875"/>
          </a:xfrm>
          <a:prstGeom prst="roundRect">
            <a:avLst>
              <a:gd name="adj" fmla="val 38400"/>
            </a:avLst>
          </a:prstGeom>
          <a:solidFill>
            <a:srgbClr val="FFFFFF">
              <a:alpha val="6000"/>
            </a:srgbClr>
          </a:solidFill>
          <a:ln/>
        </p:spPr>
      </p:sp>
      <p:sp>
        <p:nvSpPr>
          <p:cNvPr id="35" name="Shape 32"/>
          <p:cNvSpPr/>
          <p:nvPr/>
        </p:nvSpPr>
        <p:spPr>
          <a:xfrm>
            <a:off x="8096250" y="3238500"/>
            <a:ext cx="330708" cy="142875"/>
          </a:xfrm>
          <a:prstGeom prst="roundRect">
            <a:avLst>
              <a:gd name="adj" fmla="val 38400"/>
            </a:avLst>
          </a:prstGeom>
          <a:solidFill>
            <a:srgbClr val="DC2626"/>
          </a:solidFill>
          <a:ln/>
        </p:spPr>
      </p:sp>
      <p:sp>
        <p:nvSpPr>
          <p:cNvPr id="36" name="Text 33"/>
          <p:cNvSpPr txBox="1"/>
          <p:nvPr/>
        </p:nvSpPr>
        <p:spPr>
          <a:xfrm>
            <a:off x="10839450" y="3238500"/>
            <a:ext cx="533400" cy="142875"/>
          </a:xfrm>
          <a:prstGeom prst="rect">
            <a:avLst/>
          </a:prstGeom>
          <a:noFill/>
          <a:ln/>
        </p:spPr>
        <p:txBody>
          <a:bodyPr wrap="square" lIns="0" tIns="0" rIns="0" bIns="0" rtlCol="0" anchor="ctr"/>
          <a:lstStyle/>
          <a:p>
            <a:pPr marL="0" indent="0" algn="r">
              <a:buNone/>
            </a:pPr>
            <a:r>
              <a:rPr lang="en-US" sz="750" b="1" dirty="0">
                <a:solidFill>
                  <a:srgbClr val="FFFFFF"/>
                </a:solidFill>
                <a:latin typeface="Consolas" pitchFamily="34" charset="0"/>
                <a:ea typeface="Consolas" pitchFamily="34" charset="-122"/>
                <a:cs typeface="Consolas" pitchFamily="34" charset="-120"/>
              </a:rPr>
              <a:t>0.0744</a:t>
            </a:r>
            <a:endParaRPr lang="en-US" sz="750" dirty="0"/>
          </a:p>
        </p:txBody>
      </p:sp>
      <p:sp>
        <p:nvSpPr>
          <p:cNvPr id="37" name="Text 34"/>
          <p:cNvSpPr txBox="1"/>
          <p:nvPr/>
        </p:nvSpPr>
        <p:spPr>
          <a:xfrm>
            <a:off x="7639050" y="3581400"/>
            <a:ext cx="3810000" cy="114300"/>
          </a:xfrm>
          <a:prstGeom prst="rect">
            <a:avLst/>
          </a:prstGeom>
          <a:noFill/>
          <a:ln/>
        </p:spPr>
        <p:txBody>
          <a:bodyPr wrap="square" lIns="0" tIns="0" rIns="0" bIns="0" rtlCol="0" anchor="t"/>
          <a:lstStyle/>
          <a:p>
            <a:pPr marL="0" indent="0" algn="l">
              <a:buNone/>
            </a:pPr>
            <a:r>
              <a:rPr lang="en-US" sz="675" kern="0" spc="130" dirty="0">
                <a:solidFill>
                  <a:srgbClr val="9AA8BE"/>
                </a:solidFill>
                <a:latin typeface="Consolas" pitchFamily="34" charset="0"/>
                <a:ea typeface="Consolas" pitchFamily="34" charset="-122"/>
                <a:cs typeface="Consolas" pitchFamily="34" charset="-120"/>
              </a:rPr>
              <a:t>METRIC CHOICE MATTERS · PR-AUC OVER ROC-AUC</a:t>
            </a:r>
            <a:endParaRPr lang="en-US" sz="675" dirty="0"/>
          </a:p>
        </p:txBody>
      </p:sp>
      <p:sp>
        <p:nvSpPr>
          <p:cNvPr id="38" name="Shape 35"/>
          <p:cNvSpPr/>
          <p:nvPr/>
        </p:nvSpPr>
        <p:spPr>
          <a:xfrm>
            <a:off x="533400" y="4191000"/>
            <a:ext cx="3626167" cy="609600"/>
          </a:xfrm>
          <a:prstGeom prst="roundRect">
            <a:avLst>
              <a:gd name="adj" fmla="val 9000"/>
            </a:avLst>
          </a:prstGeom>
          <a:solidFill>
            <a:srgbClr val="FFFFFF">
              <a:alpha val="4000"/>
            </a:srgbClr>
          </a:solidFill>
          <a:ln w="9525">
            <a:solidFill>
              <a:srgbClr val="9AA8BE">
                <a:alpha val="16000"/>
              </a:srgbClr>
            </a:solidFill>
            <a:prstDash val="solid"/>
          </a:ln>
        </p:spPr>
      </p:sp>
      <p:sp>
        <p:nvSpPr>
          <p:cNvPr id="39" name="Shape 36"/>
          <p:cNvSpPr/>
          <p:nvPr/>
        </p:nvSpPr>
        <p:spPr>
          <a:xfrm>
            <a:off x="685800" y="433387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40" name="Text 37"/>
          <p:cNvSpPr txBox="1"/>
          <p:nvPr/>
        </p:nvSpPr>
        <p:spPr>
          <a:xfrm>
            <a:off x="685800" y="433387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41" name="Text 38"/>
          <p:cNvSpPr txBox="1"/>
          <p:nvPr/>
        </p:nvSpPr>
        <p:spPr>
          <a:xfrm>
            <a:off x="923925" y="4324350"/>
            <a:ext cx="309562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Ensemble methods (GB, Bagging, XGB)</a:t>
            </a:r>
            <a:r>
              <a:rPr lang="en-US" sz="915" dirty="0">
                <a:solidFill>
                  <a:srgbClr val="D6DEEC"/>
                </a:solidFill>
                <a:latin typeface="Calibri" pitchFamily="34" charset="0"/>
                <a:ea typeface="Calibri" pitchFamily="34" charset="-122"/>
                <a:cs typeface="Calibri" pitchFamily="34" charset="-120"/>
              </a:rPr>
              <a:t> dramatically outperform simple models — </a:t>
            </a:r>
            <a:r>
              <a:rPr lang="en-US" sz="915" b="1" dirty="0">
                <a:solidFill>
                  <a:srgbClr val="FFFFFF"/>
                </a:solidFill>
                <a:latin typeface="Calibri" pitchFamily="34" charset="0"/>
                <a:ea typeface="Calibri" pitchFamily="34" charset="-122"/>
                <a:cs typeface="Calibri" pitchFamily="34" charset="-120"/>
              </a:rPr>
              <a:t>LR is 7.8× worse</a:t>
            </a:r>
            <a:endParaRPr lang="en-US" sz="915" dirty="0"/>
          </a:p>
        </p:txBody>
      </p:sp>
      <p:sp>
        <p:nvSpPr>
          <p:cNvPr id="42" name="Shape 39"/>
          <p:cNvSpPr/>
          <p:nvPr/>
        </p:nvSpPr>
        <p:spPr>
          <a:xfrm>
            <a:off x="4283393" y="4191000"/>
            <a:ext cx="3626167" cy="609600"/>
          </a:xfrm>
          <a:prstGeom prst="roundRect">
            <a:avLst>
              <a:gd name="adj" fmla="val 9000"/>
            </a:avLst>
          </a:prstGeom>
          <a:solidFill>
            <a:srgbClr val="FFFFFF">
              <a:alpha val="4000"/>
            </a:srgbClr>
          </a:solidFill>
          <a:ln w="9525">
            <a:solidFill>
              <a:srgbClr val="9AA8BE">
                <a:alpha val="16000"/>
              </a:srgbClr>
            </a:solidFill>
            <a:prstDash val="solid"/>
          </a:ln>
        </p:spPr>
      </p:sp>
      <p:sp>
        <p:nvSpPr>
          <p:cNvPr id="43" name="Shape 40"/>
          <p:cNvSpPr/>
          <p:nvPr/>
        </p:nvSpPr>
        <p:spPr>
          <a:xfrm>
            <a:off x="4435793" y="433387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44" name="Text 41"/>
          <p:cNvSpPr txBox="1"/>
          <p:nvPr/>
        </p:nvSpPr>
        <p:spPr>
          <a:xfrm>
            <a:off x="4435793" y="433387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45" name="Text 42"/>
          <p:cNvSpPr txBox="1"/>
          <p:nvPr/>
        </p:nvSpPr>
        <p:spPr>
          <a:xfrm>
            <a:off x="4673918" y="4324350"/>
            <a:ext cx="309562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PR-AUC reveals true gaps</a:t>
            </a:r>
            <a:r>
              <a:rPr lang="en-US" sz="915" dirty="0">
                <a:solidFill>
                  <a:srgbClr val="D6DEEC"/>
                </a:solidFill>
                <a:latin typeface="Calibri" pitchFamily="34" charset="0"/>
                <a:ea typeface="Calibri" pitchFamily="34" charset="-122"/>
                <a:cs typeface="Calibri" pitchFamily="34" charset="-120"/>
              </a:rPr>
              <a:t> that ROC-AUC obscures on 0.69% prevalence</a:t>
            </a:r>
            <a:endParaRPr lang="en-US" sz="915" dirty="0"/>
          </a:p>
        </p:txBody>
      </p:sp>
      <p:sp>
        <p:nvSpPr>
          <p:cNvPr id="46" name="Shape 43"/>
          <p:cNvSpPr/>
          <p:nvPr/>
        </p:nvSpPr>
        <p:spPr>
          <a:xfrm>
            <a:off x="8033385" y="4191000"/>
            <a:ext cx="3626167" cy="609600"/>
          </a:xfrm>
          <a:prstGeom prst="roundRect">
            <a:avLst>
              <a:gd name="adj" fmla="val 9000"/>
            </a:avLst>
          </a:prstGeom>
          <a:solidFill>
            <a:srgbClr val="F5C542">
              <a:alpha val="9000"/>
            </a:srgbClr>
          </a:solidFill>
          <a:ln w="9525">
            <a:solidFill>
              <a:srgbClr val="F5C542">
                <a:alpha val="38000"/>
              </a:srgbClr>
            </a:solidFill>
            <a:prstDash val="solid"/>
          </a:ln>
        </p:spPr>
      </p:sp>
      <p:sp>
        <p:nvSpPr>
          <p:cNvPr id="47" name="Shape 44"/>
          <p:cNvSpPr/>
          <p:nvPr/>
        </p:nvSpPr>
        <p:spPr>
          <a:xfrm>
            <a:off x="8185785" y="4333875"/>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48" name="Text 45"/>
          <p:cNvSpPr txBox="1"/>
          <p:nvPr/>
        </p:nvSpPr>
        <p:spPr>
          <a:xfrm>
            <a:off x="8185785" y="4333875"/>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a:t>
            </a:r>
            <a:endParaRPr lang="en-US" sz="675" dirty="0"/>
          </a:p>
        </p:txBody>
      </p:sp>
      <p:sp>
        <p:nvSpPr>
          <p:cNvPr id="49" name="Text 46"/>
          <p:cNvSpPr txBox="1"/>
          <p:nvPr/>
        </p:nvSpPr>
        <p:spPr>
          <a:xfrm>
            <a:off x="8423910" y="4324350"/>
            <a:ext cx="309562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P@50 = 1.00 for Bagging</a:t>
            </a:r>
            <a:r>
              <a:rPr lang="en-US" sz="915" dirty="0">
                <a:solidFill>
                  <a:srgbClr val="D6DEEC"/>
                </a:solidFill>
                <a:latin typeface="Calibri" pitchFamily="34" charset="0"/>
                <a:ea typeface="Calibri" pitchFamily="34" charset="-122"/>
                <a:cs typeface="Calibri" pitchFamily="34" charset="-120"/>
              </a:rPr>
              <a:t> — zero false positives in the top-50 alert queue</a:t>
            </a:r>
            <a:endParaRPr lang="en-US" sz="91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05 — KEY RESULTS</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Production-grade accuracy on an </a:t>
            </a:r>
            <a:r>
              <a:rPr lang="en-US" sz="2475" b="1" dirty="0">
                <a:solidFill>
                  <a:srgbClr val="F5C542"/>
                </a:solidFill>
                <a:latin typeface="Arial" pitchFamily="34" charset="0"/>
                <a:ea typeface="Arial" pitchFamily="34" charset="-122"/>
                <a:cs typeface="Arial" pitchFamily="34" charset="-120"/>
              </a:rPr>
              <a:t>extremely imbalanced</a:t>
            </a:r>
            <a:r>
              <a:rPr lang="en-US" sz="2475" b="1" dirty="0">
                <a:solidFill>
                  <a:srgbClr val="FFFFFF"/>
                </a:solidFill>
                <a:latin typeface="Arial" pitchFamily="34" charset="0"/>
                <a:ea typeface="Arial" pitchFamily="34" charset="-122"/>
                <a:cs typeface="Arial" pitchFamily="34" charset="-120"/>
              </a:rPr>
              <a:t> problem</a:t>
            </a:r>
            <a:endParaRPr lang="en-US" sz="2475" dirty="0"/>
          </a:p>
        </p:txBody>
      </p:sp>
      <p:sp>
        <p:nvSpPr>
          <p:cNvPr id="4" name="Shape 2"/>
          <p:cNvSpPr/>
          <p:nvPr/>
        </p:nvSpPr>
        <p:spPr>
          <a:xfrm>
            <a:off x="533400" y="1181100"/>
            <a:ext cx="2700338" cy="990600"/>
          </a:xfrm>
          <a:prstGeom prst="roundRect">
            <a:avLst>
              <a:gd name="adj" fmla="val 5538"/>
            </a:avLst>
          </a:prstGeom>
          <a:solidFill>
            <a:srgbClr val="F5C542">
              <a:alpha val="9000"/>
            </a:srgbClr>
          </a:solidFill>
          <a:ln w="9525">
            <a:solidFill>
              <a:srgbClr val="F5C542">
                <a:alpha val="38000"/>
              </a:srgbClr>
            </a:solidFill>
            <a:prstDash val="solid"/>
          </a:ln>
        </p:spPr>
      </p:sp>
      <p:sp>
        <p:nvSpPr>
          <p:cNvPr id="5" name="Text 3"/>
          <p:cNvSpPr txBox="1"/>
          <p:nvPr/>
        </p:nvSpPr>
        <p:spPr>
          <a:xfrm>
            <a:off x="685800" y="1314450"/>
            <a:ext cx="2381250" cy="304800"/>
          </a:xfrm>
          <a:prstGeom prst="rect">
            <a:avLst/>
          </a:prstGeom>
          <a:noFill/>
          <a:ln/>
        </p:spPr>
        <p:txBody>
          <a:bodyPr wrap="square" lIns="0" tIns="0" rIns="0" bIns="0" rtlCol="0" anchor="t"/>
          <a:lstStyle/>
          <a:p>
            <a:pPr marL="0" indent="0" algn="l">
              <a:buNone/>
            </a:pPr>
            <a:r>
              <a:rPr lang="en-US" sz="2325" b="1" dirty="0">
                <a:solidFill>
                  <a:srgbClr val="F5C542"/>
                </a:solidFill>
                <a:latin typeface="Consolas" pitchFamily="34" charset="0"/>
                <a:ea typeface="Consolas" pitchFamily="34" charset="-122"/>
                <a:cs typeface="Consolas" pitchFamily="34" charset="-120"/>
              </a:rPr>
              <a:t>0.5795</a:t>
            </a:r>
            <a:endParaRPr lang="en-US" sz="2325" dirty="0"/>
          </a:p>
        </p:txBody>
      </p:sp>
      <p:sp>
        <p:nvSpPr>
          <p:cNvPr id="6" name="Text 4"/>
          <p:cNvSpPr txBox="1"/>
          <p:nvPr/>
        </p:nvSpPr>
        <p:spPr>
          <a:xfrm>
            <a:off x="685800" y="1676400"/>
            <a:ext cx="2381250" cy="114300"/>
          </a:xfrm>
          <a:prstGeom prst="rect">
            <a:avLst/>
          </a:prstGeom>
          <a:noFill/>
          <a:ln/>
        </p:spPr>
        <p:txBody>
          <a:bodyPr wrap="square" lIns="0" tIns="0" rIns="0" bIns="0" rtlCol="0" anchor="t"/>
          <a:lstStyle/>
          <a:p>
            <a:pPr marL="0" indent="0" algn="l">
              <a:buNone/>
            </a:pPr>
            <a:r>
              <a:rPr lang="en-US" sz="750" b="1" kern="0" spc="180" dirty="0">
                <a:solidFill>
                  <a:srgbClr val="9AA8BE"/>
                </a:solidFill>
                <a:latin typeface="Calibri" pitchFamily="34" charset="0"/>
                <a:ea typeface="Calibri" pitchFamily="34" charset="-122"/>
                <a:cs typeface="Calibri" pitchFamily="34" charset="-120"/>
              </a:rPr>
              <a:t>PR-AUC · BEST (GB)</a:t>
            </a:r>
            <a:endParaRPr lang="en-US" sz="750" dirty="0"/>
          </a:p>
        </p:txBody>
      </p:sp>
      <p:sp>
        <p:nvSpPr>
          <p:cNvPr id="7" name="Text 5"/>
          <p:cNvSpPr txBox="1"/>
          <p:nvPr/>
        </p:nvSpPr>
        <p:spPr>
          <a:xfrm>
            <a:off x="685800" y="1885950"/>
            <a:ext cx="2381250" cy="152400"/>
          </a:xfrm>
          <a:prstGeom prst="rect">
            <a:avLst/>
          </a:prstGeom>
          <a:noFill/>
          <a:ln/>
        </p:spPr>
        <p:txBody>
          <a:bodyPr wrap="square" lIns="0" tIns="0" rIns="0" bIns="0" rtlCol="0" anchor="t"/>
          <a:lstStyle/>
          <a:p>
            <a:pPr marL="0" indent="0" algn="l">
              <a:buNone/>
            </a:pPr>
            <a:r>
              <a:rPr lang="en-US" sz="750" dirty="0">
                <a:solidFill>
                  <a:srgbClr val="F5C542"/>
                </a:solidFill>
                <a:latin typeface="Consolas" pitchFamily="34" charset="0"/>
                <a:ea typeface="Consolas" pitchFamily="34" charset="-122"/>
                <a:cs typeface="Consolas" pitchFamily="34" charset="-120"/>
              </a:rPr>
              <a:t>80× better than random</a:t>
            </a:r>
            <a:endParaRPr lang="en-US" sz="750" dirty="0"/>
          </a:p>
        </p:txBody>
      </p:sp>
      <p:sp>
        <p:nvSpPr>
          <p:cNvPr id="8" name="Shape 6"/>
          <p:cNvSpPr/>
          <p:nvPr/>
        </p:nvSpPr>
        <p:spPr>
          <a:xfrm>
            <a:off x="3341370" y="1181100"/>
            <a:ext cx="2700338" cy="990600"/>
          </a:xfrm>
          <a:prstGeom prst="roundRect">
            <a:avLst>
              <a:gd name="adj" fmla="val 5538"/>
            </a:avLst>
          </a:prstGeom>
          <a:solidFill>
            <a:srgbClr val="0F9D91">
              <a:alpha val="10000"/>
            </a:srgbClr>
          </a:solidFill>
          <a:ln w="9525">
            <a:solidFill>
              <a:srgbClr val="0F9D91">
                <a:alpha val="38000"/>
              </a:srgbClr>
            </a:solidFill>
            <a:prstDash val="solid"/>
          </a:ln>
        </p:spPr>
      </p:sp>
      <p:sp>
        <p:nvSpPr>
          <p:cNvPr id="9" name="Text 7"/>
          <p:cNvSpPr txBox="1"/>
          <p:nvPr/>
        </p:nvSpPr>
        <p:spPr>
          <a:xfrm>
            <a:off x="3493770" y="1314450"/>
            <a:ext cx="2381250" cy="304800"/>
          </a:xfrm>
          <a:prstGeom prst="rect">
            <a:avLst/>
          </a:prstGeom>
          <a:noFill/>
          <a:ln/>
        </p:spPr>
        <p:txBody>
          <a:bodyPr wrap="square" lIns="0" tIns="0" rIns="0" bIns="0" rtlCol="0" anchor="t"/>
          <a:lstStyle/>
          <a:p>
            <a:pPr marL="0" indent="0" algn="l">
              <a:buNone/>
            </a:pPr>
            <a:r>
              <a:rPr lang="en-US" sz="2325" b="1" dirty="0">
                <a:solidFill>
                  <a:srgbClr val="2CC5B7"/>
                </a:solidFill>
                <a:latin typeface="Consolas" pitchFamily="34" charset="0"/>
                <a:ea typeface="Consolas" pitchFamily="34" charset="-122"/>
                <a:cs typeface="Consolas" pitchFamily="34" charset="-120"/>
              </a:rPr>
              <a:t>1.00</a:t>
            </a:r>
            <a:endParaRPr lang="en-US" sz="2325" dirty="0"/>
          </a:p>
        </p:txBody>
      </p:sp>
      <p:sp>
        <p:nvSpPr>
          <p:cNvPr id="10" name="Text 8"/>
          <p:cNvSpPr txBox="1"/>
          <p:nvPr/>
        </p:nvSpPr>
        <p:spPr>
          <a:xfrm>
            <a:off x="3493770" y="1676400"/>
            <a:ext cx="2381250" cy="114300"/>
          </a:xfrm>
          <a:prstGeom prst="rect">
            <a:avLst/>
          </a:prstGeom>
          <a:noFill/>
          <a:ln/>
        </p:spPr>
        <p:txBody>
          <a:bodyPr wrap="square" lIns="0" tIns="0" rIns="0" bIns="0" rtlCol="0" anchor="t"/>
          <a:lstStyle/>
          <a:p>
            <a:pPr marL="0" indent="0" algn="l">
              <a:buNone/>
            </a:pPr>
            <a:r>
              <a:rPr lang="en-US" sz="750" b="1" kern="0" spc="180" dirty="0">
                <a:solidFill>
                  <a:srgbClr val="9AA8BE"/>
                </a:solidFill>
                <a:latin typeface="Calibri" pitchFamily="34" charset="0"/>
                <a:ea typeface="Calibri" pitchFamily="34" charset="-122"/>
                <a:cs typeface="Calibri" pitchFamily="34" charset="-120"/>
              </a:rPr>
              <a:t>P@50 · BAGGING</a:t>
            </a:r>
            <a:endParaRPr lang="en-US" sz="750" dirty="0"/>
          </a:p>
        </p:txBody>
      </p:sp>
      <p:sp>
        <p:nvSpPr>
          <p:cNvPr id="11" name="Text 9"/>
          <p:cNvSpPr txBox="1"/>
          <p:nvPr/>
        </p:nvSpPr>
        <p:spPr>
          <a:xfrm>
            <a:off x="3493770" y="1885950"/>
            <a:ext cx="2381250" cy="152400"/>
          </a:xfrm>
          <a:prstGeom prst="rect">
            <a:avLst/>
          </a:prstGeom>
          <a:noFill/>
          <a:ln/>
        </p:spPr>
        <p:txBody>
          <a:bodyPr wrap="square" lIns="0" tIns="0" rIns="0" bIns="0" rtlCol="0" anchor="t"/>
          <a:lstStyle/>
          <a:p>
            <a:pPr marL="0" indent="0" algn="l">
              <a:buNone/>
            </a:pPr>
            <a:r>
              <a:rPr lang="en-US" sz="750" dirty="0">
                <a:solidFill>
                  <a:srgbClr val="2CC5B7"/>
                </a:solidFill>
                <a:latin typeface="Consolas" pitchFamily="34" charset="0"/>
                <a:ea typeface="Consolas" pitchFamily="34" charset="-122"/>
                <a:cs typeface="Consolas" pitchFamily="34" charset="-120"/>
              </a:rPr>
              <a:t>Zero false positives</a:t>
            </a:r>
            <a:endParaRPr lang="en-US" sz="750" dirty="0"/>
          </a:p>
        </p:txBody>
      </p:sp>
      <p:sp>
        <p:nvSpPr>
          <p:cNvPr id="12" name="Shape 10"/>
          <p:cNvSpPr/>
          <p:nvPr/>
        </p:nvSpPr>
        <p:spPr>
          <a:xfrm>
            <a:off x="6149340" y="1181100"/>
            <a:ext cx="2700338" cy="990600"/>
          </a:xfrm>
          <a:prstGeom prst="roundRect">
            <a:avLst>
              <a:gd name="adj" fmla="val 5538"/>
            </a:avLst>
          </a:prstGeom>
          <a:solidFill>
            <a:srgbClr val="FFFFFF">
              <a:alpha val="4000"/>
            </a:srgbClr>
          </a:solidFill>
          <a:ln w="9525">
            <a:solidFill>
              <a:srgbClr val="9AA8BE">
                <a:alpha val="16000"/>
              </a:srgbClr>
            </a:solidFill>
            <a:prstDash val="solid"/>
          </a:ln>
        </p:spPr>
      </p:sp>
      <p:sp>
        <p:nvSpPr>
          <p:cNvPr id="13" name="Text 11"/>
          <p:cNvSpPr txBox="1"/>
          <p:nvPr/>
        </p:nvSpPr>
        <p:spPr>
          <a:xfrm>
            <a:off x="6301740" y="1314450"/>
            <a:ext cx="2381250" cy="304800"/>
          </a:xfrm>
          <a:prstGeom prst="rect">
            <a:avLst/>
          </a:prstGeom>
          <a:noFill/>
          <a:ln/>
        </p:spPr>
        <p:txBody>
          <a:bodyPr wrap="square" lIns="0" tIns="0" rIns="0" bIns="0" rtlCol="0" anchor="t"/>
          <a:lstStyle/>
          <a:p>
            <a:pPr marL="0" indent="0" algn="l">
              <a:buNone/>
            </a:pPr>
            <a:r>
              <a:rPr lang="en-US" sz="2325" b="1" dirty="0">
                <a:solidFill>
                  <a:srgbClr val="7CA9FF"/>
                </a:solidFill>
                <a:latin typeface="Consolas" pitchFamily="34" charset="0"/>
                <a:ea typeface="Consolas" pitchFamily="34" charset="-122"/>
                <a:cs typeface="Consolas" pitchFamily="34" charset="-120"/>
              </a:rPr>
              <a:t>0.9910</a:t>
            </a:r>
            <a:endParaRPr lang="en-US" sz="2325" dirty="0"/>
          </a:p>
        </p:txBody>
      </p:sp>
      <p:sp>
        <p:nvSpPr>
          <p:cNvPr id="14" name="Text 12"/>
          <p:cNvSpPr txBox="1"/>
          <p:nvPr/>
        </p:nvSpPr>
        <p:spPr>
          <a:xfrm>
            <a:off x="6301740" y="1676400"/>
            <a:ext cx="2381250" cy="114300"/>
          </a:xfrm>
          <a:prstGeom prst="rect">
            <a:avLst/>
          </a:prstGeom>
          <a:noFill/>
          <a:ln/>
        </p:spPr>
        <p:txBody>
          <a:bodyPr wrap="square" lIns="0" tIns="0" rIns="0" bIns="0" rtlCol="0" anchor="t"/>
          <a:lstStyle/>
          <a:p>
            <a:pPr marL="0" indent="0" algn="l">
              <a:buNone/>
            </a:pPr>
            <a:r>
              <a:rPr lang="en-US" sz="750" b="1" kern="0" spc="180" dirty="0">
                <a:solidFill>
                  <a:srgbClr val="9AA8BE"/>
                </a:solidFill>
                <a:latin typeface="Calibri" pitchFamily="34" charset="0"/>
                <a:ea typeface="Calibri" pitchFamily="34" charset="-122"/>
                <a:cs typeface="Calibri" pitchFamily="34" charset="-120"/>
              </a:rPr>
              <a:t>ROC-AUC · BEST (XGB)</a:t>
            </a:r>
            <a:endParaRPr lang="en-US" sz="750" dirty="0"/>
          </a:p>
        </p:txBody>
      </p:sp>
      <p:sp>
        <p:nvSpPr>
          <p:cNvPr id="15" name="Text 13"/>
          <p:cNvSpPr txBox="1"/>
          <p:nvPr/>
        </p:nvSpPr>
        <p:spPr>
          <a:xfrm>
            <a:off x="6301740" y="1885950"/>
            <a:ext cx="2381250" cy="152400"/>
          </a:xfrm>
          <a:prstGeom prst="rect">
            <a:avLst/>
          </a:prstGeom>
          <a:noFill/>
          <a:ln/>
        </p:spPr>
        <p:txBody>
          <a:bodyPr wrap="square" lIns="0" tIns="0" rIns="0" bIns="0" rtlCol="0" anchor="t"/>
          <a:lstStyle/>
          <a:p>
            <a:pPr marL="0" indent="0" algn="l">
              <a:buNone/>
            </a:pPr>
            <a:r>
              <a:rPr lang="en-US" sz="750" dirty="0">
                <a:solidFill>
                  <a:srgbClr val="7CA9FF"/>
                </a:solidFill>
                <a:latin typeface="Consolas" pitchFamily="34" charset="0"/>
                <a:ea typeface="Consolas" pitchFamily="34" charset="-122"/>
                <a:cs typeface="Consolas" pitchFamily="34" charset="-120"/>
              </a:rPr>
              <a:t>Near-perfect separation</a:t>
            </a:r>
            <a:endParaRPr lang="en-US" sz="750" dirty="0"/>
          </a:p>
        </p:txBody>
      </p:sp>
      <p:sp>
        <p:nvSpPr>
          <p:cNvPr id="16" name="Shape 14"/>
          <p:cNvSpPr/>
          <p:nvPr/>
        </p:nvSpPr>
        <p:spPr>
          <a:xfrm>
            <a:off x="8957310" y="1181100"/>
            <a:ext cx="2700338" cy="990600"/>
          </a:xfrm>
          <a:prstGeom prst="roundRect">
            <a:avLst>
              <a:gd name="adj" fmla="val 5538"/>
            </a:avLst>
          </a:prstGeom>
          <a:solidFill>
            <a:srgbClr val="FFFFFF">
              <a:alpha val="4000"/>
            </a:srgbClr>
          </a:solidFill>
          <a:ln w="9525">
            <a:solidFill>
              <a:srgbClr val="9AA8BE">
                <a:alpha val="16000"/>
              </a:srgbClr>
            </a:solidFill>
            <a:prstDash val="solid"/>
          </a:ln>
        </p:spPr>
      </p:sp>
      <p:sp>
        <p:nvSpPr>
          <p:cNvPr id="17" name="Text 15"/>
          <p:cNvSpPr txBox="1"/>
          <p:nvPr/>
        </p:nvSpPr>
        <p:spPr>
          <a:xfrm>
            <a:off x="9109710" y="1314450"/>
            <a:ext cx="2381250" cy="304800"/>
          </a:xfrm>
          <a:prstGeom prst="rect">
            <a:avLst/>
          </a:prstGeom>
          <a:noFill/>
          <a:ln/>
        </p:spPr>
        <p:txBody>
          <a:bodyPr wrap="square" lIns="0" tIns="0" rIns="0" bIns="0" rtlCol="0" anchor="t"/>
          <a:lstStyle/>
          <a:p>
            <a:pPr marL="0" indent="0" algn="l">
              <a:buNone/>
            </a:pPr>
            <a:r>
              <a:rPr lang="en-US" sz="2325" b="1" dirty="0">
                <a:solidFill>
                  <a:srgbClr val="FFFFFF"/>
                </a:solidFill>
                <a:latin typeface="Consolas" pitchFamily="34" charset="0"/>
                <a:ea typeface="Consolas" pitchFamily="34" charset="-122"/>
                <a:cs typeface="Consolas" pitchFamily="34" charset="-120"/>
              </a:rPr>
              <a:t>22s</a:t>
            </a:r>
            <a:endParaRPr lang="en-US" sz="2325" dirty="0"/>
          </a:p>
        </p:txBody>
      </p:sp>
      <p:sp>
        <p:nvSpPr>
          <p:cNvPr id="18" name="Text 16"/>
          <p:cNvSpPr txBox="1"/>
          <p:nvPr/>
        </p:nvSpPr>
        <p:spPr>
          <a:xfrm>
            <a:off x="9109710" y="1676400"/>
            <a:ext cx="2381250" cy="114300"/>
          </a:xfrm>
          <a:prstGeom prst="rect">
            <a:avLst/>
          </a:prstGeom>
          <a:noFill/>
          <a:ln/>
        </p:spPr>
        <p:txBody>
          <a:bodyPr wrap="square" lIns="0" tIns="0" rIns="0" bIns="0" rtlCol="0" anchor="t"/>
          <a:lstStyle/>
          <a:p>
            <a:pPr marL="0" indent="0" algn="l">
              <a:buNone/>
            </a:pPr>
            <a:r>
              <a:rPr lang="en-US" sz="750" b="1" kern="0" spc="180" dirty="0">
                <a:solidFill>
                  <a:srgbClr val="9AA8BE"/>
                </a:solidFill>
                <a:latin typeface="Calibri" pitchFamily="34" charset="0"/>
                <a:ea typeface="Calibri" pitchFamily="34" charset="-122"/>
                <a:cs typeface="Calibri" pitchFamily="34" charset="-120"/>
              </a:rPr>
              <a:t>TRAINING · XGBOOST</a:t>
            </a:r>
            <a:endParaRPr lang="en-US" sz="750" dirty="0"/>
          </a:p>
        </p:txBody>
      </p:sp>
      <p:sp>
        <p:nvSpPr>
          <p:cNvPr id="19" name="Text 17"/>
          <p:cNvSpPr txBox="1"/>
          <p:nvPr/>
        </p:nvSpPr>
        <p:spPr>
          <a:xfrm>
            <a:off x="9109710" y="1885950"/>
            <a:ext cx="2381250" cy="152400"/>
          </a:xfrm>
          <a:prstGeom prst="rect">
            <a:avLst/>
          </a:prstGeom>
          <a:noFill/>
          <a:ln/>
        </p:spPr>
        <p:txBody>
          <a:bodyPr wrap="square" lIns="0" tIns="0" rIns="0" bIns="0" rtlCol="0" anchor="t"/>
          <a:lstStyle/>
          <a:p>
            <a:pPr marL="0" indent="0" algn="l">
              <a:buNone/>
            </a:pPr>
            <a:r>
              <a:rPr lang="en-US" sz="750" dirty="0">
                <a:solidFill>
                  <a:srgbClr val="FFFFFF"/>
                </a:solidFill>
                <a:latin typeface="Consolas" pitchFamily="34" charset="0"/>
                <a:ea typeface="Consolas" pitchFamily="34" charset="-122"/>
                <a:cs typeface="Consolas" pitchFamily="34" charset="-120"/>
              </a:rPr>
              <a:t>Real-time ready</a:t>
            </a:r>
            <a:endParaRPr lang="en-US" sz="750" dirty="0"/>
          </a:p>
        </p:txBody>
      </p:sp>
      <p:sp>
        <p:nvSpPr>
          <p:cNvPr id="20" name="Shape 18"/>
          <p:cNvSpPr/>
          <p:nvPr/>
        </p:nvSpPr>
        <p:spPr>
          <a:xfrm>
            <a:off x="533400" y="2305050"/>
            <a:ext cx="5500688" cy="2857500"/>
          </a:xfrm>
          <a:prstGeom prst="roundRect">
            <a:avLst>
              <a:gd name="adj" fmla="val 1920"/>
            </a:avLst>
          </a:prstGeom>
          <a:solidFill>
            <a:srgbClr val="FFFFFF">
              <a:alpha val="4000"/>
            </a:srgbClr>
          </a:solidFill>
          <a:ln w="9525">
            <a:solidFill>
              <a:srgbClr val="9AA8BE">
                <a:alpha val="16000"/>
              </a:srgbClr>
            </a:solidFill>
            <a:prstDash val="solid"/>
          </a:ln>
        </p:spPr>
      </p:sp>
      <p:sp>
        <p:nvSpPr>
          <p:cNvPr id="21" name="Shape 19"/>
          <p:cNvSpPr/>
          <p:nvPr/>
        </p:nvSpPr>
        <p:spPr>
          <a:xfrm>
            <a:off x="704850" y="2495550"/>
            <a:ext cx="66675" cy="66675"/>
          </a:xfrm>
          <a:prstGeom prst="ellipse">
            <a:avLst/>
          </a:prstGeom>
          <a:solidFill>
            <a:srgbClr val="2563EB"/>
          </a:solidFill>
          <a:ln/>
        </p:spPr>
      </p:sp>
      <p:sp>
        <p:nvSpPr>
          <p:cNvPr id="22" name="Text 20"/>
          <p:cNvSpPr txBox="1"/>
          <p:nvPr/>
        </p:nvSpPr>
        <p:spPr>
          <a:xfrm>
            <a:off x="857250" y="244792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ROC CURVES</a:t>
            </a:r>
            <a:endParaRPr lang="en-US" sz="975" dirty="0"/>
          </a:p>
        </p:txBody>
      </p:sp>
      <p:pic>
        <p:nvPicPr>
          <p:cNvPr id="23" name="Image 0" descr="preencoded.png"/>
          <p:cNvPicPr>
            <a:picLocks noChangeAspect="1"/>
          </p:cNvPicPr>
          <p:nvPr/>
        </p:nvPicPr>
        <p:blipFill>
          <a:blip r:embed="rId3"/>
          <a:stretch>
            <a:fillRect/>
          </a:stretch>
        </p:blipFill>
        <p:spPr>
          <a:xfrm>
            <a:off x="1104900" y="2686050"/>
            <a:ext cx="4286250" cy="2500313"/>
          </a:xfrm>
          <a:prstGeom prst="rect">
            <a:avLst/>
          </a:prstGeom>
        </p:spPr>
      </p:pic>
      <p:sp>
        <p:nvSpPr>
          <p:cNvPr id="24" name="Shape 21"/>
          <p:cNvSpPr/>
          <p:nvPr/>
        </p:nvSpPr>
        <p:spPr>
          <a:xfrm>
            <a:off x="6153150" y="2305050"/>
            <a:ext cx="5500688" cy="2857500"/>
          </a:xfrm>
          <a:prstGeom prst="roundRect">
            <a:avLst>
              <a:gd name="adj" fmla="val 1920"/>
            </a:avLst>
          </a:prstGeom>
          <a:solidFill>
            <a:srgbClr val="FFFFFF">
              <a:alpha val="4000"/>
            </a:srgbClr>
          </a:solidFill>
          <a:ln w="9525">
            <a:solidFill>
              <a:srgbClr val="9AA8BE">
                <a:alpha val="16000"/>
              </a:srgbClr>
            </a:solidFill>
            <a:prstDash val="solid"/>
          </a:ln>
        </p:spPr>
      </p:sp>
      <p:sp>
        <p:nvSpPr>
          <p:cNvPr id="25" name="Shape 22"/>
          <p:cNvSpPr/>
          <p:nvPr/>
        </p:nvSpPr>
        <p:spPr>
          <a:xfrm>
            <a:off x="6324600" y="2495550"/>
            <a:ext cx="66675" cy="66675"/>
          </a:xfrm>
          <a:prstGeom prst="ellipse">
            <a:avLst/>
          </a:prstGeom>
          <a:solidFill>
            <a:srgbClr val="0F9D91"/>
          </a:solidFill>
          <a:ln/>
        </p:spPr>
      </p:sp>
      <p:sp>
        <p:nvSpPr>
          <p:cNvPr id="26" name="Text 23"/>
          <p:cNvSpPr txBox="1"/>
          <p:nvPr/>
        </p:nvSpPr>
        <p:spPr>
          <a:xfrm>
            <a:off x="6477000" y="244792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PR CURVES — THE HONEST METRIC</a:t>
            </a:r>
            <a:endParaRPr lang="en-US" sz="975" dirty="0"/>
          </a:p>
        </p:txBody>
      </p:sp>
      <p:pic>
        <p:nvPicPr>
          <p:cNvPr id="27" name="Image 1" descr="preencoded.png"/>
          <p:cNvPicPr>
            <a:picLocks noChangeAspect="1"/>
          </p:cNvPicPr>
          <p:nvPr/>
        </p:nvPicPr>
        <p:blipFill>
          <a:blip r:embed="rId4"/>
          <a:stretch>
            <a:fillRect/>
          </a:stretch>
        </p:blipFill>
        <p:spPr>
          <a:xfrm>
            <a:off x="6724650" y="2686050"/>
            <a:ext cx="4286250" cy="2500313"/>
          </a:xfrm>
          <a:prstGeom prst="rect">
            <a:avLst/>
          </a:prstGeom>
        </p:spPr>
      </p:pic>
      <p:sp>
        <p:nvSpPr>
          <p:cNvPr id="28" name="Shape 24"/>
          <p:cNvSpPr/>
          <p:nvPr/>
        </p:nvSpPr>
        <p:spPr>
          <a:xfrm>
            <a:off x="533400" y="5295900"/>
            <a:ext cx="11125200" cy="685800"/>
          </a:xfrm>
          <a:prstGeom prst="roundRect">
            <a:avLst>
              <a:gd name="adj" fmla="val 8000"/>
            </a:avLst>
          </a:prstGeom>
          <a:solidFill>
            <a:srgbClr val="FFFFFF">
              <a:alpha val="4000"/>
            </a:srgbClr>
          </a:solidFill>
          <a:ln w="9525">
            <a:solidFill>
              <a:srgbClr val="9AA8BE">
                <a:alpha val="16000"/>
              </a:srgbClr>
            </a:solidFill>
            <a:prstDash val="solid"/>
          </a:ln>
        </p:spPr>
      </p:sp>
      <p:sp>
        <p:nvSpPr>
          <p:cNvPr id="29" name="Text 25"/>
          <p:cNvSpPr txBox="1"/>
          <p:nvPr/>
        </p:nvSpPr>
        <p:spPr>
          <a:xfrm>
            <a:off x="723900" y="5295900"/>
            <a:ext cx="1619250" cy="685800"/>
          </a:xfrm>
          <a:prstGeom prst="rect">
            <a:avLst/>
          </a:prstGeom>
          <a:noFill/>
          <a:ln/>
        </p:spPr>
        <p:txBody>
          <a:bodyPr wrap="square" lIns="0" tIns="0" rIns="0" bIns="0" rtlCol="0" anchor="ctr"/>
          <a:lstStyle/>
          <a:p>
            <a:pPr marL="0" indent="0" algn="l">
              <a:buNone/>
            </a:pPr>
            <a:r>
              <a:rPr lang="en-US" sz="750" b="1" kern="0" spc="200" dirty="0">
                <a:solidFill>
                  <a:srgbClr val="F5C542"/>
                </a:solidFill>
                <a:latin typeface="Consolas" pitchFamily="34" charset="0"/>
                <a:ea typeface="Consolas" pitchFamily="34" charset="-122"/>
                <a:cs typeface="Consolas" pitchFamily="34" charset="-120"/>
              </a:rPr>
              <a:t>WHY THIS MATTERS</a:t>
            </a:r>
            <a:endParaRPr lang="en-US" sz="750" dirty="0"/>
          </a:p>
        </p:txBody>
      </p:sp>
      <p:sp>
        <p:nvSpPr>
          <p:cNvPr id="30" name="Shape 26"/>
          <p:cNvSpPr/>
          <p:nvPr/>
        </p:nvSpPr>
        <p:spPr>
          <a:xfrm>
            <a:off x="2571750" y="5476875"/>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31" name="Text 27"/>
          <p:cNvSpPr txBox="1"/>
          <p:nvPr/>
        </p:nvSpPr>
        <p:spPr>
          <a:xfrm>
            <a:off x="2571750" y="5476875"/>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1</a:t>
            </a:r>
            <a:endParaRPr lang="en-US" sz="675" dirty="0"/>
          </a:p>
        </p:txBody>
      </p:sp>
      <p:sp>
        <p:nvSpPr>
          <p:cNvPr id="32" name="Text 28"/>
          <p:cNvSpPr txBox="1"/>
          <p:nvPr/>
        </p:nvSpPr>
        <p:spPr>
          <a:xfrm>
            <a:off x="2809875" y="5467350"/>
            <a:ext cx="2571750" cy="381000"/>
          </a:xfrm>
          <a:prstGeom prst="rect">
            <a:avLst/>
          </a:prstGeom>
          <a:noFill/>
          <a:ln/>
        </p:spPr>
        <p:txBody>
          <a:bodyPr wrap="square" lIns="0" tIns="0" rIns="0" bIns="0" rtlCol="0" anchor="t"/>
          <a:lstStyle/>
          <a:p>
            <a:pPr marL="0" indent="0" algn="l">
              <a:buNone/>
            </a:pPr>
            <a:r>
              <a:rPr lang="en-US" sz="915" dirty="0">
                <a:solidFill>
                  <a:srgbClr val="D6DEEC"/>
                </a:solidFill>
                <a:latin typeface="Calibri" pitchFamily="34" charset="0"/>
                <a:ea typeface="Calibri" pitchFamily="34" charset="-122"/>
                <a:cs typeface="Calibri" pitchFamily="34" charset="-120"/>
              </a:rPr>
              <a:t>Investigators review 50 leads daily — </a:t>
            </a:r>
            <a:r>
              <a:rPr lang="en-US" sz="915" b="1" dirty="0">
                <a:solidFill>
                  <a:srgbClr val="FFFFFF"/>
                </a:solidFill>
                <a:latin typeface="Calibri" pitchFamily="34" charset="0"/>
                <a:ea typeface="Calibri" pitchFamily="34" charset="-122"/>
                <a:cs typeface="Calibri" pitchFamily="34" charset="-120"/>
              </a:rPr>
              <a:t>all 50 are real mule accounts</a:t>
            </a:r>
            <a:endParaRPr lang="en-US" sz="915" dirty="0"/>
          </a:p>
        </p:txBody>
      </p:sp>
      <p:sp>
        <p:nvSpPr>
          <p:cNvPr id="33" name="Shape 29"/>
          <p:cNvSpPr/>
          <p:nvPr/>
        </p:nvSpPr>
        <p:spPr>
          <a:xfrm>
            <a:off x="5572125" y="5476875"/>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34" name="Text 30"/>
          <p:cNvSpPr txBox="1"/>
          <p:nvPr/>
        </p:nvSpPr>
        <p:spPr>
          <a:xfrm>
            <a:off x="5572125" y="5476875"/>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2</a:t>
            </a:r>
            <a:endParaRPr lang="en-US" sz="675" dirty="0"/>
          </a:p>
        </p:txBody>
      </p:sp>
      <p:sp>
        <p:nvSpPr>
          <p:cNvPr id="35" name="Text 31"/>
          <p:cNvSpPr txBox="1"/>
          <p:nvPr/>
        </p:nvSpPr>
        <p:spPr>
          <a:xfrm>
            <a:off x="5810250" y="5467350"/>
            <a:ext cx="2571750" cy="381000"/>
          </a:xfrm>
          <a:prstGeom prst="rect">
            <a:avLst/>
          </a:prstGeom>
          <a:noFill/>
          <a:ln/>
        </p:spPr>
        <p:txBody>
          <a:bodyPr wrap="square" lIns="0" tIns="0" rIns="0" bIns="0" rtlCol="0" anchor="t"/>
          <a:lstStyle/>
          <a:p>
            <a:pPr marL="0" indent="0" algn="l">
              <a:buNone/>
            </a:pPr>
            <a:r>
              <a:rPr lang="en-US" sz="915" dirty="0">
                <a:solidFill>
                  <a:srgbClr val="D6DEEC"/>
                </a:solidFill>
                <a:latin typeface="Calibri" pitchFamily="34" charset="0"/>
                <a:ea typeface="Calibri" pitchFamily="34" charset="-122"/>
                <a:cs typeface="Calibri" pitchFamily="34" charset="-120"/>
              </a:rPr>
              <a:t>XGBoost at </a:t>
            </a:r>
            <a:r>
              <a:rPr lang="en-US" sz="915" b="1" dirty="0">
                <a:solidFill>
                  <a:srgbClr val="FFFFFF"/>
                </a:solidFill>
                <a:latin typeface="Calibri" pitchFamily="34" charset="0"/>
                <a:ea typeface="Calibri" pitchFamily="34" charset="-122"/>
                <a:cs typeface="Calibri" pitchFamily="34" charset="-120"/>
              </a:rPr>
              <a:t>22s</a:t>
            </a:r>
            <a:r>
              <a:rPr lang="en-US" sz="915" dirty="0">
                <a:solidFill>
                  <a:srgbClr val="D6DEEC"/>
                </a:solidFill>
                <a:latin typeface="Calibri" pitchFamily="34" charset="0"/>
                <a:ea typeface="Calibri" pitchFamily="34" charset="-122"/>
                <a:cs typeface="Calibri" pitchFamily="34" charset="-120"/>
              </a:rPr>
              <a:t> enables scoring of live transactions</a:t>
            </a:r>
            <a:endParaRPr lang="en-US" sz="915" dirty="0"/>
          </a:p>
        </p:txBody>
      </p:sp>
      <p:sp>
        <p:nvSpPr>
          <p:cNvPr id="36" name="Shape 32"/>
          <p:cNvSpPr/>
          <p:nvPr/>
        </p:nvSpPr>
        <p:spPr>
          <a:xfrm>
            <a:off x="8572500" y="5476875"/>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37" name="Text 33"/>
          <p:cNvSpPr txBox="1"/>
          <p:nvPr/>
        </p:nvSpPr>
        <p:spPr>
          <a:xfrm>
            <a:off x="8572500" y="5476875"/>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3</a:t>
            </a:r>
            <a:endParaRPr lang="en-US" sz="675" dirty="0"/>
          </a:p>
        </p:txBody>
      </p:sp>
      <p:sp>
        <p:nvSpPr>
          <p:cNvPr id="38" name="Text 34"/>
          <p:cNvSpPr txBox="1"/>
          <p:nvPr/>
        </p:nvSpPr>
        <p:spPr>
          <a:xfrm>
            <a:off x="8810625" y="5467350"/>
            <a:ext cx="2571750" cy="381000"/>
          </a:xfrm>
          <a:prstGeom prst="rect">
            <a:avLst/>
          </a:prstGeom>
          <a:noFill/>
          <a:ln/>
        </p:spPr>
        <p:txBody>
          <a:bodyPr wrap="square" lIns="0" tIns="0" rIns="0" bIns="0" rtlCol="0" anchor="t"/>
          <a:lstStyle/>
          <a:p>
            <a:pPr marL="0" indent="0" algn="l">
              <a:buNone/>
            </a:pPr>
            <a:r>
              <a:rPr lang="en-US" sz="915" dirty="0">
                <a:solidFill>
                  <a:srgbClr val="D6DEEC"/>
                </a:solidFill>
                <a:latin typeface="Calibri" pitchFamily="34" charset="0"/>
                <a:ea typeface="Calibri" pitchFamily="34" charset="-122"/>
                <a:cs typeface="Calibri" pitchFamily="34" charset="-120"/>
              </a:rPr>
              <a:t>PR-AUC 0.58 vs 0.007 random = </a:t>
            </a:r>
            <a:r>
              <a:rPr lang="en-US" sz="915" b="1" dirty="0">
                <a:solidFill>
                  <a:srgbClr val="FFFFFF"/>
                </a:solidFill>
                <a:latin typeface="Calibri" pitchFamily="34" charset="0"/>
                <a:ea typeface="Calibri" pitchFamily="34" charset="-122"/>
                <a:cs typeface="Calibri" pitchFamily="34" charset="-120"/>
              </a:rPr>
              <a:t>80× lift</a:t>
            </a:r>
            <a:r>
              <a:rPr lang="en-US" sz="915" dirty="0">
                <a:solidFill>
                  <a:srgbClr val="D6DEEC"/>
                </a:solidFill>
                <a:latin typeface="Calibri" pitchFamily="34" charset="0"/>
                <a:ea typeface="Calibri" pitchFamily="34" charset="-122"/>
                <a:cs typeface="Calibri" pitchFamily="34" charset="-120"/>
              </a:rPr>
              <a:t> under 0.69% prevalence</a:t>
            </a:r>
            <a:endParaRPr lang="en-US" sz="91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06 — EXPLAINABLE AI</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Every risk score ships with </a:t>
            </a:r>
            <a:r>
              <a:rPr lang="en-US" sz="2475" b="1" dirty="0">
                <a:solidFill>
                  <a:srgbClr val="F5C542"/>
                </a:solidFill>
                <a:latin typeface="Arial" pitchFamily="34" charset="0"/>
                <a:ea typeface="Arial" pitchFamily="34" charset="-122"/>
                <a:cs typeface="Arial" pitchFamily="34" charset="-120"/>
              </a:rPr>
              <a:t>human-readable reason codes</a:t>
            </a:r>
            <a:endParaRPr lang="en-US" sz="2475" dirty="0"/>
          </a:p>
        </p:txBody>
      </p:sp>
      <p:sp>
        <p:nvSpPr>
          <p:cNvPr id="4" name="Shape 2"/>
          <p:cNvSpPr/>
          <p:nvPr/>
        </p:nvSpPr>
        <p:spPr>
          <a:xfrm>
            <a:off x="533400" y="1181100"/>
            <a:ext cx="5800725" cy="3771900"/>
          </a:xfrm>
          <a:prstGeom prst="roundRect">
            <a:avLst>
              <a:gd name="adj" fmla="val 1455"/>
            </a:avLst>
          </a:prstGeom>
          <a:solidFill>
            <a:srgbClr val="FFFFFF">
              <a:alpha val="4000"/>
            </a:srgbClr>
          </a:solidFill>
          <a:ln w="9525">
            <a:solidFill>
              <a:srgbClr val="9AA8BE">
                <a:alpha val="16000"/>
              </a:srgbClr>
            </a:solidFill>
            <a:prstDash val="solid"/>
          </a:ln>
        </p:spPr>
      </p:sp>
      <p:sp>
        <p:nvSpPr>
          <p:cNvPr id="5" name="Shape 3"/>
          <p:cNvSpPr/>
          <p:nvPr/>
        </p:nvSpPr>
        <p:spPr>
          <a:xfrm>
            <a:off x="704850" y="1371600"/>
            <a:ext cx="66675" cy="66675"/>
          </a:xfrm>
          <a:prstGeom prst="ellipse">
            <a:avLst/>
          </a:prstGeom>
          <a:solidFill>
            <a:srgbClr val="F5C542"/>
          </a:solidFill>
          <a:ln/>
        </p:spPr>
      </p:sp>
      <p:sp>
        <p:nvSpPr>
          <p:cNvPr id="6" name="Text 4"/>
          <p:cNvSpPr txBox="1"/>
          <p:nvPr/>
        </p:nvSpPr>
        <p:spPr>
          <a:xfrm>
            <a:off x="857250" y="13239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SHAP FEATURE IMPACT — TOP DRIVERS</a:t>
            </a:r>
            <a:endParaRPr lang="en-US" sz="975" dirty="0"/>
          </a:p>
        </p:txBody>
      </p:sp>
      <p:sp>
        <p:nvSpPr>
          <p:cNvPr id="7" name="Text 5"/>
          <p:cNvSpPr txBox="1"/>
          <p:nvPr/>
        </p:nvSpPr>
        <p:spPr>
          <a:xfrm>
            <a:off x="723900" y="1676400"/>
            <a:ext cx="1504950" cy="161925"/>
          </a:xfrm>
          <a:prstGeom prst="rect">
            <a:avLst/>
          </a:prstGeom>
          <a:noFill/>
          <a:ln/>
        </p:spPr>
        <p:txBody>
          <a:bodyPr wrap="square" lIns="0" tIns="0" rIns="0" bIns="0" rtlCol="0" anchor="ctr"/>
          <a:lstStyle/>
          <a:p>
            <a:pPr marL="0" indent="0" algn="r">
              <a:buNone/>
            </a:pPr>
            <a:r>
              <a:rPr lang="en-US" sz="788" dirty="0">
                <a:solidFill>
                  <a:srgbClr val="D2DBEA"/>
                </a:solidFill>
                <a:latin typeface="Consolas" pitchFamily="34" charset="0"/>
                <a:ea typeface="Consolas" pitchFamily="34" charset="-122"/>
                <a:cs typeface="Consolas" pitchFamily="34" charset="-120"/>
              </a:rPr>
              <a:t>fan_in_score</a:t>
            </a:r>
            <a:endParaRPr lang="en-US" sz="788" dirty="0"/>
          </a:p>
        </p:txBody>
      </p:sp>
      <p:sp>
        <p:nvSpPr>
          <p:cNvPr id="8" name="Shape 6"/>
          <p:cNvSpPr/>
          <p:nvPr/>
        </p:nvSpPr>
        <p:spPr>
          <a:xfrm>
            <a:off x="3371850" y="1638300"/>
            <a:ext cx="0" cy="238125"/>
          </a:xfrm>
          <a:prstGeom prst="line">
            <a:avLst/>
          </a:prstGeom>
          <a:noFill/>
          <a:ln w="6350">
            <a:solidFill>
              <a:srgbClr val="9AA8BE">
                <a:alpha val="40000"/>
              </a:srgbClr>
            </a:solidFill>
            <a:prstDash val="solid"/>
          </a:ln>
        </p:spPr>
      </p:sp>
      <p:sp>
        <p:nvSpPr>
          <p:cNvPr id="9" name="Shape 7"/>
          <p:cNvSpPr/>
          <p:nvPr/>
        </p:nvSpPr>
        <p:spPr>
          <a:xfrm>
            <a:off x="3371850" y="1676400"/>
            <a:ext cx="1485900" cy="161925"/>
          </a:xfrm>
          <a:prstGeom prst="roundRect">
            <a:avLst>
              <a:gd name="adj" fmla="val 33882"/>
            </a:avLst>
          </a:prstGeom>
          <a:solidFill>
            <a:srgbClr val="F87171">
              <a:alpha val="90000"/>
            </a:srgbClr>
          </a:solidFill>
          <a:ln/>
        </p:spPr>
      </p:sp>
      <p:sp>
        <p:nvSpPr>
          <p:cNvPr id="10" name="Text 8"/>
          <p:cNvSpPr txBox="1"/>
          <p:nvPr/>
        </p:nvSpPr>
        <p:spPr>
          <a:xfrm>
            <a:off x="5448300" y="1676400"/>
            <a:ext cx="495300" cy="161925"/>
          </a:xfrm>
          <a:prstGeom prst="rect">
            <a:avLst/>
          </a:prstGeom>
          <a:noFill/>
          <a:ln/>
        </p:spPr>
        <p:txBody>
          <a:bodyPr wrap="square" lIns="0" tIns="0" rIns="0" bIns="0" rtlCol="0" anchor="ctr"/>
          <a:lstStyle/>
          <a:p>
            <a:pPr marL="0" indent="0" algn="l">
              <a:buNone/>
            </a:pPr>
            <a:r>
              <a:rPr lang="en-US" sz="788" b="1" dirty="0">
                <a:solidFill>
                  <a:srgbClr val="F87171"/>
                </a:solidFill>
                <a:latin typeface="Consolas" pitchFamily="34" charset="0"/>
                <a:ea typeface="Consolas" pitchFamily="34" charset="-122"/>
                <a:cs typeface="Consolas" pitchFamily="34" charset="-120"/>
              </a:rPr>
              <a:t>+2.41</a:t>
            </a:r>
            <a:endParaRPr lang="en-US" sz="788" dirty="0"/>
          </a:p>
        </p:txBody>
      </p:sp>
      <p:sp>
        <p:nvSpPr>
          <p:cNvPr id="11" name="Text 9"/>
          <p:cNvSpPr txBox="1"/>
          <p:nvPr/>
        </p:nvSpPr>
        <p:spPr>
          <a:xfrm>
            <a:off x="723900" y="1952625"/>
            <a:ext cx="1504950" cy="161925"/>
          </a:xfrm>
          <a:prstGeom prst="rect">
            <a:avLst/>
          </a:prstGeom>
          <a:noFill/>
          <a:ln/>
        </p:spPr>
        <p:txBody>
          <a:bodyPr wrap="square" lIns="0" tIns="0" rIns="0" bIns="0" rtlCol="0" anchor="ctr"/>
          <a:lstStyle/>
          <a:p>
            <a:pPr marL="0" indent="0" algn="r">
              <a:buNone/>
            </a:pPr>
            <a:r>
              <a:rPr lang="en-US" sz="788" dirty="0">
                <a:solidFill>
                  <a:srgbClr val="D2DBEA"/>
                </a:solidFill>
                <a:latin typeface="Consolas" pitchFamily="34" charset="0"/>
                <a:ea typeface="Consolas" pitchFamily="34" charset="-122"/>
                <a:cs typeface="Consolas" pitchFamily="34" charset="-120"/>
              </a:rPr>
              <a:t>pass_through_ratio</a:t>
            </a:r>
            <a:endParaRPr lang="en-US" sz="788" dirty="0"/>
          </a:p>
        </p:txBody>
      </p:sp>
      <p:sp>
        <p:nvSpPr>
          <p:cNvPr id="12" name="Shape 10"/>
          <p:cNvSpPr/>
          <p:nvPr/>
        </p:nvSpPr>
        <p:spPr>
          <a:xfrm>
            <a:off x="3371850" y="1914525"/>
            <a:ext cx="0" cy="238125"/>
          </a:xfrm>
          <a:prstGeom prst="line">
            <a:avLst/>
          </a:prstGeom>
          <a:noFill/>
          <a:ln w="6350">
            <a:solidFill>
              <a:srgbClr val="9AA8BE">
                <a:alpha val="40000"/>
              </a:srgbClr>
            </a:solidFill>
            <a:prstDash val="solid"/>
          </a:ln>
        </p:spPr>
      </p:sp>
      <p:sp>
        <p:nvSpPr>
          <p:cNvPr id="13" name="Shape 11"/>
          <p:cNvSpPr/>
          <p:nvPr/>
        </p:nvSpPr>
        <p:spPr>
          <a:xfrm>
            <a:off x="3371850" y="1952625"/>
            <a:ext cx="1143000" cy="161925"/>
          </a:xfrm>
          <a:prstGeom prst="roundRect">
            <a:avLst>
              <a:gd name="adj" fmla="val 33882"/>
            </a:avLst>
          </a:prstGeom>
          <a:solidFill>
            <a:srgbClr val="F87171">
              <a:alpha val="90000"/>
            </a:srgbClr>
          </a:solidFill>
          <a:ln/>
        </p:spPr>
      </p:sp>
      <p:sp>
        <p:nvSpPr>
          <p:cNvPr id="14" name="Text 12"/>
          <p:cNvSpPr txBox="1"/>
          <p:nvPr/>
        </p:nvSpPr>
        <p:spPr>
          <a:xfrm>
            <a:off x="5448300" y="1952625"/>
            <a:ext cx="495300" cy="161925"/>
          </a:xfrm>
          <a:prstGeom prst="rect">
            <a:avLst/>
          </a:prstGeom>
          <a:noFill/>
          <a:ln/>
        </p:spPr>
        <p:txBody>
          <a:bodyPr wrap="square" lIns="0" tIns="0" rIns="0" bIns="0" rtlCol="0" anchor="ctr"/>
          <a:lstStyle/>
          <a:p>
            <a:pPr marL="0" indent="0" algn="l">
              <a:buNone/>
            </a:pPr>
            <a:r>
              <a:rPr lang="en-US" sz="788" b="1" dirty="0">
                <a:solidFill>
                  <a:srgbClr val="F87171"/>
                </a:solidFill>
                <a:latin typeface="Consolas" pitchFamily="34" charset="0"/>
                <a:ea typeface="Consolas" pitchFamily="34" charset="-122"/>
                <a:cs typeface="Consolas" pitchFamily="34" charset="-120"/>
              </a:rPr>
              <a:t>+1.87</a:t>
            </a:r>
            <a:endParaRPr lang="en-US" sz="788" dirty="0"/>
          </a:p>
        </p:txBody>
      </p:sp>
      <p:sp>
        <p:nvSpPr>
          <p:cNvPr id="15" name="Text 13"/>
          <p:cNvSpPr txBox="1"/>
          <p:nvPr/>
        </p:nvSpPr>
        <p:spPr>
          <a:xfrm>
            <a:off x="723900" y="2228850"/>
            <a:ext cx="1504950" cy="161925"/>
          </a:xfrm>
          <a:prstGeom prst="rect">
            <a:avLst/>
          </a:prstGeom>
          <a:noFill/>
          <a:ln/>
        </p:spPr>
        <p:txBody>
          <a:bodyPr wrap="square" lIns="0" tIns="0" rIns="0" bIns="0" rtlCol="0" anchor="ctr"/>
          <a:lstStyle/>
          <a:p>
            <a:pPr marL="0" indent="0" algn="r">
              <a:buNone/>
            </a:pPr>
            <a:r>
              <a:rPr lang="en-US" sz="788" dirty="0">
                <a:solidFill>
                  <a:srgbClr val="D2DBEA"/>
                </a:solidFill>
                <a:latin typeface="Consolas" pitchFamily="34" charset="0"/>
                <a:ea typeface="Consolas" pitchFamily="34" charset="-122"/>
                <a:cs typeface="Consolas" pitchFamily="34" charset="-120"/>
              </a:rPr>
              <a:t>peak_hour_burst</a:t>
            </a:r>
            <a:endParaRPr lang="en-US" sz="788" dirty="0"/>
          </a:p>
        </p:txBody>
      </p:sp>
      <p:sp>
        <p:nvSpPr>
          <p:cNvPr id="16" name="Shape 14"/>
          <p:cNvSpPr/>
          <p:nvPr/>
        </p:nvSpPr>
        <p:spPr>
          <a:xfrm>
            <a:off x="3371850" y="2190750"/>
            <a:ext cx="0" cy="238125"/>
          </a:xfrm>
          <a:prstGeom prst="line">
            <a:avLst/>
          </a:prstGeom>
          <a:noFill/>
          <a:ln w="6350">
            <a:solidFill>
              <a:srgbClr val="9AA8BE">
                <a:alpha val="40000"/>
              </a:srgbClr>
            </a:solidFill>
            <a:prstDash val="solid"/>
          </a:ln>
        </p:spPr>
      </p:sp>
      <p:sp>
        <p:nvSpPr>
          <p:cNvPr id="17" name="Shape 15"/>
          <p:cNvSpPr/>
          <p:nvPr/>
        </p:nvSpPr>
        <p:spPr>
          <a:xfrm>
            <a:off x="3371850" y="2228850"/>
            <a:ext cx="685800" cy="161925"/>
          </a:xfrm>
          <a:prstGeom prst="roundRect">
            <a:avLst>
              <a:gd name="adj" fmla="val 33882"/>
            </a:avLst>
          </a:prstGeom>
          <a:solidFill>
            <a:srgbClr val="F87171">
              <a:alpha val="90000"/>
            </a:srgbClr>
          </a:solidFill>
          <a:ln/>
        </p:spPr>
      </p:sp>
      <p:sp>
        <p:nvSpPr>
          <p:cNvPr id="18" name="Text 16"/>
          <p:cNvSpPr txBox="1"/>
          <p:nvPr/>
        </p:nvSpPr>
        <p:spPr>
          <a:xfrm>
            <a:off x="5448300" y="2228850"/>
            <a:ext cx="495300" cy="161925"/>
          </a:xfrm>
          <a:prstGeom prst="rect">
            <a:avLst/>
          </a:prstGeom>
          <a:noFill/>
          <a:ln/>
        </p:spPr>
        <p:txBody>
          <a:bodyPr wrap="square" lIns="0" tIns="0" rIns="0" bIns="0" rtlCol="0" anchor="ctr"/>
          <a:lstStyle/>
          <a:p>
            <a:pPr marL="0" indent="0" algn="l">
              <a:buNone/>
            </a:pPr>
            <a:r>
              <a:rPr lang="en-US" sz="788" b="1" dirty="0">
                <a:solidFill>
                  <a:srgbClr val="F87171"/>
                </a:solidFill>
                <a:latin typeface="Consolas" pitchFamily="34" charset="0"/>
                <a:ea typeface="Consolas" pitchFamily="34" charset="-122"/>
                <a:cs typeface="Consolas" pitchFamily="34" charset="-120"/>
              </a:rPr>
              <a:t>+1.12</a:t>
            </a:r>
            <a:endParaRPr lang="en-US" sz="788" dirty="0"/>
          </a:p>
        </p:txBody>
      </p:sp>
      <p:sp>
        <p:nvSpPr>
          <p:cNvPr id="19" name="Text 17"/>
          <p:cNvSpPr txBox="1"/>
          <p:nvPr/>
        </p:nvSpPr>
        <p:spPr>
          <a:xfrm>
            <a:off x="723900" y="2505075"/>
            <a:ext cx="1504950" cy="161925"/>
          </a:xfrm>
          <a:prstGeom prst="rect">
            <a:avLst/>
          </a:prstGeom>
          <a:noFill/>
          <a:ln/>
        </p:spPr>
        <p:txBody>
          <a:bodyPr wrap="square" lIns="0" tIns="0" rIns="0" bIns="0" rtlCol="0" anchor="ctr"/>
          <a:lstStyle/>
          <a:p>
            <a:pPr marL="0" indent="0" algn="r">
              <a:buNone/>
            </a:pPr>
            <a:r>
              <a:rPr lang="en-US" sz="788" dirty="0">
                <a:solidFill>
                  <a:srgbClr val="D2DBEA"/>
                </a:solidFill>
                <a:latin typeface="Consolas" pitchFamily="34" charset="0"/>
                <a:ea typeface="Consolas" pitchFamily="34" charset="-122"/>
                <a:cs typeface="Consolas" pitchFamily="34" charset="-120"/>
              </a:rPr>
              <a:t>structuring_ratio</a:t>
            </a:r>
            <a:endParaRPr lang="en-US" sz="788" dirty="0"/>
          </a:p>
        </p:txBody>
      </p:sp>
      <p:sp>
        <p:nvSpPr>
          <p:cNvPr id="20" name="Shape 18"/>
          <p:cNvSpPr/>
          <p:nvPr/>
        </p:nvSpPr>
        <p:spPr>
          <a:xfrm>
            <a:off x="3371850" y="2466975"/>
            <a:ext cx="0" cy="238125"/>
          </a:xfrm>
          <a:prstGeom prst="line">
            <a:avLst/>
          </a:prstGeom>
          <a:noFill/>
          <a:ln w="6350">
            <a:solidFill>
              <a:srgbClr val="9AA8BE">
                <a:alpha val="40000"/>
              </a:srgbClr>
            </a:solidFill>
            <a:prstDash val="solid"/>
          </a:ln>
        </p:spPr>
      </p:sp>
      <p:sp>
        <p:nvSpPr>
          <p:cNvPr id="21" name="Shape 19"/>
          <p:cNvSpPr/>
          <p:nvPr/>
        </p:nvSpPr>
        <p:spPr>
          <a:xfrm>
            <a:off x="3371850" y="2505075"/>
            <a:ext cx="571500" cy="161925"/>
          </a:xfrm>
          <a:prstGeom prst="roundRect">
            <a:avLst>
              <a:gd name="adj" fmla="val 33882"/>
            </a:avLst>
          </a:prstGeom>
          <a:solidFill>
            <a:srgbClr val="F87171">
              <a:alpha val="90000"/>
            </a:srgbClr>
          </a:solidFill>
          <a:ln/>
        </p:spPr>
      </p:sp>
      <p:sp>
        <p:nvSpPr>
          <p:cNvPr id="22" name="Text 20"/>
          <p:cNvSpPr txBox="1"/>
          <p:nvPr/>
        </p:nvSpPr>
        <p:spPr>
          <a:xfrm>
            <a:off x="5448300" y="2505075"/>
            <a:ext cx="495300" cy="161925"/>
          </a:xfrm>
          <a:prstGeom prst="rect">
            <a:avLst/>
          </a:prstGeom>
          <a:noFill/>
          <a:ln/>
        </p:spPr>
        <p:txBody>
          <a:bodyPr wrap="square" lIns="0" tIns="0" rIns="0" bIns="0" rtlCol="0" anchor="ctr"/>
          <a:lstStyle/>
          <a:p>
            <a:pPr marL="0" indent="0" algn="l">
              <a:buNone/>
            </a:pPr>
            <a:r>
              <a:rPr lang="en-US" sz="788" b="1" dirty="0">
                <a:solidFill>
                  <a:srgbClr val="F87171"/>
                </a:solidFill>
                <a:latin typeface="Consolas" pitchFamily="34" charset="0"/>
                <a:ea typeface="Consolas" pitchFamily="34" charset="-122"/>
                <a:cs typeface="Consolas" pitchFamily="34" charset="-120"/>
              </a:rPr>
              <a:t>+0.94</a:t>
            </a:r>
            <a:endParaRPr lang="en-US" sz="788" dirty="0"/>
          </a:p>
        </p:txBody>
      </p:sp>
      <p:sp>
        <p:nvSpPr>
          <p:cNvPr id="23" name="Text 21"/>
          <p:cNvSpPr txBox="1"/>
          <p:nvPr/>
        </p:nvSpPr>
        <p:spPr>
          <a:xfrm>
            <a:off x="723900" y="2781300"/>
            <a:ext cx="1504950" cy="161925"/>
          </a:xfrm>
          <a:prstGeom prst="rect">
            <a:avLst/>
          </a:prstGeom>
          <a:noFill/>
          <a:ln/>
        </p:spPr>
        <p:txBody>
          <a:bodyPr wrap="square" lIns="0" tIns="0" rIns="0" bIns="0" rtlCol="0" anchor="ctr"/>
          <a:lstStyle/>
          <a:p>
            <a:pPr marL="0" indent="0" algn="r">
              <a:buNone/>
            </a:pPr>
            <a:r>
              <a:rPr lang="en-US" sz="788" dirty="0">
                <a:solidFill>
                  <a:srgbClr val="D2DBEA"/>
                </a:solidFill>
                <a:latin typeface="Consolas" pitchFamily="34" charset="0"/>
                <a:ea typeface="Consolas" pitchFamily="34" charset="-122"/>
                <a:cs typeface="Consolas" pitchFamily="34" charset="-120"/>
              </a:rPr>
              <a:t>dist_to_bad_acct</a:t>
            </a:r>
            <a:endParaRPr lang="en-US" sz="788" dirty="0"/>
          </a:p>
        </p:txBody>
      </p:sp>
      <p:sp>
        <p:nvSpPr>
          <p:cNvPr id="24" name="Shape 22"/>
          <p:cNvSpPr/>
          <p:nvPr/>
        </p:nvSpPr>
        <p:spPr>
          <a:xfrm>
            <a:off x="3371850" y="2743200"/>
            <a:ext cx="0" cy="238125"/>
          </a:xfrm>
          <a:prstGeom prst="line">
            <a:avLst/>
          </a:prstGeom>
          <a:noFill/>
          <a:ln w="6350">
            <a:solidFill>
              <a:srgbClr val="9AA8BE">
                <a:alpha val="40000"/>
              </a:srgbClr>
            </a:solidFill>
            <a:prstDash val="solid"/>
          </a:ln>
        </p:spPr>
      </p:sp>
      <p:sp>
        <p:nvSpPr>
          <p:cNvPr id="25" name="Shape 23"/>
          <p:cNvSpPr/>
          <p:nvPr/>
        </p:nvSpPr>
        <p:spPr>
          <a:xfrm>
            <a:off x="3371850" y="2781300"/>
            <a:ext cx="485775" cy="161925"/>
          </a:xfrm>
          <a:prstGeom prst="roundRect">
            <a:avLst>
              <a:gd name="adj" fmla="val 33882"/>
            </a:avLst>
          </a:prstGeom>
          <a:solidFill>
            <a:srgbClr val="F87171">
              <a:alpha val="90000"/>
            </a:srgbClr>
          </a:solidFill>
          <a:ln/>
        </p:spPr>
      </p:sp>
      <p:sp>
        <p:nvSpPr>
          <p:cNvPr id="26" name="Text 24"/>
          <p:cNvSpPr txBox="1"/>
          <p:nvPr/>
        </p:nvSpPr>
        <p:spPr>
          <a:xfrm>
            <a:off x="5448300" y="2781300"/>
            <a:ext cx="495300" cy="161925"/>
          </a:xfrm>
          <a:prstGeom prst="rect">
            <a:avLst/>
          </a:prstGeom>
          <a:noFill/>
          <a:ln/>
        </p:spPr>
        <p:txBody>
          <a:bodyPr wrap="square" lIns="0" tIns="0" rIns="0" bIns="0" rtlCol="0" anchor="ctr"/>
          <a:lstStyle/>
          <a:p>
            <a:pPr marL="0" indent="0" algn="l">
              <a:buNone/>
            </a:pPr>
            <a:r>
              <a:rPr lang="en-US" sz="788" b="1" dirty="0">
                <a:solidFill>
                  <a:srgbClr val="F87171"/>
                </a:solidFill>
                <a:latin typeface="Consolas" pitchFamily="34" charset="0"/>
                <a:ea typeface="Consolas" pitchFamily="34" charset="-122"/>
                <a:cs typeface="Consolas" pitchFamily="34" charset="-120"/>
              </a:rPr>
              <a:t>+0.81</a:t>
            </a:r>
            <a:endParaRPr lang="en-US" sz="788" dirty="0"/>
          </a:p>
        </p:txBody>
      </p:sp>
      <p:sp>
        <p:nvSpPr>
          <p:cNvPr id="27" name="Text 25"/>
          <p:cNvSpPr txBox="1"/>
          <p:nvPr/>
        </p:nvSpPr>
        <p:spPr>
          <a:xfrm>
            <a:off x="723900" y="3057525"/>
            <a:ext cx="1504950" cy="161925"/>
          </a:xfrm>
          <a:prstGeom prst="rect">
            <a:avLst/>
          </a:prstGeom>
          <a:noFill/>
          <a:ln/>
        </p:spPr>
        <p:txBody>
          <a:bodyPr wrap="square" lIns="0" tIns="0" rIns="0" bIns="0" rtlCol="0" anchor="ctr"/>
          <a:lstStyle/>
          <a:p>
            <a:pPr marL="0" indent="0" algn="r">
              <a:buNone/>
            </a:pPr>
            <a:r>
              <a:rPr lang="en-US" sz="788" dirty="0">
                <a:solidFill>
                  <a:srgbClr val="D2DBEA"/>
                </a:solidFill>
                <a:latin typeface="Consolas" pitchFamily="34" charset="0"/>
                <a:ea typeface="Consolas" pitchFamily="34" charset="-122"/>
                <a:cs typeface="Consolas" pitchFamily="34" charset="-120"/>
              </a:rPr>
              <a:t>graph_pagerank</a:t>
            </a:r>
            <a:endParaRPr lang="en-US" sz="788" dirty="0"/>
          </a:p>
        </p:txBody>
      </p:sp>
      <p:sp>
        <p:nvSpPr>
          <p:cNvPr id="28" name="Shape 26"/>
          <p:cNvSpPr/>
          <p:nvPr/>
        </p:nvSpPr>
        <p:spPr>
          <a:xfrm>
            <a:off x="3371850" y="3019425"/>
            <a:ext cx="0" cy="238125"/>
          </a:xfrm>
          <a:prstGeom prst="line">
            <a:avLst/>
          </a:prstGeom>
          <a:noFill/>
          <a:ln w="6350">
            <a:solidFill>
              <a:srgbClr val="9AA8BE">
                <a:alpha val="40000"/>
              </a:srgbClr>
            </a:solidFill>
            <a:prstDash val="solid"/>
          </a:ln>
        </p:spPr>
      </p:sp>
      <p:sp>
        <p:nvSpPr>
          <p:cNvPr id="29" name="Shape 27"/>
          <p:cNvSpPr/>
          <p:nvPr/>
        </p:nvSpPr>
        <p:spPr>
          <a:xfrm>
            <a:off x="3371850" y="3057525"/>
            <a:ext cx="371475" cy="161925"/>
          </a:xfrm>
          <a:prstGeom prst="roundRect">
            <a:avLst>
              <a:gd name="adj" fmla="val 33882"/>
            </a:avLst>
          </a:prstGeom>
          <a:solidFill>
            <a:srgbClr val="F87171">
              <a:alpha val="90000"/>
            </a:srgbClr>
          </a:solidFill>
          <a:ln/>
        </p:spPr>
      </p:sp>
      <p:sp>
        <p:nvSpPr>
          <p:cNvPr id="30" name="Text 28"/>
          <p:cNvSpPr txBox="1"/>
          <p:nvPr/>
        </p:nvSpPr>
        <p:spPr>
          <a:xfrm>
            <a:off x="5448300" y="3057525"/>
            <a:ext cx="495300" cy="161925"/>
          </a:xfrm>
          <a:prstGeom prst="rect">
            <a:avLst/>
          </a:prstGeom>
          <a:noFill/>
          <a:ln/>
        </p:spPr>
        <p:txBody>
          <a:bodyPr wrap="square" lIns="0" tIns="0" rIns="0" bIns="0" rtlCol="0" anchor="ctr"/>
          <a:lstStyle/>
          <a:p>
            <a:pPr marL="0" indent="0" algn="l">
              <a:buNone/>
            </a:pPr>
            <a:r>
              <a:rPr lang="en-US" sz="788" b="1" dirty="0">
                <a:solidFill>
                  <a:srgbClr val="F87171"/>
                </a:solidFill>
                <a:latin typeface="Consolas" pitchFamily="34" charset="0"/>
                <a:ea typeface="Consolas" pitchFamily="34" charset="-122"/>
                <a:cs typeface="Consolas" pitchFamily="34" charset="-120"/>
              </a:rPr>
              <a:t>+0.62</a:t>
            </a:r>
            <a:endParaRPr lang="en-US" sz="788" dirty="0"/>
          </a:p>
        </p:txBody>
      </p:sp>
      <p:sp>
        <p:nvSpPr>
          <p:cNvPr id="31" name="Text 29"/>
          <p:cNvSpPr txBox="1"/>
          <p:nvPr/>
        </p:nvSpPr>
        <p:spPr>
          <a:xfrm>
            <a:off x="723900" y="3333750"/>
            <a:ext cx="1504950" cy="161925"/>
          </a:xfrm>
          <a:prstGeom prst="rect">
            <a:avLst/>
          </a:prstGeom>
          <a:noFill/>
          <a:ln/>
        </p:spPr>
        <p:txBody>
          <a:bodyPr wrap="square" lIns="0" tIns="0" rIns="0" bIns="0" rtlCol="0" anchor="ctr"/>
          <a:lstStyle/>
          <a:p>
            <a:pPr marL="0" indent="0" algn="r">
              <a:buNone/>
            </a:pPr>
            <a:r>
              <a:rPr lang="en-US" sz="788" dirty="0">
                <a:solidFill>
                  <a:srgbClr val="D2DBEA"/>
                </a:solidFill>
                <a:latin typeface="Consolas" pitchFamily="34" charset="0"/>
                <a:ea typeface="Consolas" pitchFamily="34" charset="-122"/>
                <a:cs typeface="Consolas" pitchFamily="34" charset="-120"/>
              </a:rPr>
              <a:t>account_age</a:t>
            </a:r>
            <a:endParaRPr lang="en-US" sz="788" dirty="0"/>
          </a:p>
        </p:txBody>
      </p:sp>
      <p:sp>
        <p:nvSpPr>
          <p:cNvPr id="32" name="Shape 30"/>
          <p:cNvSpPr/>
          <p:nvPr/>
        </p:nvSpPr>
        <p:spPr>
          <a:xfrm>
            <a:off x="3371850" y="3295650"/>
            <a:ext cx="0" cy="238125"/>
          </a:xfrm>
          <a:prstGeom prst="line">
            <a:avLst/>
          </a:prstGeom>
          <a:noFill/>
          <a:ln w="6350">
            <a:solidFill>
              <a:srgbClr val="9AA8BE">
                <a:alpha val="40000"/>
              </a:srgbClr>
            </a:solidFill>
            <a:prstDash val="solid"/>
          </a:ln>
        </p:spPr>
      </p:sp>
      <p:sp>
        <p:nvSpPr>
          <p:cNvPr id="33" name="Shape 31"/>
          <p:cNvSpPr/>
          <p:nvPr/>
        </p:nvSpPr>
        <p:spPr>
          <a:xfrm>
            <a:off x="3171825" y="3333750"/>
            <a:ext cx="200025" cy="161925"/>
          </a:xfrm>
          <a:prstGeom prst="roundRect">
            <a:avLst>
              <a:gd name="adj" fmla="val 33882"/>
            </a:avLst>
          </a:prstGeom>
          <a:solidFill>
            <a:srgbClr val="4ADE80">
              <a:alpha val="85000"/>
            </a:srgbClr>
          </a:solidFill>
          <a:ln/>
        </p:spPr>
      </p:sp>
      <p:sp>
        <p:nvSpPr>
          <p:cNvPr id="34" name="Text 32"/>
          <p:cNvSpPr txBox="1"/>
          <p:nvPr/>
        </p:nvSpPr>
        <p:spPr>
          <a:xfrm>
            <a:off x="5448300" y="3333750"/>
            <a:ext cx="495300" cy="161925"/>
          </a:xfrm>
          <a:prstGeom prst="rect">
            <a:avLst/>
          </a:prstGeom>
          <a:noFill/>
          <a:ln/>
        </p:spPr>
        <p:txBody>
          <a:bodyPr wrap="square" lIns="0" tIns="0" rIns="0" bIns="0" rtlCol="0" anchor="ctr"/>
          <a:lstStyle/>
          <a:p>
            <a:pPr marL="0" indent="0" algn="l">
              <a:buNone/>
            </a:pPr>
            <a:r>
              <a:rPr lang="en-US" sz="788" b="1" dirty="0">
                <a:solidFill>
                  <a:srgbClr val="4ADE80"/>
                </a:solidFill>
                <a:latin typeface="Consolas" pitchFamily="34" charset="0"/>
                <a:ea typeface="Consolas" pitchFamily="34" charset="-122"/>
                <a:cs typeface="Consolas" pitchFamily="34" charset="-120"/>
              </a:rPr>
              <a:t>−0.34</a:t>
            </a:r>
            <a:endParaRPr lang="en-US" sz="788" dirty="0"/>
          </a:p>
        </p:txBody>
      </p:sp>
      <p:sp>
        <p:nvSpPr>
          <p:cNvPr id="35" name="Text 33"/>
          <p:cNvSpPr txBox="1"/>
          <p:nvPr/>
        </p:nvSpPr>
        <p:spPr>
          <a:xfrm>
            <a:off x="723900" y="3771900"/>
            <a:ext cx="2381250" cy="114300"/>
          </a:xfrm>
          <a:prstGeom prst="rect">
            <a:avLst/>
          </a:prstGeom>
          <a:noFill/>
          <a:ln/>
        </p:spPr>
        <p:txBody>
          <a:bodyPr wrap="square" lIns="0" tIns="0" rIns="0" bIns="0" rtlCol="0" anchor="t"/>
          <a:lstStyle/>
          <a:p>
            <a:pPr marL="0" indent="0" algn="l">
              <a:buNone/>
            </a:pPr>
            <a:r>
              <a:rPr lang="en-US" sz="675" kern="0" spc="130" dirty="0">
                <a:solidFill>
                  <a:srgbClr val="9AA8BE"/>
                </a:solidFill>
                <a:latin typeface="Consolas" pitchFamily="34" charset="0"/>
                <a:ea typeface="Consolas" pitchFamily="34" charset="-122"/>
                <a:cs typeface="Consolas" pitchFamily="34" charset="-120"/>
              </a:rPr>
              <a:t>← DECREASES RISK</a:t>
            </a:r>
            <a:endParaRPr lang="en-US" sz="675" dirty="0"/>
          </a:p>
        </p:txBody>
      </p:sp>
      <p:sp>
        <p:nvSpPr>
          <p:cNvPr id="36" name="Text 34"/>
          <p:cNvSpPr txBox="1"/>
          <p:nvPr/>
        </p:nvSpPr>
        <p:spPr>
          <a:xfrm>
            <a:off x="4000500" y="3771900"/>
            <a:ext cx="2190750" cy="114300"/>
          </a:xfrm>
          <a:prstGeom prst="rect">
            <a:avLst/>
          </a:prstGeom>
          <a:noFill/>
          <a:ln/>
        </p:spPr>
        <p:txBody>
          <a:bodyPr wrap="square" lIns="0" tIns="0" rIns="0" bIns="0" rtlCol="0" anchor="t"/>
          <a:lstStyle/>
          <a:p>
            <a:pPr marL="0" indent="0" algn="r">
              <a:buNone/>
            </a:pPr>
            <a:r>
              <a:rPr lang="en-US" sz="675" kern="0" spc="130" dirty="0">
                <a:solidFill>
                  <a:srgbClr val="9AA8BE"/>
                </a:solidFill>
                <a:latin typeface="Consolas" pitchFamily="34" charset="0"/>
                <a:ea typeface="Consolas" pitchFamily="34" charset="-122"/>
                <a:cs typeface="Consolas" pitchFamily="34" charset="-120"/>
              </a:rPr>
              <a:t>INCREASES RISK →</a:t>
            </a:r>
            <a:endParaRPr lang="en-US" sz="675" dirty="0"/>
          </a:p>
        </p:txBody>
      </p:sp>
      <p:sp>
        <p:nvSpPr>
          <p:cNvPr id="37" name="Text 35"/>
          <p:cNvSpPr txBox="1"/>
          <p:nvPr/>
        </p:nvSpPr>
        <p:spPr>
          <a:xfrm>
            <a:off x="723900" y="4000500"/>
            <a:ext cx="4762500" cy="114300"/>
          </a:xfrm>
          <a:prstGeom prst="rect">
            <a:avLst/>
          </a:prstGeom>
          <a:noFill/>
          <a:ln/>
        </p:spPr>
        <p:txBody>
          <a:bodyPr wrap="square" lIns="0" tIns="0" rIns="0" bIns="0" rtlCol="0" anchor="t"/>
          <a:lstStyle/>
          <a:p>
            <a:pPr marL="0" indent="0" algn="l">
              <a:buNone/>
            </a:pPr>
            <a:r>
              <a:rPr lang="en-US" sz="675" dirty="0">
                <a:solidFill>
                  <a:srgbClr val="9AA8BE"/>
                </a:solidFill>
                <a:latin typeface="Consolas" pitchFamily="34" charset="0"/>
                <a:ea typeface="Consolas" pitchFamily="34" charset="-122"/>
                <a:cs typeface="Consolas" pitchFamily="34" charset="-120"/>
              </a:rPr>
              <a:t>SOURCE: FIG_SHAP_SUMMARY.PNG · HELD-OUT TEST SET</a:t>
            </a:r>
            <a:endParaRPr lang="en-US" sz="675" dirty="0"/>
          </a:p>
        </p:txBody>
      </p:sp>
      <p:sp>
        <p:nvSpPr>
          <p:cNvPr id="38" name="Shape 36"/>
          <p:cNvSpPr/>
          <p:nvPr/>
        </p:nvSpPr>
        <p:spPr>
          <a:xfrm>
            <a:off x="6457950" y="1181100"/>
            <a:ext cx="5200650" cy="3771900"/>
          </a:xfrm>
          <a:prstGeom prst="roundRect">
            <a:avLst>
              <a:gd name="adj" fmla="val 1455"/>
            </a:avLst>
          </a:prstGeom>
          <a:solidFill>
            <a:srgbClr val="DC2626">
              <a:alpha val="10000"/>
            </a:srgbClr>
          </a:solidFill>
          <a:ln w="9525">
            <a:solidFill>
              <a:srgbClr val="DC2626">
                <a:alpha val="34000"/>
              </a:srgbClr>
            </a:solidFill>
            <a:prstDash val="solid"/>
          </a:ln>
        </p:spPr>
      </p:sp>
      <p:sp>
        <p:nvSpPr>
          <p:cNvPr id="39" name="Shape 37"/>
          <p:cNvSpPr/>
          <p:nvPr/>
        </p:nvSpPr>
        <p:spPr>
          <a:xfrm>
            <a:off x="6629400" y="1371600"/>
            <a:ext cx="66675" cy="66675"/>
          </a:xfrm>
          <a:prstGeom prst="ellipse">
            <a:avLst/>
          </a:prstGeom>
          <a:solidFill>
            <a:srgbClr val="DC2626"/>
          </a:solidFill>
          <a:ln/>
        </p:spPr>
      </p:sp>
      <p:sp>
        <p:nvSpPr>
          <p:cNvPr id="40" name="Text 38"/>
          <p:cNvSpPr txBox="1"/>
          <p:nvPr/>
        </p:nvSpPr>
        <p:spPr>
          <a:xfrm>
            <a:off x="6781800" y="13239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WHY THIS ACCOUNT IS FLAGGED — ACC-4471</a:t>
            </a:r>
            <a:endParaRPr lang="en-US" sz="975" dirty="0"/>
          </a:p>
        </p:txBody>
      </p:sp>
      <p:sp>
        <p:nvSpPr>
          <p:cNvPr id="41" name="Text 39"/>
          <p:cNvSpPr txBox="1"/>
          <p:nvPr/>
        </p:nvSpPr>
        <p:spPr>
          <a:xfrm>
            <a:off x="6648450" y="1581150"/>
            <a:ext cx="1238250" cy="495300"/>
          </a:xfrm>
          <a:prstGeom prst="rect">
            <a:avLst/>
          </a:prstGeom>
          <a:noFill/>
          <a:ln/>
        </p:spPr>
        <p:txBody>
          <a:bodyPr wrap="square" lIns="0" tIns="0" rIns="0" bIns="0" rtlCol="0" anchor="t"/>
          <a:lstStyle/>
          <a:p>
            <a:pPr marL="0" indent="0" algn="l">
              <a:buNone/>
            </a:pPr>
            <a:r>
              <a:rPr lang="en-US" sz="2850" b="1" dirty="0">
                <a:solidFill>
                  <a:srgbClr val="F87171"/>
                </a:solidFill>
                <a:latin typeface="Consolas" pitchFamily="34" charset="0"/>
                <a:ea typeface="Consolas" pitchFamily="34" charset="-122"/>
                <a:cs typeface="Consolas" pitchFamily="34" charset="-120"/>
              </a:rPr>
              <a:t>92.4</a:t>
            </a:r>
            <a:endParaRPr lang="en-US" sz="2850" dirty="0"/>
          </a:p>
        </p:txBody>
      </p:sp>
      <p:sp>
        <p:nvSpPr>
          <p:cNvPr id="42" name="Shape 40"/>
          <p:cNvSpPr/>
          <p:nvPr/>
        </p:nvSpPr>
        <p:spPr>
          <a:xfrm>
            <a:off x="7905750" y="1638300"/>
            <a:ext cx="754380" cy="171450"/>
          </a:xfrm>
          <a:prstGeom prst="roundRect">
            <a:avLst>
              <a:gd name="adj" fmla="val 32000"/>
            </a:avLst>
          </a:prstGeom>
          <a:solidFill>
            <a:srgbClr val="DC2626">
              <a:alpha val="22000"/>
            </a:srgbClr>
          </a:solidFill>
          <a:ln w="9525">
            <a:solidFill>
              <a:srgbClr val="DC2626">
                <a:alpha val="45000"/>
              </a:srgbClr>
            </a:solidFill>
            <a:prstDash val="solid"/>
          </a:ln>
        </p:spPr>
      </p:sp>
      <p:sp>
        <p:nvSpPr>
          <p:cNvPr id="43" name="Text 41"/>
          <p:cNvSpPr txBox="1"/>
          <p:nvPr/>
        </p:nvSpPr>
        <p:spPr>
          <a:xfrm>
            <a:off x="7905750" y="1638300"/>
            <a:ext cx="754380" cy="171450"/>
          </a:xfrm>
          <a:prstGeom prst="rect">
            <a:avLst/>
          </a:prstGeom>
          <a:noFill/>
          <a:ln/>
        </p:spPr>
        <p:txBody>
          <a:bodyPr wrap="square" lIns="0" tIns="0" rIns="0" bIns="0" rtlCol="0" anchor="ctr"/>
          <a:lstStyle/>
          <a:p>
            <a:pPr marL="0" indent="0" algn="ctr">
              <a:buNone/>
            </a:pPr>
            <a:r>
              <a:rPr lang="en-US" sz="713" b="1" dirty="0">
                <a:solidFill>
                  <a:srgbClr val="F87171"/>
                </a:solidFill>
                <a:latin typeface="Consolas" pitchFamily="34" charset="0"/>
                <a:ea typeface="Consolas" pitchFamily="34" charset="-122"/>
                <a:cs typeface="Consolas" pitchFamily="34" charset="-120"/>
              </a:rPr>
              <a:t>HIGH RISK</a:t>
            </a:r>
            <a:endParaRPr lang="en-US" sz="713" dirty="0"/>
          </a:p>
        </p:txBody>
      </p:sp>
      <p:sp>
        <p:nvSpPr>
          <p:cNvPr id="44" name="Text 42"/>
          <p:cNvSpPr txBox="1"/>
          <p:nvPr/>
        </p:nvSpPr>
        <p:spPr>
          <a:xfrm>
            <a:off x="7905750" y="1866900"/>
            <a:ext cx="3619500" cy="133350"/>
          </a:xfrm>
          <a:prstGeom prst="rect">
            <a:avLst/>
          </a:prstGeom>
          <a:noFill/>
          <a:ln/>
        </p:spPr>
        <p:txBody>
          <a:bodyPr wrap="square" lIns="0" tIns="0" rIns="0" bIns="0" rtlCol="0" anchor="t"/>
          <a:lstStyle/>
          <a:p>
            <a:pPr marL="0" indent="0" algn="l">
              <a:buNone/>
            </a:pPr>
            <a:r>
              <a:rPr lang="en-US" sz="713" kern="0" spc="150" dirty="0">
                <a:solidFill>
                  <a:srgbClr val="9AA8BE"/>
                </a:solidFill>
                <a:latin typeface="Consolas" pitchFamily="34" charset="0"/>
                <a:ea typeface="Consolas" pitchFamily="34" charset="-122"/>
                <a:cs typeface="Consolas" pitchFamily="34" charset="-120"/>
              </a:rPr>
              <a:t>R = 0.50×B + 0.30×G + 0.20×I</a:t>
            </a:r>
            <a:endParaRPr lang="en-US" sz="713" dirty="0"/>
          </a:p>
        </p:txBody>
      </p:sp>
      <p:sp>
        <p:nvSpPr>
          <p:cNvPr id="45" name="Shape 43"/>
          <p:cNvSpPr/>
          <p:nvPr/>
        </p:nvSpPr>
        <p:spPr>
          <a:xfrm>
            <a:off x="6648450" y="2228850"/>
            <a:ext cx="4819650" cy="552450"/>
          </a:xfrm>
          <a:prstGeom prst="roundRect">
            <a:avLst>
              <a:gd name="adj" fmla="val 9931"/>
            </a:avLst>
          </a:prstGeom>
          <a:solidFill>
            <a:srgbClr val="DC2626">
              <a:alpha val="12000"/>
            </a:srgbClr>
          </a:solidFill>
          <a:ln w="9525">
            <a:solidFill>
              <a:srgbClr val="DC2626">
                <a:alpha val="35000"/>
              </a:srgbClr>
            </a:solidFill>
            <a:prstDash val="solid"/>
          </a:ln>
        </p:spPr>
      </p:sp>
      <p:sp>
        <p:nvSpPr>
          <p:cNvPr id="46" name="Text 44"/>
          <p:cNvSpPr txBox="1"/>
          <p:nvPr/>
        </p:nvSpPr>
        <p:spPr>
          <a:xfrm>
            <a:off x="6781800" y="2305050"/>
            <a:ext cx="571500" cy="171450"/>
          </a:xfrm>
          <a:prstGeom prst="rect">
            <a:avLst/>
          </a:prstGeom>
          <a:noFill/>
          <a:ln/>
        </p:spPr>
        <p:txBody>
          <a:bodyPr wrap="square" lIns="0" tIns="0" rIns="0" bIns="0" rtlCol="0" anchor="t"/>
          <a:lstStyle/>
          <a:p>
            <a:pPr marL="0" indent="0" algn="l">
              <a:buNone/>
            </a:pPr>
            <a:r>
              <a:rPr lang="en-US" sz="900" b="1" dirty="0">
                <a:solidFill>
                  <a:srgbClr val="F87171"/>
                </a:solidFill>
                <a:latin typeface="Consolas" pitchFamily="34" charset="0"/>
                <a:ea typeface="Consolas" pitchFamily="34" charset="-122"/>
                <a:cs typeface="Consolas" pitchFamily="34" charset="-120"/>
              </a:rPr>
              <a:t>+2.41</a:t>
            </a:r>
            <a:endParaRPr lang="en-US" sz="900" dirty="0"/>
          </a:p>
        </p:txBody>
      </p:sp>
      <p:sp>
        <p:nvSpPr>
          <p:cNvPr id="47" name="Text 45"/>
          <p:cNvSpPr txBox="1"/>
          <p:nvPr/>
        </p:nvSpPr>
        <p:spPr>
          <a:xfrm>
            <a:off x="7429500" y="2305050"/>
            <a:ext cx="3810000" cy="152400"/>
          </a:xfrm>
          <a:prstGeom prst="rect">
            <a:avLst/>
          </a:prstGeom>
          <a:noFill/>
          <a:ln/>
        </p:spPr>
        <p:txBody>
          <a:bodyPr wrap="square" lIns="0" tIns="0" rIns="0" bIns="0" rtlCol="0" anchor="t"/>
          <a:lstStyle/>
          <a:p>
            <a:pPr marL="0" indent="0" algn="l">
              <a:buNone/>
            </a:pPr>
            <a:r>
              <a:rPr lang="en-US" sz="863" b="1" dirty="0">
                <a:solidFill>
                  <a:srgbClr val="FFFFFF"/>
                </a:solidFill>
                <a:latin typeface="Calibri" pitchFamily="34" charset="0"/>
                <a:ea typeface="Calibri" pitchFamily="34" charset="-122"/>
                <a:cs typeface="Calibri" pitchFamily="34" charset="-120"/>
              </a:rPr>
              <a:t>fan_in_score</a:t>
            </a:r>
            <a:endParaRPr lang="en-US" sz="863" dirty="0"/>
          </a:p>
        </p:txBody>
      </p:sp>
      <p:sp>
        <p:nvSpPr>
          <p:cNvPr id="48" name="Text 46"/>
          <p:cNvSpPr txBox="1"/>
          <p:nvPr/>
        </p:nvSpPr>
        <p:spPr>
          <a:xfrm>
            <a:off x="7429500" y="2495550"/>
            <a:ext cx="3810000" cy="152400"/>
          </a:xfrm>
          <a:prstGeom prst="rect">
            <a:avLst/>
          </a:prstGeom>
          <a:noFill/>
          <a:ln/>
        </p:spPr>
        <p:txBody>
          <a:bodyPr wrap="square" lIns="0" tIns="0" rIns="0" bIns="0" rtlCol="0" anchor="t"/>
          <a:lstStyle/>
          <a:p>
            <a:pPr marL="0" indent="0" algn="l">
              <a:buNone/>
            </a:pPr>
            <a:r>
              <a:rPr lang="en-US" sz="863" dirty="0">
                <a:solidFill>
                  <a:srgbClr val="9AA8BE"/>
                </a:solidFill>
                <a:latin typeface="Calibri" pitchFamily="34" charset="0"/>
                <a:ea typeface="Calibri" pitchFamily="34" charset="-122"/>
                <a:cs typeface="Calibri" pitchFamily="34" charset="-120"/>
              </a:rPr>
              <a:t>"Credits from many unrelated sources"</a:t>
            </a:r>
            <a:endParaRPr lang="en-US" sz="863" dirty="0"/>
          </a:p>
        </p:txBody>
      </p:sp>
      <p:sp>
        <p:nvSpPr>
          <p:cNvPr id="49" name="Shape 47"/>
          <p:cNvSpPr/>
          <p:nvPr/>
        </p:nvSpPr>
        <p:spPr>
          <a:xfrm>
            <a:off x="6648450" y="2857500"/>
            <a:ext cx="4819650" cy="552450"/>
          </a:xfrm>
          <a:prstGeom prst="roundRect">
            <a:avLst>
              <a:gd name="adj" fmla="val 9931"/>
            </a:avLst>
          </a:prstGeom>
          <a:solidFill>
            <a:srgbClr val="DC2626">
              <a:alpha val="12000"/>
            </a:srgbClr>
          </a:solidFill>
          <a:ln w="9525">
            <a:solidFill>
              <a:srgbClr val="DC2626">
                <a:alpha val="35000"/>
              </a:srgbClr>
            </a:solidFill>
            <a:prstDash val="solid"/>
          </a:ln>
        </p:spPr>
      </p:sp>
      <p:sp>
        <p:nvSpPr>
          <p:cNvPr id="50" name="Text 48"/>
          <p:cNvSpPr txBox="1"/>
          <p:nvPr/>
        </p:nvSpPr>
        <p:spPr>
          <a:xfrm>
            <a:off x="6781800" y="2933700"/>
            <a:ext cx="571500" cy="171450"/>
          </a:xfrm>
          <a:prstGeom prst="rect">
            <a:avLst/>
          </a:prstGeom>
          <a:noFill/>
          <a:ln/>
        </p:spPr>
        <p:txBody>
          <a:bodyPr wrap="square" lIns="0" tIns="0" rIns="0" bIns="0" rtlCol="0" anchor="t"/>
          <a:lstStyle/>
          <a:p>
            <a:pPr marL="0" indent="0" algn="l">
              <a:buNone/>
            </a:pPr>
            <a:r>
              <a:rPr lang="en-US" sz="900" b="1" dirty="0">
                <a:solidFill>
                  <a:srgbClr val="F87171"/>
                </a:solidFill>
                <a:latin typeface="Consolas" pitchFamily="34" charset="0"/>
                <a:ea typeface="Consolas" pitchFamily="34" charset="-122"/>
                <a:cs typeface="Consolas" pitchFamily="34" charset="-120"/>
              </a:rPr>
              <a:t>+1.87</a:t>
            </a:r>
            <a:endParaRPr lang="en-US" sz="900" dirty="0"/>
          </a:p>
        </p:txBody>
      </p:sp>
      <p:sp>
        <p:nvSpPr>
          <p:cNvPr id="51" name="Text 49"/>
          <p:cNvSpPr txBox="1"/>
          <p:nvPr/>
        </p:nvSpPr>
        <p:spPr>
          <a:xfrm>
            <a:off x="7429500" y="2933700"/>
            <a:ext cx="3810000" cy="152400"/>
          </a:xfrm>
          <a:prstGeom prst="rect">
            <a:avLst/>
          </a:prstGeom>
          <a:noFill/>
          <a:ln/>
        </p:spPr>
        <p:txBody>
          <a:bodyPr wrap="square" lIns="0" tIns="0" rIns="0" bIns="0" rtlCol="0" anchor="t"/>
          <a:lstStyle/>
          <a:p>
            <a:pPr marL="0" indent="0" algn="l">
              <a:buNone/>
            </a:pPr>
            <a:r>
              <a:rPr lang="en-US" sz="863" b="1" dirty="0">
                <a:solidFill>
                  <a:srgbClr val="FFFFFF"/>
                </a:solidFill>
                <a:latin typeface="Calibri" pitchFamily="34" charset="0"/>
                <a:ea typeface="Calibri" pitchFamily="34" charset="-122"/>
                <a:cs typeface="Calibri" pitchFamily="34" charset="-120"/>
              </a:rPr>
              <a:t>pass_through_ratio</a:t>
            </a:r>
            <a:endParaRPr lang="en-US" sz="863" dirty="0"/>
          </a:p>
        </p:txBody>
      </p:sp>
      <p:sp>
        <p:nvSpPr>
          <p:cNvPr id="52" name="Text 50"/>
          <p:cNvSpPr txBox="1"/>
          <p:nvPr/>
        </p:nvSpPr>
        <p:spPr>
          <a:xfrm>
            <a:off x="7429500" y="3124200"/>
            <a:ext cx="3810000" cy="152400"/>
          </a:xfrm>
          <a:prstGeom prst="rect">
            <a:avLst/>
          </a:prstGeom>
          <a:noFill/>
          <a:ln/>
        </p:spPr>
        <p:txBody>
          <a:bodyPr wrap="square" lIns="0" tIns="0" rIns="0" bIns="0" rtlCol="0" anchor="t"/>
          <a:lstStyle/>
          <a:p>
            <a:pPr marL="0" indent="0" algn="l">
              <a:buNone/>
            </a:pPr>
            <a:r>
              <a:rPr lang="en-US" sz="863" dirty="0">
                <a:solidFill>
                  <a:srgbClr val="9AA8BE"/>
                </a:solidFill>
                <a:latin typeface="Calibri" pitchFamily="34" charset="0"/>
                <a:ea typeface="Calibri" pitchFamily="34" charset="-122"/>
                <a:cs typeface="Calibri" pitchFamily="34" charset="-120"/>
              </a:rPr>
              <a:t>"Funds passed through quickly (near 1:1)"</a:t>
            </a:r>
            <a:endParaRPr lang="en-US" sz="863" dirty="0"/>
          </a:p>
        </p:txBody>
      </p:sp>
      <p:sp>
        <p:nvSpPr>
          <p:cNvPr id="53" name="Shape 51"/>
          <p:cNvSpPr/>
          <p:nvPr/>
        </p:nvSpPr>
        <p:spPr>
          <a:xfrm>
            <a:off x="6648450" y="3486150"/>
            <a:ext cx="4819650" cy="552450"/>
          </a:xfrm>
          <a:prstGeom prst="roundRect">
            <a:avLst>
              <a:gd name="adj" fmla="val 9931"/>
            </a:avLst>
          </a:prstGeom>
          <a:solidFill>
            <a:srgbClr val="DC2626">
              <a:alpha val="12000"/>
            </a:srgbClr>
          </a:solidFill>
          <a:ln w="9525">
            <a:solidFill>
              <a:srgbClr val="DC2626">
                <a:alpha val="35000"/>
              </a:srgbClr>
            </a:solidFill>
            <a:prstDash val="solid"/>
          </a:ln>
        </p:spPr>
      </p:sp>
      <p:sp>
        <p:nvSpPr>
          <p:cNvPr id="54" name="Text 52"/>
          <p:cNvSpPr txBox="1"/>
          <p:nvPr/>
        </p:nvSpPr>
        <p:spPr>
          <a:xfrm>
            <a:off x="6781800" y="3562350"/>
            <a:ext cx="571500" cy="171450"/>
          </a:xfrm>
          <a:prstGeom prst="rect">
            <a:avLst/>
          </a:prstGeom>
          <a:noFill/>
          <a:ln/>
        </p:spPr>
        <p:txBody>
          <a:bodyPr wrap="square" lIns="0" tIns="0" rIns="0" bIns="0" rtlCol="0" anchor="t"/>
          <a:lstStyle/>
          <a:p>
            <a:pPr marL="0" indent="0" algn="l">
              <a:buNone/>
            </a:pPr>
            <a:r>
              <a:rPr lang="en-US" sz="900" b="1" dirty="0">
                <a:solidFill>
                  <a:srgbClr val="F87171"/>
                </a:solidFill>
                <a:latin typeface="Consolas" pitchFamily="34" charset="0"/>
                <a:ea typeface="Consolas" pitchFamily="34" charset="-122"/>
                <a:cs typeface="Consolas" pitchFamily="34" charset="-120"/>
              </a:rPr>
              <a:t>+1.12</a:t>
            </a:r>
            <a:endParaRPr lang="en-US" sz="900" dirty="0"/>
          </a:p>
        </p:txBody>
      </p:sp>
      <p:sp>
        <p:nvSpPr>
          <p:cNvPr id="55" name="Text 53"/>
          <p:cNvSpPr txBox="1"/>
          <p:nvPr/>
        </p:nvSpPr>
        <p:spPr>
          <a:xfrm>
            <a:off x="7429500" y="3562350"/>
            <a:ext cx="3810000" cy="152400"/>
          </a:xfrm>
          <a:prstGeom prst="rect">
            <a:avLst/>
          </a:prstGeom>
          <a:noFill/>
          <a:ln/>
        </p:spPr>
        <p:txBody>
          <a:bodyPr wrap="square" lIns="0" tIns="0" rIns="0" bIns="0" rtlCol="0" anchor="t"/>
          <a:lstStyle/>
          <a:p>
            <a:pPr marL="0" indent="0" algn="l">
              <a:buNone/>
            </a:pPr>
            <a:r>
              <a:rPr lang="en-US" sz="863" b="1" dirty="0">
                <a:solidFill>
                  <a:srgbClr val="FFFFFF"/>
                </a:solidFill>
                <a:latin typeface="Calibri" pitchFamily="34" charset="0"/>
                <a:ea typeface="Calibri" pitchFamily="34" charset="-122"/>
                <a:cs typeface="Calibri" pitchFamily="34" charset="-120"/>
              </a:rPr>
              <a:t>peak_hour_burst</a:t>
            </a:r>
            <a:endParaRPr lang="en-US" sz="863" dirty="0"/>
          </a:p>
        </p:txBody>
      </p:sp>
      <p:sp>
        <p:nvSpPr>
          <p:cNvPr id="56" name="Text 54"/>
          <p:cNvSpPr txBox="1"/>
          <p:nvPr/>
        </p:nvSpPr>
        <p:spPr>
          <a:xfrm>
            <a:off x="7429500" y="3752850"/>
            <a:ext cx="3810000" cy="152400"/>
          </a:xfrm>
          <a:prstGeom prst="rect">
            <a:avLst/>
          </a:prstGeom>
          <a:noFill/>
          <a:ln/>
        </p:spPr>
        <p:txBody>
          <a:bodyPr wrap="square" lIns="0" tIns="0" rIns="0" bIns="0" rtlCol="0" anchor="t"/>
          <a:lstStyle/>
          <a:p>
            <a:pPr marL="0" indent="0" algn="l">
              <a:buNone/>
            </a:pPr>
            <a:r>
              <a:rPr lang="en-US" sz="863" dirty="0">
                <a:solidFill>
                  <a:srgbClr val="9AA8BE"/>
                </a:solidFill>
                <a:latin typeface="Calibri" pitchFamily="34" charset="0"/>
                <a:ea typeface="Calibri" pitchFamily="34" charset="-122"/>
                <a:cs typeface="Calibri" pitchFamily="34" charset="-120"/>
              </a:rPr>
              <a:t>"Transaction burst within 1 hour"</a:t>
            </a:r>
            <a:endParaRPr lang="en-US" sz="863" dirty="0"/>
          </a:p>
        </p:txBody>
      </p:sp>
      <p:sp>
        <p:nvSpPr>
          <p:cNvPr id="57" name="Shape 55"/>
          <p:cNvSpPr/>
          <p:nvPr/>
        </p:nvSpPr>
        <p:spPr>
          <a:xfrm>
            <a:off x="6648450" y="4114800"/>
            <a:ext cx="4819650" cy="552450"/>
          </a:xfrm>
          <a:prstGeom prst="roundRect">
            <a:avLst>
              <a:gd name="adj" fmla="val 9931"/>
            </a:avLst>
          </a:prstGeom>
          <a:solidFill>
            <a:srgbClr val="15803D">
              <a:alpha val="14000"/>
            </a:srgbClr>
          </a:solidFill>
          <a:ln w="9525">
            <a:solidFill>
              <a:srgbClr val="15803D">
                <a:alpha val="35000"/>
              </a:srgbClr>
            </a:solidFill>
            <a:prstDash val="solid"/>
          </a:ln>
        </p:spPr>
      </p:sp>
      <p:sp>
        <p:nvSpPr>
          <p:cNvPr id="58" name="Text 56"/>
          <p:cNvSpPr txBox="1"/>
          <p:nvPr/>
        </p:nvSpPr>
        <p:spPr>
          <a:xfrm>
            <a:off x="6781800" y="4191000"/>
            <a:ext cx="571500" cy="171450"/>
          </a:xfrm>
          <a:prstGeom prst="rect">
            <a:avLst/>
          </a:prstGeom>
          <a:noFill/>
          <a:ln/>
        </p:spPr>
        <p:txBody>
          <a:bodyPr wrap="square" lIns="0" tIns="0" rIns="0" bIns="0" rtlCol="0" anchor="t"/>
          <a:lstStyle/>
          <a:p>
            <a:pPr marL="0" indent="0" algn="l">
              <a:buNone/>
            </a:pPr>
            <a:r>
              <a:rPr lang="en-US" sz="900" b="1" dirty="0">
                <a:solidFill>
                  <a:srgbClr val="4ADE80"/>
                </a:solidFill>
                <a:latin typeface="Consolas" pitchFamily="34" charset="0"/>
                <a:ea typeface="Consolas" pitchFamily="34" charset="-122"/>
                <a:cs typeface="Consolas" pitchFamily="34" charset="-120"/>
              </a:rPr>
              <a:t>−0.34</a:t>
            </a:r>
            <a:endParaRPr lang="en-US" sz="900" dirty="0"/>
          </a:p>
        </p:txBody>
      </p:sp>
      <p:sp>
        <p:nvSpPr>
          <p:cNvPr id="59" name="Text 57"/>
          <p:cNvSpPr txBox="1"/>
          <p:nvPr/>
        </p:nvSpPr>
        <p:spPr>
          <a:xfrm>
            <a:off x="7429500" y="4191000"/>
            <a:ext cx="3810000" cy="152400"/>
          </a:xfrm>
          <a:prstGeom prst="rect">
            <a:avLst/>
          </a:prstGeom>
          <a:noFill/>
          <a:ln/>
        </p:spPr>
        <p:txBody>
          <a:bodyPr wrap="square" lIns="0" tIns="0" rIns="0" bIns="0" rtlCol="0" anchor="t"/>
          <a:lstStyle/>
          <a:p>
            <a:pPr marL="0" indent="0" algn="l">
              <a:buNone/>
            </a:pPr>
            <a:r>
              <a:rPr lang="en-US" sz="863" b="1" dirty="0">
                <a:solidFill>
                  <a:srgbClr val="FFFFFF"/>
                </a:solidFill>
                <a:latin typeface="Calibri" pitchFamily="34" charset="0"/>
                <a:ea typeface="Calibri" pitchFamily="34" charset="-122"/>
                <a:cs typeface="Calibri" pitchFamily="34" charset="-120"/>
              </a:rPr>
              <a:t>account_age</a:t>
            </a:r>
            <a:endParaRPr lang="en-US" sz="863" dirty="0"/>
          </a:p>
        </p:txBody>
      </p:sp>
      <p:sp>
        <p:nvSpPr>
          <p:cNvPr id="60" name="Text 58"/>
          <p:cNvSpPr txBox="1"/>
          <p:nvPr/>
        </p:nvSpPr>
        <p:spPr>
          <a:xfrm>
            <a:off x="7429500" y="4381500"/>
            <a:ext cx="3810000" cy="152400"/>
          </a:xfrm>
          <a:prstGeom prst="rect">
            <a:avLst/>
          </a:prstGeom>
          <a:noFill/>
          <a:ln/>
        </p:spPr>
        <p:txBody>
          <a:bodyPr wrap="square" lIns="0" tIns="0" rIns="0" bIns="0" rtlCol="0" anchor="t"/>
          <a:lstStyle/>
          <a:p>
            <a:pPr marL="0" indent="0" algn="l">
              <a:buNone/>
            </a:pPr>
            <a:r>
              <a:rPr lang="en-US" sz="863" dirty="0">
                <a:solidFill>
                  <a:srgbClr val="9AA8BE"/>
                </a:solidFill>
                <a:latin typeface="Calibri" pitchFamily="34" charset="0"/>
                <a:ea typeface="Calibri" pitchFamily="34" charset="-122"/>
                <a:cs typeface="Calibri" pitchFamily="34" charset="-120"/>
              </a:rPr>
              <a:t>"Account age &gt; 1 year"</a:t>
            </a:r>
            <a:endParaRPr lang="en-US" sz="863" dirty="0"/>
          </a:p>
        </p:txBody>
      </p:sp>
      <p:sp>
        <p:nvSpPr>
          <p:cNvPr id="61" name="Shape 59"/>
          <p:cNvSpPr/>
          <p:nvPr/>
        </p:nvSpPr>
        <p:spPr>
          <a:xfrm>
            <a:off x="533400" y="5105400"/>
            <a:ext cx="3626167" cy="533400"/>
          </a:xfrm>
          <a:prstGeom prst="roundRect">
            <a:avLst>
              <a:gd name="adj" fmla="val 10286"/>
            </a:avLst>
          </a:prstGeom>
          <a:solidFill>
            <a:srgbClr val="0F9D91">
              <a:alpha val="10000"/>
            </a:srgbClr>
          </a:solidFill>
          <a:ln w="9525">
            <a:solidFill>
              <a:srgbClr val="0F9D91">
                <a:alpha val="38000"/>
              </a:srgbClr>
            </a:solidFill>
            <a:prstDash val="solid"/>
          </a:ln>
        </p:spPr>
      </p:sp>
      <p:sp>
        <p:nvSpPr>
          <p:cNvPr id="62" name="Shape 60"/>
          <p:cNvSpPr/>
          <p:nvPr/>
        </p:nvSpPr>
        <p:spPr>
          <a:xfrm>
            <a:off x="685800" y="526732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63" name="Text 61"/>
          <p:cNvSpPr txBox="1"/>
          <p:nvPr/>
        </p:nvSpPr>
        <p:spPr>
          <a:xfrm>
            <a:off x="685800" y="526732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64" name="Text 62"/>
          <p:cNvSpPr txBox="1"/>
          <p:nvPr/>
        </p:nvSpPr>
        <p:spPr>
          <a:xfrm>
            <a:off x="923925" y="5257800"/>
            <a:ext cx="3095625" cy="381000"/>
          </a:xfrm>
          <a:prstGeom prst="rect">
            <a:avLst/>
          </a:prstGeom>
          <a:noFill/>
          <a:ln/>
        </p:spPr>
        <p:txBody>
          <a:bodyPr wrap="square" lIns="0" tIns="0" rIns="0" bIns="0" rtlCol="0" anchor="t"/>
          <a:lstStyle/>
          <a:p>
            <a:pPr marL="0" indent="0" algn="l">
              <a:buNone/>
            </a:pPr>
            <a:r>
              <a:rPr lang="en-US" sz="915" dirty="0">
                <a:solidFill>
                  <a:srgbClr val="D6DEEC"/>
                </a:solidFill>
                <a:latin typeface="Calibri" pitchFamily="34" charset="0"/>
                <a:ea typeface="Calibri" pitchFamily="34" charset="-122"/>
                <a:cs typeface="Calibri" pitchFamily="34" charset="-120"/>
              </a:rPr>
              <a:t>Every risk score has </a:t>
            </a:r>
            <a:r>
              <a:rPr lang="en-US" sz="915" b="1" dirty="0">
                <a:solidFill>
                  <a:srgbClr val="FFFFFF"/>
                </a:solidFill>
                <a:latin typeface="Calibri" pitchFamily="34" charset="0"/>
                <a:ea typeface="Calibri" pitchFamily="34" charset="-122"/>
                <a:cs typeface="Calibri" pitchFamily="34" charset="-120"/>
              </a:rPr>
              <a:t>human-readable explanations</a:t>
            </a:r>
            <a:endParaRPr lang="en-US" sz="915" dirty="0"/>
          </a:p>
        </p:txBody>
      </p:sp>
      <p:sp>
        <p:nvSpPr>
          <p:cNvPr id="65" name="Shape 63"/>
          <p:cNvSpPr/>
          <p:nvPr/>
        </p:nvSpPr>
        <p:spPr>
          <a:xfrm>
            <a:off x="4283393" y="5105400"/>
            <a:ext cx="3626167" cy="533400"/>
          </a:xfrm>
          <a:prstGeom prst="roundRect">
            <a:avLst>
              <a:gd name="adj" fmla="val 10286"/>
            </a:avLst>
          </a:prstGeom>
          <a:solidFill>
            <a:srgbClr val="0F9D91">
              <a:alpha val="10000"/>
            </a:srgbClr>
          </a:solidFill>
          <a:ln w="9525">
            <a:solidFill>
              <a:srgbClr val="0F9D91">
                <a:alpha val="38000"/>
              </a:srgbClr>
            </a:solidFill>
            <a:prstDash val="solid"/>
          </a:ln>
        </p:spPr>
      </p:sp>
      <p:sp>
        <p:nvSpPr>
          <p:cNvPr id="66" name="Shape 64"/>
          <p:cNvSpPr/>
          <p:nvPr/>
        </p:nvSpPr>
        <p:spPr>
          <a:xfrm>
            <a:off x="4435793" y="526732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67" name="Text 65"/>
          <p:cNvSpPr txBox="1"/>
          <p:nvPr/>
        </p:nvSpPr>
        <p:spPr>
          <a:xfrm>
            <a:off x="4435793" y="526732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68" name="Text 66"/>
          <p:cNvSpPr txBox="1"/>
          <p:nvPr/>
        </p:nvSpPr>
        <p:spPr>
          <a:xfrm>
            <a:off x="4673918" y="5257800"/>
            <a:ext cx="3095625" cy="381000"/>
          </a:xfrm>
          <a:prstGeom prst="rect">
            <a:avLst/>
          </a:prstGeom>
          <a:noFill/>
          <a:ln/>
        </p:spPr>
        <p:txBody>
          <a:bodyPr wrap="square" lIns="0" tIns="0" rIns="0" bIns="0" rtlCol="0" anchor="t"/>
          <a:lstStyle/>
          <a:p>
            <a:pPr marL="0" indent="0" algn="l">
              <a:buNone/>
            </a:pPr>
            <a:r>
              <a:rPr lang="en-US" sz="915" dirty="0">
                <a:solidFill>
                  <a:srgbClr val="D6DEEC"/>
                </a:solidFill>
                <a:latin typeface="Calibri" pitchFamily="34" charset="0"/>
                <a:ea typeface="Calibri" pitchFamily="34" charset="-122"/>
                <a:cs typeface="Calibri" pitchFamily="34" charset="-120"/>
              </a:rPr>
              <a:t>Investigators understand </a:t>
            </a:r>
            <a:r>
              <a:rPr lang="en-US" sz="915" b="1" dirty="0">
                <a:solidFill>
                  <a:srgbClr val="FFFFFF"/>
                </a:solidFill>
                <a:latin typeface="Calibri" pitchFamily="34" charset="0"/>
                <a:ea typeface="Calibri" pitchFamily="34" charset="-122"/>
                <a:cs typeface="Calibri" pitchFamily="34" charset="-120"/>
              </a:rPr>
              <a:t>WHY</a:t>
            </a:r>
            <a:r>
              <a:rPr lang="en-US" sz="915" dirty="0">
                <a:solidFill>
                  <a:srgbClr val="D6DEEC"/>
                </a:solidFill>
                <a:latin typeface="Calibri" pitchFamily="34" charset="0"/>
                <a:ea typeface="Calibri" pitchFamily="34" charset="-122"/>
                <a:cs typeface="Calibri" pitchFamily="34" charset="-120"/>
              </a:rPr>
              <a:t>, not just WHAT</a:t>
            </a:r>
            <a:endParaRPr lang="en-US" sz="915" dirty="0"/>
          </a:p>
        </p:txBody>
      </p:sp>
      <p:sp>
        <p:nvSpPr>
          <p:cNvPr id="69" name="Shape 67"/>
          <p:cNvSpPr/>
          <p:nvPr/>
        </p:nvSpPr>
        <p:spPr>
          <a:xfrm>
            <a:off x="8033385" y="5105400"/>
            <a:ext cx="3626167" cy="533400"/>
          </a:xfrm>
          <a:prstGeom prst="roundRect">
            <a:avLst>
              <a:gd name="adj" fmla="val 10286"/>
            </a:avLst>
          </a:prstGeom>
          <a:solidFill>
            <a:srgbClr val="0F9D91">
              <a:alpha val="10000"/>
            </a:srgbClr>
          </a:solidFill>
          <a:ln w="9525">
            <a:solidFill>
              <a:srgbClr val="0F9D91">
                <a:alpha val="38000"/>
              </a:srgbClr>
            </a:solidFill>
            <a:prstDash val="solid"/>
          </a:ln>
        </p:spPr>
      </p:sp>
      <p:sp>
        <p:nvSpPr>
          <p:cNvPr id="70" name="Shape 68"/>
          <p:cNvSpPr/>
          <p:nvPr/>
        </p:nvSpPr>
        <p:spPr>
          <a:xfrm>
            <a:off x="8185785" y="526732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71" name="Text 69"/>
          <p:cNvSpPr txBox="1"/>
          <p:nvPr/>
        </p:nvSpPr>
        <p:spPr>
          <a:xfrm>
            <a:off x="8185785" y="526732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72" name="Text 70"/>
          <p:cNvSpPr txBox="1"/>
          <p:nvPr/>
        </p:nvSpPr>
        <p:spPr>
          <a:xfrm>
            <a:off x="8423910" y="5257800"/>
            <a:ext cx="309562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GDPR-compliant</a:t>
            </a:r>
            <a:r>
              <a:rPr lang="en-US" sz="915" dirty="0">
                <a:solidFill>
                  <a:srgbClr val="D6DEEC"/>
                </a:solidFill>
                <a:latin typeface="Calibri" pitchFamily="34" charset="0"/>
                <a:ea typeface="Calibri" pitchFamily="34" charset="-122"/>
                <a:cs typeface="Calibri" pitchFamily="34" charset="-120"/>
              </a:rPr>
              <a:t> "right to explanation" for evidence-based cases</a:t>
            </a:r>
            <a:endParaRPr lang="en-US" sz="91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07 — GRAPH ANALYTICS</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Suspicious network detection — </a:t>
            </a:r>
            <a:r>
              <a:rPr lang="en-US" sz="2475" b="1" dirty="0">
                <a:solidFill>
                  <a:srgbClr val="F5C542"/>
                </a:solidFill>
                <a:latin typeface="Arial" pitchFamily="34" charset="0"/>
                <a:ea typeface="Arial" pitchFamily="34" charset="-122"/>
                <a:cs typeface="Arial" pitchFamily="34" charset="-120"/>
              </a:rPr>
              <a:t>rings, hubs and intermediaries</a:t>
            </a:r>
            <a:endParaRPr lang="en-US" sz="2475" dirty="0"/>
          </a:p>
        </p:txBody>
      </p:sp>
      <p:sp>
        <p:nvSpPr>
          <p:cNvPr id="4" name="Shape 2"/>
          <p:cNvSpPr/>
          <p:nvPr/>
        </p:nvSpPr>
        <p:spPr>
          <a:xfrm>
            <a:off x="533400" y="1162050"/>
            <a:ext cx="11125200" cy="3886200"/>
          </a:xfrm>
          <a:prstGeom prst="roundRect">
            <a:avLst>
              <a:gd name="adj" fmla="val 1412"/>
            </a:avLst>
          </a:prstGeom>
          <a:solidFill>
            <a:srgbClr val="FFFFFF">
              <a:alpha val="4000"/>
            </a:srgbClr>
          </a:solidFill>
          <a:ln w="9525">
            <a:solidFill>
              <a:srgbClr val="9AA8BE">
                <a:alpha val="16000"/>
              </a:srgbClr>
            </a:solidFill>
            <a:prstDash val="solid"/>
          </a:ln>
        </p:spPr>
      </p:sp>
      <p:pic>
        <p:nvPicPr>
          <p:cNvPr id="5" name="Image 0" descr="preencoded.png"/>
          <p:cNvPicPr>
            <a:picLocks noChangeAspect="1"/>
          </p:cNvPicPr>
          <p:nvPr/>
        </p:nvPicPr>
        <p:blipFill>
          <a:blip r:embed="rId3"/>
          <a:stretch>
            <a:fillRect/>
          </a:stretch>
        </p:blipFill>
        <p:spPr>
          <a:xfrm>
            <a:off x="666750" y="1257300"/>
            <a:ext cx="10858500" cy="3143250"/>
          </a:xfrm>
          <a:prstGeom prst="rect">
            <a:avLst/>
          </a:prstGeom>
        </p:spPr>
      </p:pic>
      <p:sp>
        <p:nvSpPr>
          <p:cNvPr id="6" name="Shape 3"/>
          <p:cNvSpPr/>
          <p:nvPr/>
        </p:nvSpPr>
        <p:spPr>
          <a:xfrm>
            <a:off x="723900" y="4572000"/>
            <a:ext cx="104775" cy="104775"/>
          </a:xfrm>
          <a:prstGeom prst="ellipse">
            <a:avLst/>
          </a:prstGeom>
          <a:solidFill>
            <a:srgbClr val="DC2626"/>
          </a:solidFill>
          <a:ln/>
        </p:spPr>
      </p:sp>
      <p:sp>
        <p:nvSpPr>
          <p:cNvPr id="7" name="Text 4"/>
          <p:cNvSpPr txBox="1"/>
          <p:nvPr/>
        </p:nvSpPr>
        <p:spPr>
          <a:xfrm>
            <a:off x="895350" y="4552950"/>
            <a:ext cx="1905000" cy="133350"/>
          </a:xfrm>
          <a:prstGeom prst="rect">
            <a:avLst/>
          </a:prstGeom>
          <a:noFill/>
          <a:ln/>
        </p:spPr>
        <p:txBody>
          <a:bodyPr wrap="square" lIns="0" tIns="0" rIns="0" bIns="0" rtlCol="0" anchor="ctr"/>
          <a:lstStyle/>
          <a:p>
            <a:pPr marL="0" indent="0" algn="l">
              <a:buNone/>
            </a:pPr>
            <a:r>
              <a:rPr lang="en-US" sz="750" dirty="0">
                <a:solidFill>
                  <a:srgbClr val="9AA8BE"/>
                </a:solidFill>
                <a:latin typeface="Consolas" pitchFamily="34" charset="0"/>
                <a:ea typeface="Consolas" pitchFamily="34" charset="-122"/>
                <a:cs typeface="Consolas" pitchFamily="34" charset="-120"/>
              </a:rPr>
              <a:t>COMPLAINT-LINKED (SUSPICIOUS)</a:t>
            </a:r>
            <a:endParaRPr lang="en-US" sz="750" dirty="0"/>
          </a:p>
        </p:txBody>
      </p:sp>
      <p:sp>
        <p:nvSpPr>
          <p:cNvPr id="8" name="Shape 5"/>
          <p:cNvSpPr/>
          <p:nvPr/>
        </p:nvSpPr>
        <p:spPr>
          <a:xfrm>
            <a:off x="2771775" y="4572000"/>
            <a:ext cx="104775" cy="104775"/>
          </a:xfrm>
          <a:prstGeom prst="ellipse">
            <a:avLst/>
          </a:prstGeom>
          <a:solidFill>
            <a:srgbClr val="F5C542"/>
          </a:solidFill>
          <a:ln/>
        </p:spPr>
      </p:sp>
      <p:sp>
        <p:nvSpPr>
          <p:cNvPr id="9" name="Text 6"/>
          <p:cNvSpPr txBox="1"/>
          <p:nvPr/>
        </p:nvSpPr>
        <p:spPr>
          <a:xfrm>
            <a:off x="2943225" y="4552950"/>
            <a:ext cx="1905000" cy="133350"/>
          </a:xfrm>
          <a:prstGeom prst="rect">
            <a:avLst/>
          </a:prstGeom>
          <a:noFill/>
          <a:ln/>
        </p:spPr>
        <p:txBody>
          <a:bodyPr wrap="square" lIns="0" tIns="0" rIns="0" bIns="0" rtlCol="0" anchor="ctr"/>
          <a:lstStyle/>
          <a:p>
            <a:pPr marL="0" indent="0" algn="l">
              <a:buNone/>
            </a:pPr>
            <a:r>
              <a:rPr lang="en-US" sz="750" dirty="0">
                <a:solidFill>
                  <a:srgbClr val="9AA8BE"/>
                </a:solidFill>
                <a:latin typeface="Consolas" pitchFamily="34" charset="0"/>
                <a:ea typeface="Consolas" pitchFamily="34" charset="-122"/>
                <a:cs typeface="Consolas" pitchFamily="34" charset="-120"/>
              </a:rPr>
              <a:t>SELECTED ACCOUNT</a:t>
            </a:r>
            <a:endParaRPr lang="en-US" sz="750" dirty="0"/>
          </a:p>
        </p:txBody>
      </p:sp>
      <p:sp>
        <p:nvSpPr>
          <p:cNvPr id="10" name="Shape 7"/>
          <p:cNvSpPr/>
          <p:nvPr/>
        </p:nvSpPr>
        <p:spPr>
          <a:xfrm>
            <a:off x="4819650" y="4572000"/>
            <a:ext cx="104775" cy="104775"/>
          </a:xfrm>
          <a:prstGeom prst="ellipse">
            <a:avLst/>
          </a:prstGeom>
          <a:solidFill>
            <a:srgbClr val="2563EB"/>
          </a:solidFill>
          <a:ln/>
        </p:spPr>
      </p:sp>
      <p:sp>
        <p:nvSpPr>
          <p:cNvPr id="11" name="Text 8"/>
          <p:cNvSpPr txBox="1"/>
          <p:nvPr/>
        </p:nvSpPr>
        <p:spPr>
          <a:xfrm>
            <a:off x="4991100" y="4552950"/>
            <a:ext cx="1905000" cy="133350"/>
          </a:xfrm>
          <a:prstGeom prst="rect">
            <a:avLst/>
          </a:prstGeom>
          <a:noFill/>
          <a:ln/>
        </p:spPr>
        <p:txBody>
          <a:bodyPr wrap="square" lIns="0" tIns="0" rIns="0" bIns="0" rtlCol="0" anchor="ctr"/>
          <a:lstStyle/>
          <a:p>
            <a:pPr marL="0" indent="0" algn="l">
              <a:buNone/>
            </a:pPr>
            <a:r>
              <a:rPr lang="en-US" sz="750" dirty="0">
                <a:solidFill>
                  <a:srgbClr val="9AA8BE"/>
                </a:solidFill>
                <a:latin typeface="Consolas" pitchFamily="34" charset="0"/>
                <a:ea typeface="Consolas" pitchFamily="34" charset="-122"/>
                <a:cs typeface="Consolas" pitchFamily="34" charset="-120"/>
              </a:rPr>
              <a:t>CONNECTED ACCOUNT</a:t>
            </a:r>
            <a:endParaRPr lang="en-US" sz="750" dirty="0"/>
          </a:p>
        </p:txBody>
      </p:sp>
      <p:sp>
        <p:nvSpPr>
          <p:cNvPr id="12" name="Shape 9"/>
          <p:cNvSpPr/>
          <p:nvPr/>
        </p:nvSpPr>
        <p:spPr>
          <a:xfrm>
            <a:off x="6867525" y="4572000"/>
            <a:ext cx="104775" cy="104775"/>
          </a:xfrm>
          <a:prstGeom prst="ellipse">
            <a:avLst/>
          </a:prstGeom>
          <a:solidFill>
            <a:srgbClr val="0F9D91"/>
          </a:solidFill>
          <a:ln/>
        </p:spPr>
      </p:sp>
      <p:sp>
        <p:nvSpPr>
          <p:cNvPr id="13" name="Text 10"/>
          <p:cNvSpPr txBox="1"/>
          <p:nvPr/>
        </p:nvSpPr>
        <p:spPr>
          <a:xfrm>
            <a:off x="7038975" y="4552950"/>
            <a:ext cx="1905000" cy="133350"/>
          </a:xfrm>
          <a:prstGeom prst="rect">
            <a:avLst/>
          </a:prstGeom>
          <a:noFill/>
          <a:ln/>
        </p:spPr>
        <p:txBody>
          <a:bodyPr wrap="square" lIns="0" tIns="0" rIns="0" bIns="0" rtlCol="0" anchor="ctr"/>
          <a:lstStyle/>
          <a:p>
            <a:pPr marL="0" indent="0" algn="l">
              <a:buNone/>
            </a:pPr>
            <a:r>
              <a:rPr lang="en-US" sz="750" dirty="0">
                <a:solidFill>
                  <a:srgbClr val="9AA8BE"/>
                </a:solidFill>
                <a:latin typeface="Consolas" pitchFamily="34" charset="0"/>
                <a:ea typeface="Consolas" pitchFamily="34" charset="-122"/>
                <a:cs typeface="Consolas" pitchFamily="34" charset="-120"/>
              </a:rPr>
              <a:t>BRIDGE / INTERMEDIARY</a:t>
            </a:r>
            <a:endParaRPr lang="en-US" sz="750" dirty="0"/>
          </a:p>
        </p:txBody>
      </p:sp>
      <p:sp>
        <p:nvSpPr>
          <p:cNvPr id="14" name="Text 11"/>
          <p:cNvSpPr txBox="1"/>
          <p:nvPr/>
        </p:nvSpPr>
        <p:spPr>
          <a:xfrm>
            <a:off x="8953500" y="4552950"/>
            <a:ext cx="2571750" cy="133350"/>
          </a:xfrm>
          <a:prstGeom prst="rect">
            <a:avLst/>
          </a:prstGeom>
          <a:noFill/>
          <a:ln/>
        </p:spPr>
        <p:txBody>
          <a:bodyPr wrap="square" lIns="0" tIns="0" rIns="0" bIns="0" rtlCol="0" anchor="t"/>
          <a:lstStyle/>
          <a:p>
            <a:pPr marL="0" indent="0" algn="r">
              <a:buNone/>
            </a:pPr>
            <a:r>
              <a:rPr lang="en-US" sz="750" dirty="0">
                <a:solidFill>
                  <a:srgbClr val="9AA8BE"/>
                </a:solidFill>
                <a:latin typeface="Consolas" pitchFamily="34" charset="0"/>
                <a:ea typeface="Consolas" pitchFamily="34" charset="-122"/>
                <a:cs typeface="Consolas" pitchFamily="34" charset="-120"/>
              </a:rPr>
              <a:t>— EDGE THICKNESS = TRANSACTION AMOUNT</a:t>
            </a:r>
            <a:endParaRPr lang="en-US" sz="750" dirty="0"/>
          </a:p>
        </p:txBody>
      </p:sp>
      <p:sp>
        <p:nvSpPr>
          <p:cNvPr id="15" name="Text 12"/>
          <p:cNvSpPr txBox="1"/>
          <p:nvPr/>
        </p:nvSpPr>
        <p:spPr>
          <a:xfrm>
            <a:off x="8001000" y="4762500"/>
            <a:ext cx="3524250" cy="133350"/>
          </a:xfrm>
          <a:prstGeom prst="rect">
            <a:avLst/>
          </a:prstGeom>
          <a:noFill/>
          <a:ln/>
        </p:spPr>
        <p:txBody>
          <a:bodyPr wrap="square" lIns="0" tIns="0" rIns="0" bIns="0" rtlCol="0" anchor="t"/>
          <a:lstStyle/>
          <a:p>
            <a:pPr marL="0" indent="0" algn="r">
              <a:buNone/>
            </a:pPr>
            <a:r>
              <a:rPr lang="en-US" sz="750" dirty="0">
                <a:solidFill>
                  <a:srgbClr val="7CA9FF"/>
                </a:solidFill>
                <a:latin typeface="Consolas" pitchFamily="34" charset="0"/>
                <a:ea typeface="Consolas" pitchFamily="34" charset="-122"/>
                <a:cs typeface="Consolas" pitchFamily="34" charset="-120"/>
              </a:rPr>
              <a:t>INTERACTIVE: ZOOM · PAN · CLICK TO INSPECT</a:t>
            </a:r>
            <a:endParaRPr lang="en-US" sz="750" dirty="0"/>
          </a:p>
        </p:txBody>
      </p:sp>
      <p:sp>
        <p:nvSpPr>
          <p:cNvPr id="16" name="Shape 13"/>
          <p:cNvSpPr/>
          <p:nvPr/>
        </p:nvSpPr>
        <p:spPr>
          <a:xfrm>
            <a:off x="533400" y="5200650"/>
            <a:ext cx="2141220" cy="723900"/>
          </a:xfrm>
          <a:prstGeom prst="roundRect">
            <a:avLst>
              <a:gd name="adj" fmla="val 7579"/>
            </a:avLst>
          </a:prstGeom>
          <a:solidFill>
            <a:srgbClr val="FFFFFF">
              <a:alpha val="4000"/>
            </a:srgbClr>
          </a:solidFill>
          <a:ln w="9525">
            <a:solidFill>
              <a:srgbClr val="9AA8BE">
                <a:alpha val="16000"/>
              </a:srgbClr>
            </a:solidFill>
            <a:prstDash val="solid"/>
          </a:ln>
        </p:spPr>
      </p:sp>
      <p:sp>
        <p:nvSpPr>
          <p:cNvPr id="17" name="Shape 14"/>
          <p:cNvSpPr/>
          <p:nvPr/>
        </p:nvSpPr>
        <p:spPr>
          <a:xfrm>
            <a:off x="666750" y="534352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18" name="Text 15"/>
          <p:cNvSpPr txBox="1"/>
          <p:nvPr/>
        </p:nvSpPr>
        <p:spPr>
          <a:xfrm>
            <a:off x="666750" y="534352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19" name="Text 16"/>
          <p:cNvSpPr txBox="1"/>
          <p:nvPr/>
        </p:nvSpPr>
        <p:spPr>
          <a:xfrm>
            <a:off x="904875" y="5334000"/>
            <a:ext cx="167449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PageRank</a:t>
            </a:r>
            <a:r>
              <a:rPr lang="en-US" sz="915" dirty="0">
                <a:solidFill>
                  <a:srgbClr val="D6DEEC"/>
                </a:solidFill>
                <a:latin typeface="Calibri" pitchFamily="34" charset="0"/>
                <a:ea typeface="Calibri" pitchFamily="34" charset="-122"/>
                <a:cs typeface="Calibri" pitchFamily="34" charset="-120"/>
              </a:rPr>
              <a:t> — identify hub accounts in money flow</a:t>
            </a:r>
            <a:endParaRPr lang="en-US" sz="915" dirty="0"/>
          </a:p>
        </p:txBody>
      </p:sp>
      <p:sp>
        <p:nvSpPr>
          <p:cNvPr id="20" name="Shape 17"/>
          <p:cNvSpPr/>
          <p:nvPr/>
        </p:nvSpPr>
        <p:spPr>
          <a:xfrm>
            <a:off x="2779395" y="5200650"/>
            <a:ext cx="2141220" cy="723900"/>
          </a:xfrm>
          <a:prstGeom prst="roundRect">
            <a:avLst>
              <a:gd name="adj" fmla="val 7579"/>
            </a:avLst>
          </a:prstGeom>
          <a:solidFill>
            <a:srgbClr val="FFFFFF">
              <a:alpha val="4000"/>
            </a:srgbClr>
          </a:solidFill>
          <a:ln w="9525">
            <a:solidFill>
              <a:srgbClr val="9AA8BE">
                <a:alpha val="16000"/>
              </a:srgbClr>
            </a:solidFill>
            <a:prstDash val="solid"/>
          </a:ln>
        </p:spPr>
      </p:sp>
      <p:sp>
        <p:nvSpPr>
          <p:cNvPr id="21" name="Shape 18"/>
          <p:cNvSpPr/>
          <p:nvPr/>
        </p:nvSpPr>
        <p:spPr>
          <a:xfrm>
            <a:off x="2912745" y="534352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22" name="Text 19"/>
          <p:cNvSpPr txBox="1"/>
          <p:nvPr/>
        </p:nvSpPr>
        <p:spPr>
          <a:xfrm>
            <a:off x="2912745" y="534352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23" name="Text 20"/>
          <p:cNvSpPr txBox="1"/>
          <p:nvPr/>
        </p:nvSpPr>
        <p:spPr>
          <a:xfrm>
            <a:off x="3150870" y="5334000"/>
            <a:ext cx="167449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Betweenness</a:t>
            </a:r>
            <a:r>
              <a:rPr lang="en-US" sz="915" dirty="0">
                <a:solidFill>
                  <a:srgbClr val="D6DEEC"/>
                </a:solidFill>
                <a:latin typeface="Calibri" pitchFamily="34" charset="0"/>
                <a:ea typeface="Calibri" pitchFamily="34" charset="-122"/>
                <a:cs typeface="Calibri" pitchFamily="34" charset="-120"/>
              </a:rPr>
              <a:t> — find key intermediary accounts</a:t>
            </a:r>
            <a:endParaRPr lang="en-US" sz="915" dirty="0"/>
          </a:p>
        </p:txBody>
      </p:sp>
      <p:sp>
        <p:nvSpPr>
          <p:cNvPr id="24" name="Shape 21"/>
          <p:cNvSpPr/>
          <p:nvPr/>
        </p:nvSpPr>
        <p:spPr>
          <a:xfrm>
            <a:off x="5025390" y="5200650"/>
            <a:ext cx="2141220" cy="723900"/>
          </a:xfrm>
          <a:prstGeom prst="roundRect">
            <a:avLst>
              <a:gd name="adj" fmla="val 7579"/>
            </a:avLst>
          </a:prstGeom>
          <a:solidFill>
            <a:srgbClr val="FFFFFF">
              <a:alpha val="4000"/>
            </a:srgbClr>
          </a:solidFill>
          <a:ln w="9525">
            <a:solidFill>
              <a:srgbClr val="9AA8BE">
                <a:alpha val="16000"/>
              </a:srgbClr>
            </a:solidFill>
            <a:prstDash val="solid"/>
          </a:ln>
        </p:spPr>
      </p:sp>
      <p:sp>
        <p:nvSpPr>
          <p:cNvPr id="25" name="Shape 22"/>
          <p:cNvSpPr/>
          <p:nvPr/>
        </p:nvSpPr>
        <p:spPr>
          <a:xfrm>
            <a:off x="5158740" y="534352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26" name="Text 23"/>
          <p:cNvSpPr txBox="1"/>
          <p:nvPr/>
        </p:nvSpPr>
        <p:spPr>
          <a:xfrm>
            <a:off x="5158740" y="534352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27" name="Text 24"/>
          <p:cNvSpPr txBox="1"/>
          <p:nvPr/>
        </p:nvSpPr>
        <p:spPr>
          <a:xfrm>
            <a:off x="5396865" y="5334000"/>
            <a:ext cx="167449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Louvain communities</a:t>
            </a:r>
            <a:r>
              <a:rPr lang="en-US" sz="915" dirty="0">
                <a:solidFill>
                  <a:srgbClr val="D6DEEC"/>
                </a:solidFill>
                <a:latin typeface="Calibri" pitchFamily="34" charset="0"/>
                <a:ea typeface="Calibri" pitchFamily="34" charset="-122"/>
                <a:cs typeface="Calibri" pitchFamily="34" charset="-120"/>
              </a:rPr>
              <a:t> — detect organised fraud rings</a:t>
            </a:r>
            <a:endParaRPr lang="en-US" sz="915" dirty="0"/>
          </a:p>
        </p:txBody>
      </p:sp>
      <p:sp>
        <p:nvSpPr>
          <p:cNvPr id="28" name="Shape 25"/>
          <p:cNvSpPr/>
          <p:nvPr/>
        </p:nvSpPr>
        <p:spPr>
          <a:xfrm>
            <a:off x="7271385" y="5200650"/>
            <a:ext cx="2141220" cy="723900"/>
          </a:xfrm>
          <a:prstGeom prst="roundRect">
            <a:avLst>
              <a:gd name="adj" fmla="val 7579"/>
            </a:avLst>
          </a:prstGeom>
          <a:solidFill>
            <a:srgbClr val="FFFFFF">
              <a:alpha val="4000"/>
            </a:srgbClr>
          </a:solidFill>
          <a:ln w="9525">
            <a:solidFill>
              <a:srgbClr val="9AA8BE">
                <a:alpha val="16000"/>
              </a:srgbClr>
            </a:solidFill>
            <a:prstDash val="solid"/>
          </a:ln>
        </p:spPr>
      </p:sp>
      <p:sp>
        <p:nvSpPr>
          <p:cNvPr id="29" name="Shape 26"/>
          <p:cNvSpPr/>
          <p:nvPr/>
        </p:nvSpPr>
        <p:spPr>
          <a:xfrm>
            <a:off x="7404735" y="534352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30" name="Text 27"/>
          <p:cNvSpPr txBox="1"/>
          <p:nvPr/>
        </p:nvSpPr>
        <p:spPr>
          <a:xfrm>
            <a:off x="7404735" y="534352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31" name="Text 28"/>
          <p:cNvSpPr txBox="1"/>
          <p:nvPr/>
        </p:nvSpPr>
        <p:spPr>
          <a:xfrm>
            <a:off x="7642860" y="5334000"/>
            <a:ext cx="167449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Distance-to-bad</a:t>
            </a:r>
            <a:r>
              <a:rPr lang="en-US" sz="915" dirty="0">
                <a:solidFill>
                  <a:srgbClr val="D6DEEC"/>
                </a:solidFill>
                <a:latin typeface="Calibri" pitchFamily="34" charset="0"/>
                <a:ea typeface="Calibri" pitchFamily="34" charset="-122"/>
                <a:cs typeface="Calibri" pitchFamily="34" charset="-120"/>
              </a:rPr>
              <a:t> — proximity to complaint-linked accounts</a:t>
            </a:r>
            <a:endParaRPr lang="en-US" sz="915" dirty="0"/>
          </a:p>
        </p:txBody>
      </p:sp>
      <p:sp>
        <p:nvSpPr>
          <p:cNvPr id="32" name="Shape 29"/>
          <p:cNvSpPr/>
          <p:nvPr/>
        </p:nvSpPr>
        <p:spPr>
          <a:xfrm>
            <a:off x="9517380" y="5200650"/>
            <a:ext cx="2141220" cy="723900"/>
          </a:xfrm>
          <a:prstGeom prst="roundRect">
            <a:avLst>
              <a:gd name="adj" fmla="val 7579"/>
            </a:avLst>
          </a:prstGeom>
          <a:solidFill>
            <a:srgbClr val="FFFFFF">
              <a:alpha val="4000"/>
            </a:srgbClr>
          </a:solidFill>
          <a:ln w="9525">
            <a:solidFill>
              <a:srgbClr val="9AA8BE">
                <a:alpha val="16000"/>
              </a:srgbClr>
            </a:solidFill>
            <a:prstDash val="solid"/>
          </a:ln>
        </p:spPr>
      </p:sp>
      <p:sp>
        <p:nvSpPr>
          <p:cNvPr id="33" name="Shape 30"/>
          <p:cNvSpPr/>
          <p:nvPr/>
        </p:nvSpPr>
        <p:spPr>
          <a:xfrm>
            <a:off x="9650730" y="534352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34" name="Text 31"/>
          <p:cNvSpPr txBox="1"/>
          <p:nvPr/>
        </p:nvSpPr>
        <p:spPr>
          <a:xfrm>
            <a:off x="9650730" y="534352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35" name="Text 32"/>
          <p:cNvSpPr txBox="1"/>
          <p:nvPr/>
        </p:nvSpPr>
        <p:spPr>
          <a:xfrm>
            <a:off x="9888855" y="5334000"/>
            <a:ext cx="167449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Force-directed layout</a:t>
            </a:r>
            <a:r>
              <a:rPr lang="en-US" sz="915" dirty="0">
                <a:solidFill>
                  <a:srgbClr val="D6DEEC"/>
                </a:solidFill>
                <a:latin typeface="Calibri" pitchFamily="34" charset="0"/>
                <a:ea typeface="Calibri" pitchFamily="34" charset="-122"/>
                <a:cs typeface="Calibri" pitchFamily="34" charset="-120"/>
              </a:rPr>
              <a:t> — visualise hidden patterns</a:t>
            </a:r>
            <a:endParaRPr lang="en-US" sz="91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08 — PRODUCT</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Investigation dashboard — </a:t>
            </a:r>
            <a:r>
              <a:rPr lang="en-US" sz="2475" b="1" dirty="0">
                <a:solidFill>
                  <a:srgbClr val="F5C542"/>
                </a:solidFill>
                <a:latin typeface="Arial" pitchFamily="34" charset="0"/>
                <a:ea typeface="Arial" pitchFamily="34" charset="-122"/>
                <a:cs typeface="Arial" pitchFamily="34" charset="-120"/>
              </a:rPr>
              <a:t>detection to filed report</a:t>
            </a:r>
            <a:endParaRPr lang="en-US" sz="2475" dirty="0"/>
          </a:p>
        </p:txBody>
      </p:sp>
      <p:sp>
        <p:nvSpPr>
          <p:cNvPr id="4" name="Shape 2"/>
          <p:cNvSpPr/>
          <p:nvPr/>
        </p:nvSpPr>
        <p:spPr>
          <a:xfrm>
            <a:off x="533400" y="1181100"/>
            <a:ext cx="3631883" cy="2190750"/>
          </a:xfrm>
          <a:prstGeom prst="roundRect">
            <a:avLst>
              <a:gd name="adj" fmla="val 2504"/>
            </a:avLst>
          </a:prstGeom>
          <a:solidFill>
            <a:srgbClr val="101D33"/>
          </a:solidFill>
          <a:ln w="9525">
            <a:solidFill>
              <a:srgbClr val="9AA8BE">
                <a:alpha val="16000"/>
              </a:srgbClr>
            </a:solidFill>
            <a:prstDash val="solid"/>
          </a:ln>
        </p:spPr>
      </p:sp>
      <p:sp>
        <p:nvSpPr>
          <p:cNvPr id="5" name="Shape 3"/>
          <p:cNvSpPr/>
          <p:nvPr/>
        </p:nvSpPr>
        <p:spPr>
          <a:xfrm>
            <a:off x="533400" y="1181100"/>
            <a:ext cx="3631883" cy="285750"/>
          </a:xfrm>
          <a:prstGeom prst="roundRect">
            <a:avLst>
              <a:gd name="adj" fmla="val 19200"/>
            </a:avLst>
          </a:prstGeom>
          <a:solidFill>
            <a:srgbClr val="FFFFFF">
              <a:alpha val="6000"/>
            </a:srgbClr>
          </a:solidFill>
          <a:ln/>
        </p:spPr>
      </p:sp>
      <p:sp>
        <p:nvSpPr>
          <p:cNvPr id="6" name="Text 4"/>
          <p:cNvSpPr txBox="1"/>
          <p:nvPr/>
        </p:nvSpPr>
        <p:spPr>
          <a:xfrm>
            <a:off x="638175" y="1181100"/>
            <a:ext cx="1905000" cy="285750"/>
          </a:xfrm>
          <a:prstGeom prst="rect">
            <a:avLst/>
          </a:prstGeom>
          <a:noFill/>
          <a:ln/>
        </p:spPr>
        <p:txBody>
          <a:bodyPr wrap="square" lIns="0" tIns="0" rIns="0" bIns="0" rtlCol="0" anchor="ctr"/>
          <a:lstStyle/>
          <a:p>
            <a:pPr marL="0" indent="0" algn="l">
              <a:buNone/>
            </a:pPr>
            <a:r>
              <a:rPr lang="en-US" sz="788" b="1" kern="0" spc="160" dirty="0">
                <a:solidFill>
                  <a:srgbClr val="FFFFFF"/>
                </a:solidFill>
                <a:latin typeface="Arial" pitchFamily="34" charset="0"/>
                <a:ea typeface="Arial" pitchFamily="34" charset="-122"/>
                <a:cs typeface="Arial" pitchFamily="34" charset="-120"/>
              </a:rPr>
              <a:t>RISK QUEUE</a:t>
            </a:r>
            <a:endParaRPr lang="en-US" sz="788" dirty="0"/>
          </a:p>
        </p:txBody>
      </p:sp>
      <p:sp>
        <p:nvSpPr>
          <p:cNvPr id="7" name="Text 5"/>
          <p:cNvSpPr txBox="1"/>
          <p:nvPr/>
        </p:nvSpPr>
        <p:spPr>
          <a:xfrm>
            <a:off x="2152650" y="1181100"/>
            <a:ext cx="1905000" cy="285750"/>
          </a:xfrm>
          <a:prstGeom prst="rect">
            <a:avLst/>
          </a:prstGeom>
          <a:noFill/>
          <a:ln/>
        </p:spPr>
        <p:txBody>
          <a:bodyPr wrap="square" lIns="0" tIns="0" rIns="0" bIns="0" rtlCol="0" anchor="ctr"/>
          <a:lstStyle/>
          <a:p>
            <a:pPr marL="0" indent="0" algn="r">
              <a:buNone/>
            </a:pPr>
            <a:r>
              <a:rPr lang="en-US" sz="638" dirty="0">
                <a:solidFill>
                  <a:srgbClr val="9AA8BE"/>
                </a:solidFill>
                <a:latin typeface="Consolas" pitchFamily="34" charset="0"/>
                <a:ea typeface="Consolas" pitchFamily="34" charset="-122"/>
                <a:cs typeface="Consolas" pitchFamily="34" charset="-120"/>
              </a:rPr>
              <a:t>SORTED BY SCORE</a:t>
            </a:r>
            <a:endParaRPr lang="en-US" sz="638" dirty="0"/>
          </a:p>
        </p:txBody>
      </p:sp>
      <p:sp>
        <p:nvSpPr>
          <p:cNvPr id="8" name="Text 6"/>
          <p:cNvSpPr txBox="1"/>
          <p:nvPr/>
        </p:nvSpPr>
        <p:spPr>
          <a:xfrm>
            <a:off x="533400" y="3105150"/>
            <a:ext cx="3631883" cy="190500"/>
          </a:xfrm>
          <a:prstGeom prst="rect">
            <a:avLst/>
          </a:prstGeom>
          <a:noFill/>
          <a:ln/>
        </p:spPr>
        <p:txBody>
          <a:bodyPr wrap="square" lIns="0" tIns="0" rIns="0" bIns="0" rtlCol="0" anchor="t"/>
          <a:lstStyle/>
          <a:p>
            <a:pPr marL="0" indent="0" algn="ctr">
              <a:buNone/>
            </a:pPr>
            <a:r>
              <a:rPr lang="en-US" sz="750" b="1" kern="0" spc="140" dirty="0">
                <a:solidFill>
                  <a:srgbClr val="9AA8BE"/>
                </a:solidFill>
                <a:latin typeface="Calibri" pitchFamily="34" charset="0"/>
                <a:ea typeface="Calibri" pitchFamily="34" charset="-122"/>
                <a:cs typeface="Calibri" pitchFamily="34" charset="-120"/>
              </a:rPr>
              <a:t>RANKED LEADS · COLOUR BANDS · FILTERS</a:t>
            </a:r>
            <a:endParaRPr lang="en-US" sz="750" dirty="0"/>
          </a:p>
        </p:txBody>
      </p:sp>
      <p:sp>
        <p:nvSpPr>
          <p:cNvPr id="9" name="Text 7"/>
          <p:cNvSpPr txBox="1"/>
          <p:nvPr/>
        </p:nvSpPr>
        <p:spPr>
          <a:xfrm>
            <a:off x="638175" y="1581150"/>
            <a:ext cx="952500" cy="171450"/>
          </a:xfrm>
          <a:prstGeom prst="rect">
            <a:avLst/>
          </a:prstGeom>
          <a:noFill/>
          <a:ln/>
        </p:spPr>
        <p:txBody>
          <a:bodyPr wrap="square" lIns="0" tIns="0" rIns="0" bIns="0" rtlCol="0" anchor="ctr"/>
          <a:lstStyle/>
          <a:p>
            <a:pPr marL="0" indent="0" algn="l">
              <a:buNone/>
            </a:pPr>
            <a:r>
              <a:rPr lang="en-US" sz="713" dirty="0">
                <a:solidFill>
                  <a:srgbClr val="C7D2E3"/>
                </a:solidFill>
                <a:latin typeface="Consolas" pitchFamily="34" charset="0"/>
                <a:ea typeface="Consolas" pitchFamily="34" charset="-122"/>
                <a:cs typeface="Consolas" pitchFamily="34" charset="-120"/>
              </a:rPr>
              <a:t>ACC-4471</a:t>
            </a:r>
            <a:endParaRPr lang="en-US" sz="713" dirty="0"/>
          </a:p>
        </p:txBody>
      </p:sp>
      <p:sp>
        <p:nvSpPr>
          <p:cNvPr id="10" name="Text 8"/>
          <p:cNvSpPr txBox="1"/>
          <p:nvPr/>
        </p:nvSpPr>
        <p:spPr>
          <a:xfrm>
            <a:off x="1971675" y="1581150"/>
            <a:ext cx="571500" cy="171450"/>
          </a:xfrm>
          <a:prstGeom prst="rect">
            <a:avLst/>
          </a:prstGeom>
          <a:noFill/>
          <a:ln/>
        </p:spPr>
        <p:txBody>
          <a:bodyPr wrap="square" lIns="0" tIns="0" rIns="0" bIns="0" rtlCol="0" anchor="ctr"/>
          <a:lstStyle/>
          <a:p>
            <a:pPr marL="0" indent="0" algn="l">
              <a:buNone/>
            </a:pPr>
            <a:r>
              <a:rPr lang="en-US" sz="713" b="1" dirty="0">
                <a:solidFill>
                  <a:srgbClr val="F87171"/>
                </a:solidFill>
                <a:latin typeface="Consolas" pitchFamily="34" charset="0"/>
                <a:ea typeface="Consolas" pitchFamily="34" charset="-122"/>
                <a:cs typeface="Consolas" pitchFamily="34" charset="-120"/>
              </a:rPr>
              <a:t>92.4</a:t>
            </a:r>
            <a:endParaRPr lang="en-US" sz="713" dirty="0"/>
          </a:p>
        </p:txBody>
      </p:sp>
      <p:sp>
        <p:nvSpPr>
          <p:cNvPr id="11" name="Shape 9"/>
          <p:cNvSpPr/>
          <p:nvPr/>
        </p:nvSpPr>
        <p:spPr>
          <a:xfrm>
            <a:off x="3400425" y="1581150"/>
            <a:ext cx="430530" cy="171450"/>
          </a:xfrm>
          <a:prstGeom prst="roundRect">
            <a:avLst>
              <a:gd name="adj" fmla="val 32000"/>
            </a:avLst>
          </a:prstGeom>
          <a:solidFill>
            <a:srgbClr val="DC2626">
              <a:alpha val="22000"/>
            </a:srgbClr>
          </a:solidFill>
          <a:ln w="9525">
            <a:solidFill>
              <a:srgbClr val="DC2626">
                <a:alpha val="45000"/>
              </a:srgbClr>
            </a:solidFill>
            <a:prstDash val="solid"/>
          </a:ln>
        </p:spPr>
      </p:sp>
      <p:sp>
        <p:nvSpPr>
          <p:cNvPr id="12" name="Text 10"/>
          <p:cNvSpPr txBox="1"/>
          <p:nvPr/>
        </p:nvSpPr>
        <p:spPr>
          <a:xfrm>
            <a:off x="3400425" y="1581150"/>
            <a:ext cx="430530" cy="171450"/>
          </a:xfrm>
          <a:prstGeom prst="rect">
            <a:avLst/>
          </a:prstGeom>
          <a:noFill/>
          <a:ln/>
        </p:spPr>
        <p:txBody>
          <a:bodyPr wrap="square" lIns="0" tIns="0" rIns="0" bIns="0" rtlCol="0" anchor="ctr"/>
          <a:lstStyle/>
          <a:p>
            <a:pPr marL="0" indent="0" algn="ctr">
              <a:buNone/>
            </a:pPr>
            <a:r>
              <a:rPr lang="en-US" sz="713" b="1" dirty="0">
                <a:solidFill>
                  <a:srgbClr val="F87171"/>
                </a:solidFill>
                <a:latin typeface="Consolas" pitchFamily="34" charset="0"/>
                <a:ea typeface="Consolas" pitchFamily="34" charset="-122"/>
                <a:cs typeface="Consolas" pitchFamily="34" charset="-120"/>
              </a:rPr>
              <a:t>HIGH</a:t>
            </a:r>
            <a:endParaRPr lang="en-US" sz="713" dirty="0"/>
          </a:p>
        </p:txBody>
      </p:sp>
      <p:sp>
        <p:nvSpPr>
          <p:cNvPr id="13" name="Text 11"/>
          <p:cNvSpPr txBox="1"/>
          <p:nvPr/>
        </p:nvSpPr>
        <p:spPr>
          <a:xfrm>
            <a:off x="638175" y="1866900"/>
            <a:ext cx="952500" cy="171450"/>
          </a:xfrm>
          <a:prstGeom prst="rect">
            <a:avLst/>
          </a:prstGeom>
          <a:noFill/>
          <a:ln/>
        </p:spPr>
        <p:txBody>
          <a:bodyPr wrap="square" lIns="0" tIns="0" rIns="0" bIns="0" rtlCol="0" anchor="ctr"/>
          <a:lstStyle/>
          <a:p>
            <a:pPr marL="0" indent="0" algn="l">
              <a:buNone/>
            </a:pPr>
            <a:r>
              <a:rPr lang="en-US" sz="713" dirty="0">
                <a:solidFill>
                  <a:srgbClr val="C7D2E3"/>
                </a:solidFill>
                <a:latin typeface="Consolas" pitchFamily="34" charset="0"/>
                <a:ea typeface="Consolas" pitchFamily="34" charset="-122"/>
                <a:cs typeface="Consolas" pitchFamily="34" charset="-120"/>
              </a:rPr>
              <a:t>ACC-1038</a:t>
            </a:r>
            <a:endParaRPr lang="en-US" sz="713" dirty="0"/>
          </a:p>
        </p:txBody>
      </p:sp>
      <p:sp>
        <p:nvSpPr>
          <p:cNvPr id="14" name="Text 12"/>
          <p:cNvSpPr txBox="1"/>
          <p:nvPr/>
        </p:nvSpPr>
        <p:spPr>
          <a:xfrm>
            <a:off x="1971675" y="1866900"/>
            <a:ext cx="571500" cy="171450"/>
          </a:xfrm>
          <a:prstGeom prst="rect">
            <a:avLst/>
          </a:prstGeom>
          <a:noFill/>
          <a:ln/>
        </p:spPr>
        <p:txBody>
          <a:bodyPr wrap="square" lIns="0" tIns="0" rIns="0" bIns="0" rtlCol="0" anchor="ctr"/>
          <a:lstStyle/>
          <a:p>
            <a:pPr marL="0" indent="0" algn="l">
              <a:buNone/>
            </a:pPr>
            <a:r>
              <a:rPr lang="en-US" sz="713" b="1" dirty="0">
                <a:solidFill>
                  <a:srgbClr val="F87171"/>
                </a:solidFill>
                <a:latin typeface="Consolas" pitchFamily="34" charset="0"/>
                <a:ea typeface="Consolas" pitchFamily="34" charset="-122"/>
                <a:cs typeface="Consolas" pitchFamily="34" charset="-120"/>
              </a:rPr>
              <a:t>88.1</a:t>
            </a:r>
            <a:endParaRPr lang="en-US" sz="713" dirty="0"/>
          </a:p>
        </p:txBody>
      </p:sp>
      <p:sp>
        <p:nvSpPr>
          <p:cNvPr id="15" name="Shape 13"/>
          <p:cNvSpPr/>
          <p:nvPr/>
        </p:nvSpPr>
        <p:spPr>
          <a:xfrm>
            <a:off x="3400425" y="1866900"/>
            <a:ext cx="430530" cy="171450"/>
          </a:xfrm>
          <a:prstGeom prst="roundRect">
            <a:avLst>
              <a:gd name="adj" fmla="val 32000"/>
            </a:avLst>
          </a:prstGeom>
          <a:solidFill>
            <a:srgbClr val="DC2626">
              <a:alpha val="22000"/>
            </a:srgbClr>
          </a:solidFill>
          <a:ln w="9525">
            <a:solidFill>
              <a:srgbClr val="DC2626">
                <a:alpha val="45000"/>
              </a:srgbClr>
            </a:solidFill>
            <a:prstDash val="solid"/>
          </a:ln>
        </p:spPr>
      </p:sp>
      <p:sp>
        <p:nvSpPr>
          <p:cNvPr id="16" name="Text 14"/>
          <p:cNvSpPr txBox="1"/>
          <p:nvPr/>
        </p:nvSpPr>
        <p:spPr>
          <a:xfrm>
            <a:off x="3400425" y="1866900"/>
            <a:ext cx="430530" cy="171450"/>
          </a:xfrm>
          <a:prstGeom prst="rect">
            <a:avLst/>
          </a:prstGeom>
          <a:noFill/>
          <a:ln/>
        </p:spPr>
        <p:txBody>
          <a:bodyPr wrap="square" lIns="0" tIns="0" rIns="0" bIns="0" rtlCol="0" anchor="ctr"/>
          <a:lstStyle/>
          <a:p>
            <a:pPr marL="0" indent="0" algn="ctr">
              <a:buNone/>
            </a:pPr>
            <a:r>
              <a:rPr lang="en-US" sz="713" b="1" dirty="0">
                <a:solidFill>
                  <a:srgbClr val="F87171"/>
                </a:solidFill>
                <a:latin typeface="Consolas" pitchFamily="34" charset="0"/>
                <a:ea typeface="Consolas" pitchFamily="34" charset="-122"/>
                <a:cs typeface="Consolas" pitchFamily="34" charset="-120"/>
              </a:rPr>
              <a:t>HIGH</a:t>
            </a:r>
            <a:endParaRPr lang="en-US" sz="713" dirty="0"/>
          </a:p>
        </p:txBody>
      </p:sp>
      <p:sp>
        <p:nvSpPr>
          <p:cNvPr id="17" name="Text 15"/>
          <p:cNvSpPr txBox="1"/>
          <p:nvPr/>
        </p:nvSpPr>
        <p:spPr>
          <a:xfrm>
            <a:off x="638175" y="2152650"/>
            <a:ext cx="952500" cy="171450"/>
          </a:xfrm>
          <a:prstGeom prst="rect">
            <a:avLst/>
          </a:prstGeom>
          <a:noFill/>
          <a:ln/>
        </p:spPr>
        <p:txBody>
          <a:bodyPr wrap="square" lIns="0" tIns="0" rIns="0" bIns="0" rtlCol="0" anchor="ctr"/>
          <a:lstStyle/>
          <a:p>
            <a:pPr marL="0" indent="0" algn="l">
              <a:buNone/>
            </a:pPr>
            <a:r>
              <a:rPr lang="en-US" sz="713" dirty="0">
                <a:solidFill>
                  <a:srgbClr val="C7D2E3"/>
                </a:solidFill>
                <a:latin typeface="Consolas" pitchFamily="34" charset="0"/>
                <a:ea typeface="Consolas" pitchFamily="34" charset="-122"/>
                <a:cs typeface="Consolas" pitchFamily="34" charset="-120"/>
              </a:rPr>
              <a:t>ACC-7723</a:t>
            </a:r>
            <a:endParaRPr lang="en-US" sz="713" dirty="0"/>
          </a:p>
        </p:txBody>
      </p:sp>
      <p:sp>
        <p:nvSpPr>
          <p:cNvPr id="18" name="Text 16"/>
          <p:cNvSpPr txBox="1"/>
          <p:nvPr/>
        </p:nvSpPr>
        <p:spPr>
          <a:xfrm>
            <a:off x="1971675" y="2152650"/>
            <a:ext cx="571500" cy="171450"/>
          </a:xfrm>
          <a:prstGeom prst="rect">
            <a:avLst/>
          </a:prstGeom>
          <a:noFill/>
          <a:ln/>
        </p:spPr>
        <p:txBody>
          <a:bodyPr wrap="square" lIns="0" tIns="0" rIns="0" bIns="0" rtlCol="0" anchor="ctr"/>
          <a:lstStyle/>
          <a:p>
            <a:pPr marL="0" indent="0" algn="l">
              <a:buNone/>
            </a:pPr>
            <a:r>
              <a:rPr lang="en-US" sz="713" b="1" dirty="0">
                <a:solidFill>
                  <a:srgbClr val="FBBF24"/>
                </a:solidFill>
                <a:latin typeface="Consolas" pitchFamily="34" charset="0"/>
                <a:ea typeface="Consolas" pitchFamily="34" charset="-122"/>
                <a:cs typeface="Consolas" pitchFamily="34" charset="-120"/>
              </a:rPr>
              <a:t>61.5</a:t>
            </a:r>
            <a:endParaRPr lang="en-US" sz="713" dirty="0"/>
          </a:p>
        </p:txBody>
      </p:sp>
      <p:sp>
        <p:nvSpPr>
          <p:cNvPr id="19" name="Shape 17"/>
          <p:cNvSpPr/>
          <p:nvPr/>
        </p:nvSpPr>
        <p:spPr>
          <a:xfrm>
            <a:off x="3400425" y="2152650"/>
            <a:ext cx="365760" cy="171450"/>
          </a:xfrm>
          <a:prstGeom prst="roundRect">
            <a:avLst>
              <a:gd name="adj" fmla="val 32000"/>
            </a:avLst>
          </a:prstGeom>
          <a:solidFill>
            <a:srgbClr val="D97706">
              <a:alpha val="22000"/>
            </a:srgbClr>
          </a:solidFill>
          <a:ln w="9525">
            <a:solidFill>
              <a:srgbClr val="D97706">
                <a:alpha val="45000"/>
              </a:srgbClr>
            </a:solidFill>
            <a:prstDash val="solid"/>
          </a:ln>
        </p:spPr>
      </p:sp>
      <p:sp>
        <p:nvSpPr>
          <p:cNvPr id="20" name="Text 18"/>
          <p:cNvSpPr txBox="1"/>
          <p:nvPr/>
        </p:nvSpPr>
        <p:spPr>
          <a:xfrm>
            <a:off x="3400425" y="2152650"/>
            <a:ext cx="365760" cy="171450"/>
          </a:xfrm>
          <a:prstGeom prst="rect">
            <a:avLst/>
          </a:prstGeom>
          <a:noFill/>
          <a:ln/>
        </p:spPr>
        <p:txBody>
          <a:bodyPr wrap="square" lIns="0" tIns="0" rIns="0" bIns="0" rtlCol="0" anchor="ctr"/>
          <a:lstStyle/>
          <a:p>
            <a:pPr marL="0" indent="0" algn="ctr">
              <a:buNone/>
            </a:pPr>
            <a:r>
              <a:rPr lang="en-US" sz="713" b="1" dirty="0">
                <a:solidFill>
                  <a:srgbClr val="FBBF24"/>
                </a:solidFill>
                <a:latin typeface="Consolas" pitchFamily="34" charset="0"/>
                <a:ea typeface="Consolas" pitchFamily="34" charset="-122"/>
                <a:cs typeface="Consolas" pitchFamily="34" charset="-120"/>
              </a:rPr>
              <a:t>MED</a:t>
            </a:r>
            <a:endParaRPr lang="en-US" sz="713" dirty="0"/>
          </a:p>
        </p:txBody>
      </p:sp>
      <p:sp>
        <p:nvSpPr>
          <p:cNvPr id="21" name="Text 19"/>
          <p:cNvSpPr txBox="1"/>
          <p:nvPr/>
        </p:nvSpPr>
        <p:spPr>
          <a:xfrm>
            <a:off x="638175" y="2438400"/>
            <a:ext cx="952500" cy="171450"/>
          </a:xfrm>
          <a:prstGeom prst="rect">
            <a:avLst/>
          </a:prstGeom>
          <a:noFill/>
          <a:ln/>
        </p:spPr>
        <p:txBody>
          <a:bodyPr wrap="square" lIns="0" tIns="0" rIns="0" bIns="0" rtlCol="0" anchor="ctr"/>
          <a:lstStyle/>
          <a:p>
            <a:pPr marL="0" indent="0" algn="l">
              <a:buNone/>
            </a:pPr>
            <a:r>
              <a:rPr lang="en-US" sz="713" dirty="0">
                <a:solidFill>
                  <a:srgbClr val="C7D2E3"/>
                </a:solidFill>
                <a:latin typeface="Consolas" pitchFamily="34" charset="0"/>
                <a:ea typeface="Consolas" pitchFamily="34" charset="-122"/>
                <a:cs typeface="Consolas" pitchFamily="34" charset="-120"/>
              </a:rPr>
              <a:t>ACC-2290</a:t>
            </a:r>
            <a:endParaRPr lang="en-US" sz="713" dirty="0"/>
          </a:p>
        </p:txBody>
      </p:sp>
      <p:sp>
        <p:nvSpPr>
          <p:cNvPr id="22" name="Text 20"/>
          <p:cNvSpPr txBox="1"/>
          <p:nvPr/>
        </p:nvSpPr>
        <p:spPr>
          <a:xfrm>
            <a:off x="1971675" y="2438400"/>
            <a:ext cx="571500" cy="171450"/>
          </a:xfrm>
          <a:prstGeom prst="rect">
            <a:avLst/>
          </a:prstGeom>
          <a:noFill/>
          <a:ln/>
        </p:spPr>
        <p:txBody>
          <a:bodyPr wrap="square" lIns="0" tIns="0" rIns="0" bIns="0" rtlCol="0" anchor="ctr"/>
          <a:lstStyle/>
          <a:p>
            <a:pPr marL="0" indent="0" algn="l">
              <a:buNone/>
            </a:pPr>
            <a:r>
              <a:rPr lang="en-US" sz="713" b="1" dirty="0">
                <a:solidFill>
                  <a:srgbClr val="FBBF24"/>
                </a:solidFill>
                <a:latin typeface="Consolas" pitchFamily="34" charset="0"/>
                <a:ea typeface="Consolas" pitchFamily="34" charset="-122"/>
                <a:cs typeface="Consolas" pitchFamily="34" charset="-120"/>
              </a:rPr>
              <a:t>47.2</a:t>
            </a:r>
            <a:endParaRPr lang="en-US" sz="713" dirty="0"/>
          </a:p>
        </p:txBody>
      </p:sp>
      <p:sp>
        <p:nvSpPr>
          <p:cNvPr id="23" name="Shape 21"/>
          <p:cNvSpPr/>
          <p:nvPr/>
        </p:nvSpPr>
        <p:spPr>
          <a:xfrm>
            <a:off x="3400425" y="2438400"/>
            <a:ext cx="365760" cy="171450"/>
          </a:xfrm>
          <a:prstGeom prst="roundRect">
            <a:avLst>
              <a:gd name="adj" fmla="val 32000"/>
            </a:avLst>
          </a:prstGeom>
          <a:solidFill>
            <a:srgbClr val="D97706">
              <a:alpha val="22000"/>
            </a:srgbClr>
          </a:solidFill>
          <a:ln w="9525">
            <a:solidFill>
              <a:srgbClr val="D97706">
                <a:alpha val="45000"/>
              </a:srgbClr>
            </a:solidFill>
            <a:prstDash val="solid"/>
          </a:ln>
        </p:spPr>
      </p:sp>
      <p:sp>
        <p:nvSpPr>
          <p:cNvPr id="24" name="Text 22"/>
          <p:cNvSpPr txBox="1"/>
          <p:nvPr/>
        </p:nvSpPr>
        <p:spPr>
          <a:xfrm>
            <a:off x="3400425" y="2438400"/>
            <a:ext cx="365760" cy="171450"/>
          </a:xfrm>
          <a:prstGeom prst="rect">
            <a:avLst/>
          </a:prstGeom>
          <a:noFill/>
          <a:ln/>
        </p:spPr>
        <p:txBody>
          <a:bodyPr wrap="square" lIns="0" tIns="0" rIns="0" bIns="0" rtlCol="0" anchor="ctr"/>
          <a:lstStyle/>
          <a:p>
            <a:pPr marL="0" indent="0" algn="ctr">
              <a:buNone/>
            </a:pPr>
            <a:r>
              <a:rPr lang="en-US" sz="713" b="1" dirty="0">
                <a:solidFill>
                  <a:srgbClr val="FBBF24"/>
                </a:solidFill>
                <a:latin typeface="Consolas" pitchFamily="34" charset="0"/>
                <a:ea typeface="Consolas" pitchFamily="34" charset="-122"/>
                <a:cs typeface="Consolas" pitchFamily="34" charset="-120"/>
              </a:rPr>
              <a:t>MED</a:t>
            </a:r>
            <a:endParaRPr lang="en-US" sz="713" dirty="0"/>
          </a:p>
        </p:txBody>
      </p:sp>
      <p:sp>
        <p:nvSpPr>
          <p:cNvPr id="25" name="Text 23"/>
          <p:cNvSpPr txBox="1"/>
          <p:nvPr/>
        </p:nvSpPr>
        <p:spPr>
          <a:xfrm>
            <a:off x="638175" y="2724150"/>
            <a:ext cx="952500" cy="171450"/>
          </a:xfrm>
          <a:prstGeom prst="rect">
            <a:avLst/>
          </a:prstGeom>
          <a:noFill/>
          <a:ln/>
        </p:spPr>
        <p:txBody>
          <a:bodyPr wrap="square" lIns="0" tIns="0" rIns="0" bIns="0" rtlCol="0" anchor="ctr"/>
          <a:lstStyle/>
          <a:p>
            <a:pPr marL="0" indent="0" algn="l">
              <a:buNone/>
            </a:pPr>
            <a:r>
              <a:rPr lang="en-US" sz="713" dirty="0">
                <a:solidFill>
                  <a:srgbClr val="C7D2E3"/>
                </a:solidFill>
                <a:latin typeface="Consolas" pitchFamily="34" charset="0"/>
                <a:ea typeface="Consolas" pitchFamily="34" charset="-122"/>
                <a:cs typeface="Consolas" pitchFamily="34" charset="-120"/>
              </a:rPr>
              <a:t>ACC-9154</a:t>
            </a:r>
            <a:endParaRPr lang="en-US" sz="713" dirty="0"/>
          </a:p>
        </p:txBody>
      </p:sp>
      <p:sp>
        <p:nvSpPr>
          <p:cNvPr id="26" name="Text 24"/>
          <p:cNvSpPr txBox="1"/>
          <p:nvPr/>
        </p:nvSpPr>
        <p:spPr>
          <a:xfrm>
            <a:off x="1971675" y="2724150"/>
            <a:ext cx="571500" cy="171450"/>
          </a:xfrm>
          <a:prstGeom prst="rect">
            <a:avLst/>
          </a:prstGeom>
          <a:noFill/>
          <a:ln/>
        </p:spPr>
        <p:txBody>
          <a:bodyPr wrap="square" lIns="0" tIns="0" rIns="0" bIns="0" rtlCol="0" anchor="ctr"/>
          <a:lstStyle/>
          <a:p>
            <a:pPr marL="0" indent="0" algn="l">
              <a:buNone/>
            </a:pPr>
            <a:r>
              <a:rPr lang="en-US" sz="713" b="1" dirty="0">
                <a:solidFill>
                  <a:srgbClr val="4ADE80"/>
                </a:solidFill>
                <a:latin typeface="Consolas" pitchFamily="34" charset="0"/>
                <a:ea typeface="Consolas" pitchFamily="34" charset="-122"/>
                <a:cs typeface="Consolas" pitchFamily="34" charset="-120"/>
              </a:rPr>
              <a:t>18.6</a:t>
            </a:r>
            <a:endParaRPr lang="en-US" sz="713" dirty="0"/>
          </a:p>
        </p:txBody>
      </p:sp>
      <p:sp>
        <p:nvSpPr>
          <p:cNvPr id="27" name="Shape 25"/>
          <p:cNvSpPr/>
          <p:nvPr/>
        </p:nvSpPr>
        <p:spPr>
          <a:xfrm>
            <a:off x="3400425" y="2724150"/>
            <a:ext cx="365760" cy="171450"/>
          </a:xfrm>
          <a:prstGeom prst="roundRect">
            <a:avLst>
              <a:gd name="adj" fmla="val 32000"/>
            </a:avLst>
          </a:prstGeom>
          <a:solidFill>
            <a:srgbClr val="15803D">
              <a:alpha val="22000"/>
            </a:srgbClr>
          </a:solidFill>
          <a:ln w="9525">
            <a:solidFill>
              <a:srgbClr val="15803D">
                <a:alpha val="45000"/>
              </a:srgbClr>
            </a:solidFill>
            <a:prstDash val="solid"/>
          </a:ln>
        </p:spPr>
      </p:sp>
      <p:sp>
        <p:nvSpPr>
          <p:cNvPr id="28" name="Text 26"/>
          <p:cNvSpPr txBox="1"/>
          <p:nvPr/>
        </p:nvSpPr>
        <p:spPr>
          <a:xfrm>
            <a:off x="3400425" y="2724150"/>
            <a:ext cx="365760" cy="171450"/>
          </a:xfrm>
          <a:prstGeom prst="rect">
            <a:avLst/>
          </a:prstGeom>
          <a:noFill/>
          <a:ln/>
        </p:spPr>
        <p:txBody>
          <a:bodyPr wrap="square" lIns="0" tIns="0" rIns="0" bIns="0" rtlCol="0" anchor="ctr"/>
          <a:lstStyle/>
          <a:p>
            <a:pPr marL="0" indent="0" algn="ctr">
              <a:buNone/>
            </a:pPr>
            <a:r>
              <a:rPr lang="en-US" sz="713" b="1" dirty="0">
                <a:solidFill>
                  <a:srgbClr val="4ADE80"/>
                </a:solidFill>
                <a:latin typeface="Consolas" pitchFamily="34" charset="0"/>
                <a:ea typeface="Consolas" pitchFamily="34" charset="-122"/>
                <a:cs typeface="Consolas" pitchFamily="34" charset="-120"/>
              </a:rPr>
              <a:t>LOW</a:t>
            </a:r>
            <a:endParaRPr lang="en-US" sz="713" dirty="0"/>
          </a:p>
        </p:txBody>
      </p:sp>
      <p:sp>
        <p:nvSpPr>
          <p:cNvPr id="29" name="Shape 27"/>
          <p:cNvSpPr/>
          <p:nvPr/>
        </p:nvSpPr>
        <p:spPr>
          <a:xfrm>
            <a:off x="4279583" y="1181100"/>
            <a:ext cx="3631883" cy="2190750"/>
          </a:xfrm>
          <a:prstGeom prst="roundRect">
            <a:avLst>
              <a:gd name="adj" fmla="val 2504"/>
            </a:avLst>
          </a:prstGeom>
          <a:solidFill>
            <a:srgbClr val="101D33"/>
          </a:solidFill>
          <a:ln w="9525">
            <a:solidFill>
              <a:srgbClr val="9AA8BE">
                <a:alpha val="16000"/>
              </a:srgbClr>
            </a:solidFill>
            <a:prstDash val="solid"/>
          </a:ln>
        </p:spPr>
      </p:sp>
      <p:sp>
        <p:nvSpPr>
          <p:cNvPr id="30" name="Shape 28"/>
          <p:cNvSpPr/>
          <p:nvPr/>
        </p:nvSpPr>
        <p:spPr>
          <a:xfrm>
            <a:off x="4279583" y="1181100"/>
            <a:ext cx="3631883" cy="285750"/>
          </a:xfrm>
          <a:prstGeom prst="roundRect">
            <a:avLst>
              <a:gd name="adj" fmla="val 19200"/>
            </a:avLst>
          </a:prstGeom>
          <a:solidFill>
            <a:srgbClr val="FFFFFF">
              <a:alpha val="6000"/>
            </a:srgbClr>
          </a:solidFill>
          <a:ln/>
        </p:spPr>
      </p:sp>
      <p:sp>
        <p:nvSpPr>
          <p:cNvPr id="31" name="Text 29"/>
          <p:cNvSpPr txBox="1"/>
          <p:nvPr/>
        </p:nvSpPr>
        <p:spPr>
          <a:xfrm>
            <a:off x="4384358" y="1181100"/>
            <a:ext cx="1905000" cy="285750"/>
          </a:xfrm>
          <a:prstGeom prst="rect">
            <a:avLst/>
          </a:prstGeom>
          <a:noFill/>
          <a:ln/>
        </p:spPr>
        <p:txBody>
          <a:bodyPr wrap="square" lIns="0" tIns="0" rIns="0" bIns="0" rtlCol="0" anchor="ctr"/>
          <a:lstStyle/>
          <a:p>
            <a:pPr marL="0" indent="0" algn="l">
              <a:buNone/>
            </a:pPr>
            <a:r>
              <a:rPr lang="en-US" sz="788" b="1" kern="0" spc="160" dirty="0">
                <a:solidFill>
                  <a:srgbClr val="FFFFFF"/>
                </a:solidFill>
                <a:latin typeface="Arial" pitchFamily="34" charset="0"/>
                <a:ea typeface="Arial" pitchFamily="34" charset="-122"/>
                <a:cs typeface="Arial" pitchFamily="34" charset="-120"/>
              </a:rPr>
              <a:t>ACCOUNT PROFILE</a:t>
            </a:r>
            <a:endParaRPr lang="en-US" sz="788" dirty="0"/>
          </a:p>
        </p:txBody>
      </p:sp>
      <p:sp>
        <p:nvSpPr>
          <p:cNvPr id="32" name="Text 30"/>
          <p:cNvSpPr txBox="1"/>
          <p:nvPr/>
        </p:nvSpPr>
        <p:spPr>
          <a:xfrm>
            <a:off x="5898832" y="1181100"/>
            <a:ext cx="1905000" cy="285750"/>
          </a:xfrm>
          <a:prstGeom prst="rect">
            <a:avLst/>
          </a:prstGeom>
          <a:noFill/>
          <a:ln/>
        </p:spPr>
        <p:txBody>
          <a:bodyPr wrap="square" lIns="0" tIns="0" rIns="0" bIns="0" rtlCol="0" anchor="ctr"/>
          <a:lstStyle/>
          <a:p>
            <a:pPr marL="0" indent="0" algn="r">
              <a:buNone/>
            </a:pPr>
            <a:r>
              <a:rPr lang="en-US" sz="638" dirty="0">
                <a:solidFill>
                  <a:srgbClr val="9AA8BE"/>
                </a:solidFill>
                <a:latin typeface="Consolas" pitchFamily="34" charset="0"/>
                <a:ea typeface="Consolas" pitchFamily="34" charset="-122"/>
                <a:cs typeface="Consolas" pitchFamily="34" charset="-120"/>
              </a:rPr>
              <a:t>SHAP REASONS</a:t>
            </a:r>
            <a:endParaRPr lang="en-US" sz="638" dirty="0"/>
          </a:p>
        </p:txBody>
      </p:sp>
      <p:sp>
        <p:nvSpPr>
          <p:cNvPr id="33" name="Text 31"/>
          <p:cNvSpPr txBox="1"/>
          <p:nvPr/>
        </p:nvSpPr>
        <p:spPr>
          <a:xfrm>
            <a:off x="4279583" y="3105150"/>
            <a:ext cx="3631883" cy="190500"/>
          </a:xfrm>
          <a:prstGeom prst="rect">
            <a:avLst/>
          </a:prstGeom>
          <a:noFill/>
          <a:ln/>
        </p:spPr>
        <p:txBody>
          <a:bodyPr wrap="square" lIns="0" tIns="0" rIns="0" bIns="0" rtlCol="0" anchor="t"/>
          <a:lstStyle/>
          <a:p>
            <a:pPr marL="0" indent="0" algn="ctr">
              <a:buNone/>
            </a:pPr>
            <a:r>
              <a:rPr lang="en-US" sz="750" b="1" kern="0" spc="140" dirty="0">
                <a:solidFill>
                  <a:srgbClr val="9AA8BE"/>
                </a:solidFill>
                <a:latin typeface="Calibri" pitchFamily="34" charset="0"/>
                <a:ea typeface="Calibri" pitchFamily="34" charset="-122"/>
                <a:cs typeface="Calibri" pitchFamily="34" charset="-120"/>
              </a:rPr>
              <a:t>EXPLAINABLE RISK INDICATORS</a:t>
            </a:r>
            <a:endParaRPr lang="en-US" sz="750" dirty="0"/>
          </a:p>
        </p:txBody>
      </p:sp>
      <p:sp>
        <p:nvSpPr>
          <p:cNvPr id="34" name="Shape 32"/>
          <p:cNvSpPr/>
          <p:nvPr/>
        </p:nvSpPr>
        <p:spPr>
          <a:xfrm>
            <a:off x="4384358" y="1581150"/>
            <a:ext cx="285750" cy="285750"/>
          </a:xfrm>
          <a:prstGeom prst="ellipse">
            <a:avLst/>
          </a:prstGeom>
          <a:solidFill>
            <a:srgbClr val="F5C542">
              <a:alpha val="20000"/>
            </a:srgbClr>
          </a:solidFill>
          <a:ln w="12700">
            <a:solidFill>
              <a:srgbClr val="F5C542"/>
            </a:solidFill>
            <a:prstDash val="solid"/>
          </a:ln>
        </p:spPr>
      </p:sp>
      <p:sp>
        <p:nvSpPr>
          <p:cNvPr id="35" name="Text 33"/>
          <p:cNvSpPr txBox="1"/>
          <p:nvPr/>
        </p:nvSpPr>
        <p:spPr>
          <a:xfrm>
            <a:off x="4384358" y="1581150"/>
            <a:ext cx="285750" cy="285750"/>
          </a:xfrm>
          <a:prstGeom prst="rect">
            <a:avLst/>
          </a:prstGeom>
          <a:noFill/>
          <a:ln/>
        </p:spPr>
        <p:txBody>
          <a:bodyPr wrap="square" lIns="0" tIns="0" rIns="0" bIns="0" rtlCol="0" anchor="ctr"/>
          <a:lstStyle/>
          <a:p>
            <a:pPr marL="0" indent="0" algn="ctr">
              <a:buNone/>
            </a:pPr>
            <a:r>
              <a:rPr lang="en-US" sz="675" b="1" dirty="0">
                <a:solidFill>
                  <a:srgbClr val="F5C542"/>
                </a:solidFill>
                <a:latin typeface="Consolas" pitchFamily="34" charset="0"/>
                <a:ea typeface="Consolas" pitchFamily="34" charset="-122"/>
                <a:cs typeface="Consolas" pitchFamily="34" charset="-120"/>
              </a:rPr>
              <a:t>4471</a:t>
            </a:r>
            <a:endParaRPr lang="en-US" sz="675" dirty="0"/>
          </a:p>
        </p:txBody>
      </p:sp>
      <p:sp>
        <p:nvSpPr>
          <p:cNvPr id="36" name="Text 34"/>
          <p:cNvSpPr txBox="1"/>
          <p:nvPr/>
        </p:nvSpPr>
        <p:spPr>
          <a:xfrm>
            <a:off x="4765358" y="1581150"/>
            <a:ext cx="1333500" cy="152400"/>
          </a:xfrm>
          <a:prstGeom prst="rect">
            <a:avLst/>
          </a:prstGeom>
          <a:noFill/>
          <a:ln/>
        </p:spPr>
        <p:txBody>
          <a:bodyPr wrap="square" lIns="0" tIns="0" rIns="0" bIns="0" rtlCol="0" anchor="t"/>
          <a:lstStyle/>
          <a:p>
            <a:pPr marL="0" indent="0" algn="l">
              <a:buNone/>
            </a:pPr>
            <a:r>
              <a:rPr lang="en-US" sz="713" b="1" dirty="0">
                <a:solidFill>
                  <a:srgbClr val="FFFFFF"/>
                </a:solidFill>
                <a:latin typeface="Consolas" pitchFamily="34" charset="0"/>
                <a:ea typeface="Consolas" pitchFamily="34" charset="-122"/>
                <a:cs typeface="Consolas" pitchFamily="34" charset="-120"/>
              </a:rPr>
              <a:t>ACC-4471</a:t>
            </a:r>
            <a:endParaRPr lang="en-US" sz="713" dirty="0"/>
          </a:p>
        </p:txBody>
      </p:sp>
      <p:sp>
        <p:nvSpPr>
          <p:cNvPr id="37" name="Text 35"/>
          <p:cNvSpPr txBox="1"/>
          <p:nvPr/>
        </p:nvSpPr>
        <p:spPr>
          <a:xfrm>
            <a:off x="4765358" y="1733550"/>
            <a:ext cx="1333500" cy="114300"/>
          </a:xfrm>
          <a:prstGeom prst="rect">
            <a:avLst/>
          </a:prstGeom>
          <a:noFill/>
          <a:ln/>
        </p:spPr>
        <p:txBody>
          <a:bodyPr wrap="square" lIns="0" tIns="0" rIns="0" bIns="0" rtlCol="0" anchor="t"/>
          <a:lstStyle/>
          <a:p>
            <a:pPr marL="0" indent="0" algn="l">
              <a:buNone/>
            </a:pPr>
            <a:r>
              <a:rPr lang="en-US" sz="638" dirty="0">
                <a:solidFill>
                  <a:srgbClr val="9AA8BE"/>
                </a:solidFill>
                <a:latin typeface="Consolas" pitchFamily="34" charset="0"/>
                <a:ea typeface="Consolas" pitchFamily="34" charset="-122"/>
                <a:cs typeface="Consolas" pitchFamily="34" charset="-120"/>
              </a:rPr>
              <a:t>opened 2024-03-11</a:t>
            </a:r>
            <a:endParaRPr lang="en-US" sz="638" dirty="0"/>
          </a:p>
        </p:txBody>
      </p:sp>
      <p:sp>
        <p:nvSpPr>
          <p:cNvPr id="38" name="Text 36"/>
          <p:cNvSpPr txBox="1"/>
          <p:nvPr/>
        </p:nvSpPr>
        <p:spPr>
          <a:xfrm>
            <a:off x="6765608" y="1543050"/>
            <a:ext cx="952500" cy="323850"/>
          </a:xfrm>
          <a:prstGeom prst="rect">
            <a:avLst/>
          </a:prstGeom>
          <a:noFill/>
          <a:ln/>
        </p:spPr>
        <p:txBody>
          <a:bodyPr wrap="square" lIns="0" tIns="0" rIns="0" bIns="0" rtlCol="0" anchor="t"/>
          <a:lstStyle/>
          <a:p>
            <a:pPr marL="0" indent="0" algn="r">
              <a:buNone/>
            </a:pPr>
            <a:r>
              <a:rPr lang="en-US" sz="1425" b="1" dirty="0">
                <a:solidFill>
                  <a:srgbClr val="F87171"/>
                </a:solidFill>
                <a:latin typeface="Consolas" pitchFamily="34" charset="0"/>
                <a:ea typeface="Consolas" pitchFamily="34" charset="-122"/>
                <a:cs typeface="Consolas" pitchFamily="34" charset="-120"/>
              </a:rPr>
              <a:t>92.4</a:t>
            </a:r>
            <a:endParaRPr lang="en-US" sz="1425" dirty="0"/>
          </a:p>
        </p:txBody>
      </p:sp>
      <p:sp>
        <p:nvSpPr>
          <p:cNvPr id="39" name="Shape 37"/>
          <p:cNvSpPr/>
          <p:nvPr/>
        </p:nvSpPr>
        <p:spPr>
          <a:xfrm>
            <a:off x="4384358" y="1981200"/>
            <a:ext cx="948690" cy="171450"/>
          </a:xfrm>
          <a:prstGeom prst="roundRect">
            <a:avLst>
              <a:gd name="adj" fmla="val 32000"/>
            </a:avLst>
          </a:prstGeom>
          <a:solidFill>
            <a:srgbClr val="DC2626">
              <a:alpha val="22000"/>
            </a:srgbClr>
          </a:solidFill>
          <a:ln w="9525">
            <a:solidFill>
              <a:srgbClr val="DC2626">
                <a:alpha val="45000"/>
              </a:srgbClr>
            </a:solidFill>
            <a:prstDash val="solid"/>
          </a:ln>
        </p:spPr>
      </p:sp>
      <p:sp>
        <p:nvSpPr>
          <p:cNvPr id="40" name="Text 38"/>
          <p:cNvSpPr txBox="1"/>
          <p:nvPr/>
        </p:nvSpPr>
        <p:spPr>
          <a:xfrm>
            <a:off x="4384358" y="1981200"/>
            <a:ext cx="948690" cy="171450"/>
          </a:xfrm>
          <a:prstGeom prst="rect">
            <a:avLst/>
          </a:prstGeom>
          <a:noFill/>
          <a:ln/>
        </p:spPr>
        <p:txBody>
          <a:bodyPr wrap="square" lIns="0" tIns="0" rIns="0" bIns="0" rtlCol="0" anchor="ctr"/>
          <a:lstStyle/>
          <a:p>
            <a:pPr marL="0" indent="0" algn="ctr">
              <a:buNone/>
            </a:pPr>
            <a:r>
              <a:rPr lang="en-US" sz="713" b="1" dirty="0">
                <a:solidFill>
                  <a:srgbClr val="F87171"/>
                </a:solidFill>
                <a:latin typeface="Consolas" pitchFamily="34" charset="0"/>
                <a:ea typeface="Consolas" pitchFamily="34" charset="-122"/>
                <a:cs typeface="Consolas" pitchFamily="34" charset="-120"/>
              </a:rPr>
              <a:t>fan_in +2.41</a:t>
            </a:r>
            <a:endParaRPr lang="en-US" sz="713" dirty="0"/>
          </a:p>
        </p:txBody>
      </p:sp>
      <p:sp>
        <p:nvSpPr>
          <p:cNvPr id="41" name="Shape 39"/>
          <p:cNvSpPr/>
          <p:nvPr/>
        </p:nvSpPr>
        <p:spPr>
          <a:xfrm>
            <a:off x="5380672" y="1981200"/>
            <a:ext cx="1078230" cy="171450"/>
          </a:xfrm>
          <a:prstGeom prst="roundRect">
            <a:avLst>
              <a:gd name="adj" fmla="val 32000"/>
            </a:avLst>
          </a:prstGeom>
          <a:solidFill>
            <a:srgbClr val="DC2626">
              <a:alpha val="22000"/>
            </a:srgbClr>
          </a:solidFill>
          <a:ln w="9525">
            <a:solidFill>
              <a:srgbClr val="DC2626">
                <a:alpha val="45000"/>
              </a:srgbClr>
            </a:solidFill>
            <a:prstDash val="solid"/>
          </a:ln>
        </p:spPr>
      </p:sp>
      <p:sp>
        <p:nvSpPr>
          <p:cNvPr id="42" name="Text 40"/>
          <p:cNvSpPr txBox="1"/>
          <p:nvPr/>
        </p:nvSpPr>
        <p:spPr>
          <a:xfrm>
            <a:off x="5380672" y="1981200"/>
            <a:ext cx="1078230" cy="171450"/>
          </a:xfrm>
          <a:prstGeom prst="rect">
            <a:avLst/>
          </a:prstGeom>
          <a:noFill/>
          <a:ln/>
        </p:spPr>
        <p:txBody>
          <a:bodyPr wrap="square" lIns="0" tIns="0" rIns="0" bIns="0" rtlCol="0" anchor="ctr"/>
          <a:lstStyle/>
          <a:p>
            <a:pPr marL="0" indent="0" algn="ctr">
              <a:buNone/>
            </a:pPr>
            <a:r>
              <a:rPr lang="en-US" sz="713" b="1" dirty="0">
                <a:solidFill>
                  <a:srgbClr val="F87171"/>
                </a:solidFill>
                <a:latin typeface="Consolas" pitchFamily="34" charset="0"/>
                <a:ea typeface="Consolas" pitchFamily="34" charset="-122"/>
                <a:cs typeface="Consolas" pitchFamily="34" charset="-120"/>
              </a:rPr>
              <a:t>passthru +1.87</a:t>
            </a:r>
            <a:endParaRPr lang="en-US" sz="713" dirty="0"/>
          </a:p>
        </p:txBody>
      </p:sp>
      <p:sp>
        <p:nvSpPr>
          <p:cNvPr id="43" name="Shape 41"/>
          <p:cNvSpPr/>
          <p:nvPr/>
        </p:nvSpPr>
        <p:spPr>
          <a:xfrm>
            <a:off x="6506528" y="1981200"/>
            <a:ext cx="754380" cy="171450"/>
          </a:xfrm>
          <a:prstGeom prst="roundRect">
            <a:avLst>
              <a:gd name="adj" fmla="val 32000"/>
            </a:avLst>
          </a:prstGeom>
          <a:solidFill>
            <a:srgbClr val="15803D">
              <a:alpha val="22000"/>
            </a:srgbClr>
          </a:solidFill>
          <a:ln w="9525">
            <a:solidFill>
              <a:srgbClr val="15803D">
                <a:alpha val="45000"/>
              </a:srgbClr>
            </a:solidFill>
            <a:prstDash val="solid"/>
          </a:ln>
        </p:spPr>
      </p:sp>
      <p:sp>
        <p:nvSpPr>
          <p:cNvPr id="44" name="Text 42"/>
          <p:cNvSpPr txBox="1"/>
          <p:nvPr/>
        </p:nvSpPr>
        <p:spPr>
          <a:xfrm>
            <a:off x="6506528" y="1981200"/>
            <a:ext cx="754380" cy="171450"/>
          </a:xfrm>
          <a:prstGeom prst="rect">
            <a:avLst/>
          </a:prstGeom>
          <a:noFill/>
          <a:ln/>
        </p:spPr>
        <p:txBody>
          <a:bodyPr wrap="square" lIns="0" tIns="0" rIns="0" bIns="0" rtlCol="0" anchor="ctr"/>
          <a:lstStyle/>
          <a:p>
            <a:pPr marL="0" indent="0" algn="ctr">
              <a:buNone/>
            </a:pPr>
            <a:r>
              <a:rPr lang="en-US" sz="713" b="1" dirty="0">
                <a:solidFill>
                  <a:srgbClr val="4ADE80"/>
                </a:solidFill>
                <a:latin typeface="Consolas" pitchFamily="34" charset="0"/>
                <a:ea typeface="Consolas" pitchFamily="34" charset="-122"/>
                <a:cs typeface="Consolas" pitchFamily="34" charset="-120"/>
              </a:rPr>
              <a:t>age −0.34</a:t>
            </a:r>
            <a:endParaRPr lang="en-US" sz="713" dirty="0"/>
          </a:p>
        </p:txBody>
      </p:sp>
      <p:sp>
        <p:nvSpPr>
          <p:cNvPr id="45" name="Text 43"/>
          <p:cNvSpPr txBox="1"/>
          <p:nvPr/>
        </p:nvSpPr>
        <p:spPr>
          <a:xfrm>
            <a:off x="4384358" y="2305050"/>
            <a:ext cx="952500" cy="152400"/>
          </a:xfrm>
          <a:prstGeom prst="rect">
            <a:avLst/>
          </a:prstGeom>
          <a:noFill/>
          <a:ln/>
        </p:spPr>
        <p:txBody>
          <a:bodyPr wrap="square" lIns="0" tIns="0" rIns="0" bIns="0" rtlCol="0" anchor="t"/>
          <a:lstStyle/>
          <a:p>
            <a:pPr marL="0" indent="0" algn="l">
              <a:buNone/>
            </a:pPr>
            <a:r>
              <a:rPr lang="en-US" sz="713" dirty="0">
                <a:solidFill>
                  <a:srgbClr val="9AA8BE"/>
                </a:solidFill>
                <a:latin typeface="Consolas" pitchFamily="34" charset="0"/>
                <a:ea typeface="Consolas" pitchFamily="34" charset="-122"/>
                <a:cs typeface="Consolas" pitchFamily="34" charset="-120"/>
              </a:rPr>
              <a:t>inflow</a:t>
            </a:r>
            <a:endParaRPr lang="en-US" sz="713" dirty="0"/>
          </a:p>
        </p:txBody>
      </p:sp>
      <p:sp>
        <p:nvSpPr>
          <p:cNvPr id="46" name="Text 44"/>
          <p:cNvSpPr txBox="1"/>
          <p:nvPr/>
        </p:nvSpPr>
        <p:spPr>
          <a:xfrm>
            <a:off x="6289358" y="2305050"/>
            <a:ext cx="1428750" cy="152400"/>
          </a:xfrm>
          <a:prstGeom prst="rect">
            <a:avLst/>
          </a:prstGeom>
          <a:noFill/>
          <a:ln/>
        </p:spPr>
        <p:txBody>
          <a:bodyPr wrap="square" lIns="0" tIns="0" rIns="0" bIns="0" rtlCol="0" anchor="t"/>
          <a:lstStyle/>
          <a:p>
            <a:pPr marL="0" indent="0" algn="r">
              <a:buNone/>
            </a:pPr>
            <a:r>
              <a:rPr lang="en-US" sz="713" b="1" dirty="0">
                <a:solidFill>
                  <a:srgbClr val="FFFFFF"/>
                </a:solidFill>
                <a:latin typeface="Consolas" pitchFamily="34" charset="0"/>
                <a:ea typeface="Consolas" pitchFamily="34" charset="-122"/>
                <a:cs typeface="Consolas" pitchFamily="34" charset="-120"/>
              </a:rPr>
              <a:t>₹ 18,42,000</a:t>
            </a:r>
            <a:endParaRPr lang="en-US" sz="713" dirty="0"/>
          </a:p>
        </p:txBody>
      </p:sp>
      <p:sp>
        <p:nvSpPr>
          <p:cNvPr id="47" name="Text 45"/>
          <p:cNvSpPr txBox="1"/>
          <p:nvPr/>
        </p:nvSpPr>
        <p:spPr>
          <a:xfrm>
            <a:off x="4384358" y="2552700"/>
            <a:ext cx="952500" cy="152400"/>
          </a:xfrm>
          <a:prstGeom prst="rect">
            <a:avLst/>
          </a:prstGeom>
          <a:noFill/>
          <a:ln/>
        </p:spPr>
        <p:txBody>
          <a:bodyPr wrap="square" lIns="0" tIns="0" rIns="0" bIns="0" rtlCol="0" anchor="t"/>
          <a:lstStyle/>
          <a:p>
            <a:pPr marL="0" indent="0" algn="l">
              <a:buNone/>
            </a:pPr>
            <a:r>
              <a:rPr lang="en-US" sz="713" dirty="0">
                <a:solidFill>
                  <a:srgbClr val="9AA8BE"/>
                </a:solidFill>
                <a:latin typeface="Consolas" pitchFamily="34" charset="0"/>
                <a:ea typeface="Consolas" pitchFamily="34" charset="-122"/>
                <a:cs typeface="Consolas" pitchFamily="34" charset="-120"/>
              </a:rPr>
              <a:t>outflow</a:t>
            </a:r>
            <a:endParaRPr lang="en-US" sz="713" dirty="0"/>
          </a:p>
        </p:txBody>
      </p:sp>
      <p:sp>
        <p:nvSpPr>
          <p:cNvPr id="48" name="Text 46"/>
          <p:cNvSpPr txBox="1"/>
          <p:nvPr/>
        </p:nvSpPr>
        <p:spPr>
          <a:xfrm>
            <a:off x="6289358" y="2552700"/>
            <a:ext cx="1428750" cy="152400"/>
          </a:xfrm>
          <a:prstGeom prst="rect">
            <a:avLst/>
          </a:prstGeom>
          <a:noFill/>
          <a:ln/>
        </p:spPr>
        <p:txBody>
          <a:bodyPr wrap="square" lIns="0" tIns="0" rIns="0" bIns="0" rtlCol="0" anchor="t"/>
          <a:lstStyle/>
          <a:p>
            <a:pPr marL="0" indent="0" algn="r">
              <a:buNone/>
            </a:pPr>
            <a:r>
              <a:rPr lang="en-US" sz="713" b="1" dirty="0">
                <a:solidFill>
                  <a:srgbClr val="FFFFFF"/>
                </a:solidFill>
                <a:latin typeface="Consolas" pitchFamily="34" charset="0"/>
                <a:ea typeface="Consolas" pitchFamily="34" charset="-122"/>
                <a:cs typeface="Consolas" pitchFamily="34" charset="-120"/>
              </a:rPr>
              <a:t>₹ 17,96,500</a:t>
            </a:r>
            <a:endParaRPr lang="en-US" sz="713" dirty="0"/>
          </a:p>
        </p:txBody>
      </p:sp>
      <p:sp>
        <p:nvSpPr>
          <p:cNvPr id="49" name="Shape 47"/>
          <p:cNvSpPr/>
          <p:nvPr/>
        </p:nvSpPr>
        <p:spPr>
          <a:xfrm>
            <a:off x="8025765" y="1181100"/>
            <a:ext cx="3631883" cy="2190750"/>
          </a:xfrm>
          <a:prstGeom prst="roundRect">
            <a:avLst>
              <a:gd name="adj" fmla="val 2504"/>
            </a:avLst>
          </a:prstGeom>
          <a:solidFill>
            <a:srgbClr val="101D33"/>
          </a:solidFill>
          <a:ln w="9525">
            <a:solidFill>
              <a:srgbClr val="9AA8BE">
                <a:alpha val="16000"/>
              </a:srgbClr>
            </a:solidFill>
            <a:prstDash val="solid"/>
          </a:ln>
        </p:spPr>
      </p:sp>
      <p:sp>
        <p:nvSpPr>
          <p:cNvPr id="50" name="Shape 48"/>
          <p:cNvSpPr/>
          <p:nvPr/>
        </p:nvSpPr>
        <p:spPr>
          <a:xfrm>
            <a:off x="8025765" y="1181100"/>
            <a:ext cx="3631883" cy="285750"/>
          </a:xfrm>
          <a:prstGeom prst="roundRect">
            <a:avLst>
              <a:gd name="adj" fmla="val 19200"/>
            </a:avLst>
          </a:prstGeom>
          <a:solidFill>
            <a:srgbClr val="FFFFFF">
              <a:alpha val="6000"/>
            </a:srgbClr>
          </a:solidFill>
          <a:ln/>
        </p:spPr>
      </p:sp>
      <p:sp>
        <p:nvSpPr>
          <p:cNvPr id="51" name="Text 49"/>
          <p:cNvSpPr txBox="1"/>
          <p:nvPr/>
        </p:nvSpPr>
        <p:spPr>
          <a:xfrm>
            <a:off x="8130540" y="1181100"/>
            <a:ext cx="1905000" cy="285750"/>
          </a:xfrm>
          <a:prstGeom prst="rect">
            <a:avLst/>
          </a:prstGeom>
          <a:noFill/>
          <a:ln/>
        </p:spPr>
        <p:txBody>
          <a:bodyPr wrap="square" lIns="0" tIns="0" rIns="0" bIns="0" rtlCol="0" anchor="ctr"/>
          <a:lstStyle/>
          <a:p>
            <a:pPr marL="0" indent="0" algn="l">
              <a:buNone/>
            </a:pPr>
            <a:r>
              <a:rPr lang="en-US" sz="788" b="1" kern="0" spc="160" dirty="0">
                <a:solidFill>
                  <a:srgbClr val="FFFFFF"/>
                </a:solidFill>
                <a:latin typeface="Arial" pitchFamily="34" charset="0"/>
                <a:ea typeface="Arial" pitchFamily="34" charset="-122"/>
                <a:cs typeface="Arial" pitchFamily="34" charset="-120"/>
              </a:rPr>
              <a:t>MONEY TRAIL</a:t>
            </a:r>
            <a:endParaRPr lang="en-US" sz="788" dirty="0"/>
          </a:p>
        </p:txBody>
      </p:sp>
      <p:sp>
        <p:nvSpPr>
          <p:cNvPr id="52" name="Text 50"/>
          <p:cNvSpPr txBox="1"/>
          <p:nvPr/>
        </p:nvSpPr>
        <p:spPr>
          <a:xfrm>
            <a:off x="9645015" y="1181100"/>
            <a:ext cx="1905000" cy="285750"/>
          </a:xfrm>
          <a:prstGeom prst="rect">
            <a:avLst/>
          </a:prstGeom>
          <a:noFill/>
          <a:ln/>
        </p:spPr>
        <p:txBody>
          <a:bodyPr wrap="square" lIns="0" tIns="0" rIns="0" bIns="0" rtlCol="0" anchor="ctr"/>
          <a:lstStyle/>
          <a:p>
            <a:pPr marL="0" indent="0" algn="r">
              <a:buNone/>
            </a:pPr>
            <a:r>
              <a:rPr lang="en-US" sz="638" dirty="0">
                <a:solidFill>
                  <a:srgbClr val="9AA8BE"/>
                </a:solidFill>
                <a:latin typeface="Consolas" pitchFamily="34" charset="0"/>
                <a:ea typeface="Consolas" pitchFamily="34" charset="-122"/>
                <a:cs typeface="Consolas" pitchFamily="34" charset="-120"/>
              </a:rPr>
              <a:t>5 HOPS</a:t>
            </a:r>
            <a:endParaRPr lang="en-US" sz="638" dirty="0"/>
          </a:p>
        </p:txBody>
      </p:sp>
      <p:sp>
        <p:nvSpPr>
          <p:cNvPr id="53" name="Text 51"/>
          <p:cNvSpPr txBox="1"/>
          <p:nvPr/>
        </p:nvSpPr>
        <p:spPr>
          <a:xfrm>
            <a:off x="8025765" y="3105150"/>
            <a:ext cx="3631883" cy="190500"/>
          </a:xfrm>
          <a:prstGeom prst="rect">
            <a:avLst/>
          </a:prstGeom>
          <a:noFill/>
          <a:ln/>
        </p:spPr>
        <p:txBody>
          <a:bodyPr wrap="square" lIns="0" tIns="0" rIns="0" bIns="0" rtlCol="0" anchor="t"/>
          <a:lstStyle/>
          <a:p>
            <a:pPr marL="0" indent="0" algn="ctr">
              <a:buNone/>
            </a:pPr>
            <a:r>
              <a:rPr lang="en-US" sz="750" b="1" kern="0" spc="140" dirty="0">
                <a:solidFill>
                  <a:srgbClr val="9AA8BE"/>
                </a:solidFill>
                <a:latin typeface="Calibri" pitchFamily="34" charset="0"/>
                <a:ea typeface="Calibri" pitchFamily="34" charset="-122"/>
                <a:cs typeface="Calibri" pitchFamily="34" charset="-120"/>
              </a:rPr>
              <a:t>FUND FLOW TRACING</a:t>
            </a:r>
            <a:endParaRPr lang="en-US" sz="750" dirty="0"/>
          </a:p>
        </p:txBody>
      </p:sp>
      <p:sp>
        <p:nvSpPr>
          <p:cNvPr id="54" name="Shape 52"/>
          <p:cNvSpPr/>
          <p:nvPr/>
        </p:nvSpPr>
        <p:spPr>
          <a:xfrm>
            <a:off x="8225790" y="1657350"/>
            <a:ext cx="247650" cy="247650"/>
          </a:xfrm>
          <a:prstGeom prst="roundRect">
            <a:avLst>
              <a:gd name="adj" fmla="val 22154"/>
            </a:avLst>
          </a:prstGeom>
          <a:solidFill>
            <a:srgbClr val="2563EB">
              <a:alpha val="22000"/>
            </a:srgbClr>
          </a:solidFill>
          <a:ln w="9525">
            <a:solidFill>
              <a:srgbClr val="2563EB"/>
            </a:solidFill>
            <a:prstDash val="solid"/>
          </a:ln>
        </p:spPr>
      </p:sp>
      <p:sp>
        <p:nvSpPr>
          <p:cNvPr id="55" name="Text 53"/>
          <p:cNvSpPr txBox="1"/>
          <p:nvPr/>
        </p:nvSpPr>
        <p:spPr>
          <a:xfrm>
            <a:off x="8073390" y="1943100"/>
            <a:ext cx="552450" cy="95250"/>
          </a:xfrm>
          <a:prstGeom prst="rect">
            <a:avLst/>
          </a:prstGeom>
          <a:noFill/>
          <a:ln/>
        </p:spPr>
        <p:txBody>
          <a:bodyPr wrap="square" lIns="0" tIns="0" rIns="0" bIns="0" rtlCol="0" anchor="t"/>
          <a:lstStyle/>
          <a:p>
            <a:pPr marL="0" indent="0" algn="ctr">
              <a:buNone/>
            </a:pPr>
            <a:r>
              <a:rPr lang="en-US" sz="563" dirty="0">
                <a:solidFill>
                  <a:srgbClr val="C7D2E3"/>
                </a:solidFill>
                <a:latin typeface="Consolas" pitchFamily="34" charset="0"/>
                <a:ea typeface="Consolas" pitchFamily="34" charset="-122"/>
                <a:cs typeface="Consolas" pitchFamily="34" charset="-120"/>
              </a:rPr>
              <a:t>VICTIM</a:t>
            </a:r>
            <a:endParaRPr lang="en-US" sz="563" dirty="0"/>
          </a:p>
        </p:txBody>
      </p:sp>
      <p:sp>
        <p:nvSpPr>
          <p:cNvPr id="56" name="Shape 54"/>
          <p:cNvSpPr/>
          <p:nvPr/>
        </p:nvSpPr>
        <p:spPr>
          <a:xfrm>
            <a:off x="8511540" y="1781175"/>
            <a:ext cx="457200" cy="0"/>
          </a:xfrm>
          <a:prstGeom prst="line">
            <a:avLst/>
          </a:prstGeom>
          <a:noFill/>
          <a:ln w="12700">
            <a:solidFill>
              <a:srgbClr val="DC2626"/>
            </a:solidFill>
            <a:prstDash val="dash"/>
          </a:ln>
        </p:spPr>
      </p:sp>
      <p:sp>
        <p:nvSpPr>
          <p:cNvPr id="57" name="Shape 55"/>
          <p:cNvSpPr/>
          <p:nvPr/>
        </p:nvSpPr>
        <p:spPr>
          <a:xfrm>
            <a:off x="9102090" y="1657350"/>
            <a:ext cx="247650" cy="247650"/>
          </a:xfrm>
          <a:prstGeom prst="roundRect">
            <a:avLst>
              <a:gd name="adj" fmla="val 22154"/>
            </a:avLst>
          </a:prstGeom>
          <a:solidFill>
            <a:srgbClr val="DC2626">
              <a:alpha val="22000"/>
            </a:srgbClr>
          </a:solidFill>
          <a:ln w="9525">
            <a:solidFill>
              <a:srgbClr val="DC2626"/>
            </a:solidFill>
            <a:prstDash val="solid"/>
          </a:ln>
        </p:spPr>
      </p:sp>
      <p:sp>
        <p:nvSpPr>
          <p:cNvPr id="58" name="Text 56"/>
          <p:cNvSpPr txBox="1"/>
          <p:nvPr/>
        </p:nvSpPr>
        <p:spPr>
          <a:xfrm>
            <a:off x="8949690" y="1943100"/>
            <a:ext cx="552450" cy="95250"/>
          </a:xfrm>
          <a:prstGeom prst="rect">
            <a:avLst/>
          </a:prstGeom>
          <a:noFill/>
          <a:ln/>
        </p:spPr>
        <p:txBody>
          <a:bodyPr wrap="square" lIns="0" tIns="0" rIns="0" bIns="0" rtlCol="0" anchor="t"/>
          <a:lstStyle/>
          <a:p>
            <a:pPr marL="0" indent="0" algn="ctr">
              <a:buNone/>
            </a:pPr>
            <a:r>
              <a:rPr lang="en-US" sz="563" dirty="0">
                <a:solidFill>
                  <a:srgbClr val="C7D2E3"/>
                </a:solidFill>
                <a:latin typeface="Consolas" pitchFamily="34" charset="0"/>
                <a:ea typeface="Consolas" pitchFamily="34" charset="-122"/>
                <a:cs typeface="Consolas" pitchFamily="34" charset="-120"/>
              </a:rPr>
              <a:t>MULE A</a:t>
            </a:r>
            <a:endParaRPr lang="en-US" sz="563" dirty="0"/>
          </a:p>
        </p:txBody>
      </p:sp>
      <p:sp>
        <p:nvSpPr>
          <p:cNvPr id="59" name="Shape 57"/>
          <p:cNvSpPr/>
          <p:nvPr/>
        </p:nvSpPr>
        <p:spPr>
          <a:xfrm>
            <a:off x="9387840" y="1781175"/>
            <a:ext cx="457200" cy="0"/>
          </a:xfrm>
          <a:prstGeom prst="line">
            <a:avLst/>
          </a:prstGeom>
          <a:noFill/>
          <a:ln w="12700">
            <a:solidFill>
              <a:srgbClr val="DC2626"/>
            </a:solidFill>
            <a:prstDash val="dash"/>
          </a:ln>
        </p:spPr>
      </p:sp>
      <p:sp>
        <p:nvSpPr>
          <p:cNvPr id="60" name="Shape 58"/>
          <p:cNvSpPr/>
          <p:nvPr/>
        </p:nvSpPr>
        <p:spPr>
          <a:xfrm>
            <a:off x="9978390" y="1657350"/>
            <a:ext cx="247650" cy="247650"/>
          </a:xfrm>
          <a:prstGeom prst="roundRect">
            <a:avLst>
              <a:gd name="adj" fmla="val 22154"/>
            </a:avLst>
          </a:prstGeom>
          <a:solidFill>
            <a:srgbClr val="DC2626">
              <a:alpha val="22000"/>
            </a:srgbClr>
          </a:solidFill>
          <a:ln w="9525">
            <a:solidFill>
              <a:srgbClr val="DC2626"/>
            </a:solidFill>
            <a:prstDash val="solid"/>
          </a:ln>
        </p:spPr>
      </p:sp>
      <p:sp>
        <p:nvSpPr>
          <p:cNvPr id="61" name="Text 59"/>
          <p:cNvSpPr txBox="1"/>
          <p:nvPr/>
        </p:nvSpPr>
        <p:spPr>
          <a:xfrm>
            <a:off x="9825990" y="1943100"/>
            <a:ext cx="552450" cy="95250"/>
          </a:xfrm>
          <a:prstGeom prst="rect">
            <a:avLst/>
          </a:prstGeom>
          <a:noFill/>
          <a:ln/>
        </p:spPr>
        <p:txBody>
          <a:bodyPr wrap="square" lIns="0" tIns="0" rIns="0" bIns="0" rtlCol="0" anchor="t"/>
          <a:lstStyle/>
          <a:p>
            <a:pPr marL="0" indent="0" algn="ctr">
              <a:buNone/>
            </a:pPr>
            <a:r>
              <a:rPr lang="en-US" sz="563" dirty="0">
                <a:solidFill>
                  <a:srgbClr val="C7D2E3"/>
                </a:solidFill>
                <a:latin typeface="Consolas" pitchFamily="34" charset="0"/>
                <a:ea typeface="Consolas" pitchFamily="34" charset="-122"/>
                <a:cs typeface="Consolas" pitchFamily="34" charset="-120"/>
              </a:rPr>
              <a:t>MULE B</a:t>
            </a:r>
            <a:endParaRPr lang="en-US" sz="563" dirty="0"/>
          </a:p>
        </p:txBody>
      </p:sp>
      <p:sp>
        <p:nvSpPr>
          <p:cNvPr id="62" name="Shape 60"/>
          <p:cNvSpPr/>
          <p:nvPr/>
        </p:nvSpPr>
        <p:spPr>
          <a:xfrm>
            <a:off x="10264140" y="1781175"/>
            <a:ext cx="457200" cy="0"/>
          </a:xfrm>
          <a:prstGeom prst="line">
            <a:avLst/>
          </a:prstGeom>
          <a:noFill/>
          <a:ln w="12700">
            <a:solidFill>
              <a:srgbClr val="DC2626"/>
            </a:solidFill>
            <a:prstDash val="dash"/>
          </a:ln>
        </p:spPr>
      </p:sp>
      <p:sp>
        <p:nvSpPr>
          <p:cNvPr id="63" name="Shape 61"/>
          <p:cNvSpPr/>
          <p:nvPr/>
        </p:nvSpPr>
        <p:spPr>
          <a:xfrm>
            <a:off x="10854690" y="1657350"/>
            <a:ext cx="247650" cy="247650"/>
          </a:xfrm>
          <a:prstGeom prst="roundRect">
            <a:avLst>
              <a:gd name="adj" fmla="val 22154"/>
            </a:avLst>
          </a:prstGeom>
          <a:solidFill>
            <a:srgbClr val="F5C542">
              <a:alpha val="22000"/>
            </a:srgbClr>
          </a:solidFill>
          <a:ln w="9525">
            <a:solidFill>
              <a:srgbClr val="F5C542"/>
            </a:solidFill>
            <a:prstDash val="solid"/>
          </a:ln>
        </p:spPr>
      </p:sp>
      <p:sp>
        <p:nvSpPr>
          <p:cNvPr id="64" name="Text 62"/>
          <p:cNvSpPr txBox="1"/>
          <p:nvPr/>
        </p:nvSpPr>
        <p:spPr>
          <a:xfrm>
            <a:off x="10702290" y="1943100"/>
            <a:ext cx="552450" cy="95250"/>
          </a:xfrm>
          <a:prstGeom prst="rect">
            <a:avLst/>
          </a:prstGeom>
          <a:noFill/>
          <a:ln/>
        </p:spPr>
        <p:txBody>
          <a:bodyPr wrap="square" lIns="0" tIns="0" rIns="0" bIns="0" rtlCol="0" anchor="t"/>
          <a:lstStyle/>
          <a:p>
            <a:pPr marL="0" indent="0" algn="ctr">
              <a:buNone/>
            </a:pPr>
            <a:r>
              <a:rPr lang="en-US" sz="563" dirty="0">
                <a:solidFill>
                  <a:srgbClr val="C7D2E3"/>
                </a:solidFill>
                <a:latin typeface="Consolas" pitchFamily="34" charset="0"/>
                <a:ea typeface="Consolas" pitchFamily="34" charset="-122"/>
                <a:cs typeface="Consolas" pitchFamily="34" charset="-120"/>
              </a:rPr>
              <a:t>CASH</a:t>
            </a:r>
            <a:endParaRPr lang="en-US" sz="563" dirty="0"/>
          </a:p>
        </p:txBody>
      </p:sp>
      <p:sp>
        <p:nvSpPr>
          <p:cNvPr id="65" name="Text 63"/>
          <p:cNvSpPr txBox="1"/>
          <p:nvPr/>
        </p:nvSpPr>
        <p:spPr>
          <a:xfrm>
            <a:off x="8130540" y="2305050"/>
            <a:ext cx="952500" cy="152400"/>
          </a:xfrm>
          <a:prstGeom prst="rect">
            <a:avLst/>
          </a:prstGeom>
          <a:noFill/>
          <a:ln/>
        </p:spPr>
        <p:txBody>
          <a:bodyPr wrap="square" lIns="0" tIns="0" rIns="0" bIns="0" rtlCol="0" anchor="t"/>
          <a:lstStyle/>
          <a:p>
            <a:pPr marL="0" indent="0" algn="l">
              <a:buNone/>
            </a:pPr>
            <a:r>
              <a:rPr lang="en-US" sz="713" dirty="0">
                <a:solidFill>
                  <a:srgbClr val="9AA8BE"/>
                </a:solidFill>
                <a:latin typeface="Consolas" pitchFamily="34" charset="0"/>
                <a:ea typeface="Consolas" pitchFamily="34" charset="-122"/>
                <a:cs typeface="Consolas" pitchFamily="34" charset="-120"/>
              </a:rPr>
              <a:t>total traced</a:t>
            </a:r>
            <a:endParaRPr lang="en-US" sz="713" dirty="0"/>
          </a:p>
        </p:txBody>
      </p:sp>
      <p:sp>
        <p:nvSpPr>
          <p:cNvPr id="66" name="Text 64"/>
          <p:cNvSpPr txBox="1"/>
          <p:nvPr/>
        </p:nvSpPr>
        <p:spPr>
          <a:xfrm>
            <a:off x="10035540" y="2305050"/>
            <a:ext cx="1428750" cy="152400"/>
          </a:xfrm>
          <a:prstGeom prst="rect">
            <a:avLst/>
          </a:prstGeom>
          <a:noFill/>
          <a:ln/>
        </p:spPr>
        <p:txBody>
          <a:bodyPr wrap="square" lIns="0" tIns="0" rIns="0" bIns="0" rtlCol="0" anchor="t"/>
          <a:lstStyle/>
          <a:p>
            <a:pPr marL="0" indent="0" algn="r">
              <a:buNone/>
            </a:pPr>
            <a:r>
              <a:rPr lang="en-US" sz="713" b="1" dirty="0">
                <a:solidFill>
                  <a:srgbClr val="F5C542"/>
                </a:solidFill>
                <a:latin typeface="Consolas" pitchFamily="34" charset="0"/>
                <a:ea typeface="Consolas" pitchFamily="34" charset="-122"/>
                <a:cs typeface="Consolas" pitchFamily="34" charset="-120"/>
              </a:rPr>
              <a:t>₹ 4,20,000</a:t>
            </a:r>
            <a:endParaRPr lang="en-US" sz="713" dirty="0"/>
          </a:p>
        </p:txBody>
      </p:sp>
      <p:sp>
        <p:nvSpPr>
          <p:cNvPr id="67" name="Text 65"/>
          <p:cNvSpPr txBox="1"/>
          <p:nvPr/>
        </p:nvSpPr>
        <p:spPr>
          <a:xfrm>
            <a:off x="8130540" y="2552700"/>
            <a:ext cx="952500" cy="152400"/>
          </a:xfrm>
          <a:prstGeom prst="rect">
            <a:avLst/>
          </a:prstGeom>
          <a:noFill/>
          <a:ln/>
        </p:spPr>
        <p:txBody>
          <a:bodyPr wrap="square" lIns="0" tIns="0" rIns="0" bIns="0" rtlCol="0" anchor="t"/>
          <a:lstStyle/>
          <a:p>
            <a:pPr marL="0" indent="0" algn="l">
              <a:buNone/>
            </a:pPr>
            <a:r>
              <a:rPr lang="en-US" sz="713" dirty="0">
                <a:solidFill>
                  <a:srgbClr val="9AA8BE"/>
                </a:solidFill>
                <a:latin typeface="Consolas" pitchFamily="34" charset="0"/>
                <a:ea typeface="Consolas" pitchFamily="34" charset="-122"/>
                <a:cs typeface="Consolas" pitchFamily="34" charset="-120"/>
              </a:rPr>
              <a:t>hops</a:t>
            </a:r>
            <a:endParaRPr lang="en-US" sz="713" dirty="0"/>
          </a:p>
        </p:txBody>
      </p:sp>
      <p:sp>
        <p:nvSpPr>
          <p:cNvPr id="68" name="Text 66"/>
          <p:cNvSpPr txBox="1"/>
          <p:nvPr/>
        </p:nvSpPr>
        <p:spPr>
          <a:xfrm>
            <a:off x="10035540" y="2552700"/>
            <a:ext cx="1428750" cy="152400"/>
          </a:xfrm>
          <a:prstGeom prst="rect">
            <a:avLst/>
          </a:prstGeom>
          <a:noFill/>
          <a:ln/>
        </p:spPr>
        <p:txBody>
          <a:bodyPr wrap="square" lIns="0" tIns="0" rIns="0" bIns="0" rtlCol="0" anchor="t"/>
          <a:lstStyle/>
          <a:p>
            <a:pPr marL="0" indent="0" algn="r">
              <a:buNone/>
            </a:pPr>
            <a:r>
              <a:rPr lang="en-US" sz="713" b="1" dirty="0">
                <a:solidFill>
                  <a:srgbClr val="FFFFFF"/>
                </a:solidFill>
                <a:latin typeface="Consolas" pitchFamily="34" charset="0"/>
                <a:ea typeface="Consolas" pitchFamily="34" charset="-122"/>
                <a:cs typeface="Consolas" pitchFamily="34" charset="-120"/>
              </a:rPr>
              <a:t>3 / 5</a:t>
            </a:r>
            <a:endParaRPr lang="en-US" sz="713" dirty="0"/>
          </a:p>
        </p:txBody>
      </p:sp>
      <p:sp>
        <p:nvSpPr>
          <p:cNvPr id="69" name="Shape 67"/>
          <p:cNvSpPr/>
          <p:nvPr/>
        </p:nvSpPr>
        <p:spPr>
          <a:xfrm>
            <a:off x="533400" y="3486150"/>
            <a:ext cx="3631883" cy="2190750"/>
          </a:xfrm>
          <a:prstGeom prst="roundRect">
            <a:avLst>
              <a:gd name="adj" fmla="val 2504"/>
            </a:avLst>
          </a:prstGeom>
          <a:solidFill>
            <a:srgbClr val="101D33"/>
          </a:solidFill>
          <a:ln w="9525">
            <a:solidFill>
              <a:srgbClr val="9AA8BE">
                <a:alpha val="16000"/>
              </a:srgbClr>
            </a:solidFill>
            <a:prstDash val="solid"/>
          </a:ln>
        </p:spPr>
      </p:sp>
      <p:sp>
        <p:nvSpPr>
          <p:cNvPr id="70" name="Shape 68"/>
          <p:cNvSpPr/>
          <p:nvPr/>
        </p:nvSpPr>
        <p:spPr>
          <a:xfrm>
            <a:off x="533400" y="3486150"/>
            <a:ext cx="3631883" cy="285750"/>
          </a:xfrm>
          <a:prstGeom prst="roundRect">
            <a:avLst>
              <a:gd name="adj" fmla="val 19200"/>
            </a:avLst>
          </a:prstGeom>
          <a:solidFill>
            <a:srgbClr val="FFFFFF">
              <a:alpha val="6000"/>
            </a:srgbClr>
          </a:solidFill>
          <a:ln/>
        </p:spPr>
      </p:sp>
      <p:sp>
        <p:nvSpPr>
          <p:cNvPr id="71" name="Text 69"/>
          <p:cNvSpPr txBox="1"/>
          <p:nvPr/>
        </p:nvSpPr>
        <p:spPr>
          <a:xfrm>
            <a:off x="638175" y="3486150"/>
            <a:ext cx="1905000" cy="285750"/>
          </a:xfrm>
          <a:prstGeom prst="rect">
            <a:avLst/>
          </a:prstGeom>
          <a:noFill/>
          <a:ln/>
        </p:spPr>
        <p:txBody>
          <a:bodyPr wrap="square" lIns="0" tIns="0" rIns="0" bIns="0" rtlCol="0" anchor="ctr"/>
          <a:lstStyle/>
          <a:p>
            <a:pPr marL="0" indent="0" algn="l">
              <a:buNone/>
            </a:pPr>
            <a:r>
              <a:rPr lang="en-US" sz="788" b="1" kern="0" spc="160" dirty="0">
                <a:solidFill>
                  <a:srgbClr val="FFFFFF"/>
                </a:solidFill>
                <a:latin typeface="Arial" pitchFamily="34" charset="0"/>
                <a:ea typeface="Arial" pitchFamily="34" charset="-122"/>
                <a:cs typeface="Arial" pitchFamily="34" charset="-120"/>
              </a:rPr>
              <a:t>NETWORK VIEW</a:t>
            </a:r>
            <a:endParaRPr lang="en-US" sz="788" dirty="0"/>
          </a:p>
        </p:txBody>
      </p:sp>
      <p:sp>
        <p:nvSpPr>
          <p:cNvPr id="72" name="Text 70"/>
          <p:cNvSpPr txBox="1"/>
          <p:nvPr/>
        </p:nvSpPr>
        <p:spPr>
          <a:xfrm>
            <a:off x="2152650" y="3486150"/>
            <a:ext cx="1905000" cy="285750"/>
          </a:xfrm>
          <a:prstGeom prst="rect">
            <a:avLst/>
          </a:prstGeom>
          <a:noFill/>
          <a:ln/>
        </p:spPr>
        <p:txBody>
          <a:bodyPr wrap="square" lIns="0" tIns="0" rIns="0" bIns="0" rtlCol="0" anchor="ctr"/>
          <a:lstStyle/>
          <a:p>
            <a:pPr marL="0" indent="0" algn="r">
              <a:buNone/>
            </a:pPr>
            <a:r>
              <a:rPr lang="en-US" sz="638" dirty="0">
                <a:solidFill>
                  <a:srgbClr val="9AA8BE"/>
                </a:solidFill>
                <a:latin typeface="Consolas" pitchFamily="34" charset="0"/>
                <a:ea typeface="Consolas" pitchFamily="34" charset="-122"/>
                <a:cs typeface="Consolas" pitchFamily="34" charset="-120"/>
              </a:rPr>
              <a:t>SVG ENGINE</a:t>
            </a:r>
            <a:endParaRPr lang="en-US" sz="638" dirty="0"/>
          </a:p>
        </p:txBody>
      </p:sp>
      <p:sp>
        <p:nvSpPr>
          <p:cNvPr id="73" name="Text 71"/>
          <p:cNvSpPr txBox="1"/>
          <p:nvPr/>
        </p:nvSpPr>
        <p:spPr>
          <a:xfrm>
            <a:off x="533400" y="5410200"/>
            <a:ext cx="3631883" cy="190500"/>
          </a:xfrm>
          <a:prstGeom prst="rect">
            <a:avLst/>
          </a:prstGeom>
          <a:noFill/>
          <a:ln/>
        </p:spPr>
        <p:txBody>
          <a:bodyPr wrap="square" lIns="0" tIns="0" rIns="0" bIns="0" rtlCol="0" anchor="t"/>
          <a:lstStyle/>
          <a:p>
            <a:pPr marL="0" indent="0" algn="ctr">
              <a:buNone/>
            </a:pPr>
            <a:r>
              <a:rPr lang="en-US" sz="750" b="1" kern="0" spc="140" dirty="0">
                <a:solidFill>
                  <a:srgbClr val="9AA8BE"/>
                </a:solidFill>
                <a:latin typeface="Calibri" pitchFamily="34" charset="0"/>
                <a:ea typeface="Calibri" pitchFamily="34" charset="-122"/>
                <a:cs typeface="Calibri" pitchFamily="34" charset="-120"/>
              </a:rPr>
              <a:t>INTERACTIVE SVG GRAPH</a:t>
            </a:r>
            <a:endParaRPr lang="en-US" sz="750" dirty="0"/>
          </a:p>
        </p:txBody>
      </p:sp>
      <p:pic>
        <p:nvPicPr>
          <p:cNvPr id="74" name="Image 0" descr="preencoded.png"/>
          <p:cNvPicPr>
            <a:picLocks noChangeAspect="1"/>
          </p:cNvPicPr>
          <p:nvPr/>
        </p:nvPicPr>
        <p:blipFill>
          <a:blip r:embed="rId3"/>
          <a:stretch>
            <a:fillRect/>
          </a:stretch>
        </p:blipFill>
        <p:spPr>
          <a:xfrm>
            <a:off x="733425" y="3981450"/>
            <a:ext cx="3238500" cy="1052513"/>
          </a:xfrm>
          <a:prstGeom prst="rect">
            <a:avLst/>
          </a:prstGeom>
        </p:spPr>
      </p:pic>
      <p:sp>
        <p:nvSpPr>
          <p:cNvPr id="75" name="Shape 72"/>
          <p:cNvSpPr/>
          <p:nvPr/>
        </p:nvSpPr>
        <p:spPr>
          <a:xfrm>
            <a:off x="4279583" y="3486150"/>
            <a:ext cx="3631883" cy="2190750"/>
          </a:xfrm>
          <a:prstGeom prst="roundRect">
            <a:avLst>
              <a:gd name="adj" fmla="val 2504"/>
            </a:avLst>
          </a:prstGeom>
          <a:solidFill>
            <a:srgbClr val="101D33"/>
          </a:solidFill>
          <a:ln w="9525">
            <a:solidFill>
              <a:srgbClr val="9AA8BE">
                <a:alpha val="16000"/>
              </a:srgbClr>
            </a:solidFill>
            <a:prstDash val="solid"/>
          </a:ln>
        </p:spPr>
      </p:sp>
      <p:sp>
        <p:nvSpPr>
          <p:cNvPr id="76" name="Shape 73"/>
          <p:cNvSpPr/>
          <p:nvPr/>
        </p:nvSpPr>
        <p:spPr>
          <a:xfrm>
            <a:off x="4279583" y="3486150"/>
            <a:ext cx="3631883" cy="285750"/>
          </a:xfrm>
          <a:prstGeom prst="roundRect">
            <a:avLst>
              <a:gd name="adj" fmla="val 19200"/>
            </a:avLst>
          </a:prstGeom>
          <a:solidFill>
            <a:srgbClr val="FFFFFF">
              <a:alpha val="6000"/>
            </a:srgbClr>
          </a:solidFill>
          <a:ln/>
        </p:spPr>
      </p:sp>
      <p:sp>
        <p:nvSpPr>
          <p:cNvPr id="77" name="Text 74"/>
          <p:cNvSpPr txBox="1"/>
          <p:nvPr/>
        </p:nvSpPr>
        <p:spPr>
          <a:xfrm>
            <a:off x="4384358" y="3486150"/>
            <a:ext cx="1905000" cy="285750"/>
          </a:xfrm>
          <a:prstGeom prst="rect">
            <a:avLst/>
          </a:prstGeom>
          <a:noFill/>
          <a:ln/>
        </p:spPr>
        <p:txBody>
          <a:bodyPr wrap="square" lIns="0" tIns="0" rIns="0" bIns="0" rtlCol="0" anchor="ctr"/>
          <a:lstStyle/>
          <a:p>
            <a:pPr marL="0" indent="0" algn="l">
              <a:buNone/>
            </a:pPr>
            <a:r>
              <a:rPr lang="en-US" sz="788" b="1" kern="0" spc="160" dirty="0">
                <a:solidFill>
                  <a:srgbClr val="FFFFFF"/>
                </a:solidFill>
                <a:latin typeface="Arial" pitchFamily="34" charset="0"/>
                <a:ea typeface="Arial" pitchFamily="34" charset="-122"/>
                <a:cs typeface="Arial" pitchFamily="34" charset="-120"/>
              </a:rPr>
              <a:t>REPORT VIEW</a:t>
            </a:r>
            <a:endParaRPr lang="en-US" sz="788" dirty="0"/>
          </a:p>
        </p:txBody>
      </p:sp>
      <p:sp>
        <p:nvSpPr>
          <p:cNvPr id="78" name="Text 75"/>
          <p:cNvSpPr txBox="1"/>
          <p:nvPr/>
        </p:nvSpPr>
        <p:spPr>
          <a:xfrm>
            <a:off x="5898832" y="3486150"/>
            <a:ext cx="1905000" cy="285750"/>
          </a:xfrm>
          <a:prstGeom prst="rect">
            <a:avLst/>
          </a:prstGeom>
          <a:noFill/>
          <a:ln/>
        </p:spPr>
        <p:txBody>
          <a:bodyPr wrap="square" lIns="0" tIns="0" rIns="0" bIns="0" rtlCol="0" anchor="ctr"/>
          <a:lstStyle/>
          <a:p>
            <a:pPr marL="0" indent="0" algn="r">
              <a:buNone/>
            </a:pPr>
            <a:r>
              <a:rPr lang="en-US" sz="638" dirty="0">
                <a:solidFill>
                  <a:srgbClr val="9AA8BE"/>
                </a:solidFill>
                <a:latin typeface="Consolas" pitchFamily="34" charset="0"/>
                <a:ea typeface="Consolas" pitchFamily="34" charset="-122"/>
                <a:cs typeface="Consolas" pitchFamily="34" charset="-120"/>
              </a:rPr>
              <a:t>SAR-2026-0417</a:t>
            </a:r>
            <a:endParaRPr lang="en-US" sz="638" dirty="0"/>
          </a:p>
        </p:txBody>
      </p:sp>
      <p:sp>
        <p:nvSpPr>
          <p:cNvPr id="79" name="Text 76"/>
          <p:cNvSpPr txBox="1"/>
          <p:nvPr/>
        </p:nvSpPr>
        <p:spPr>
          <a:xfrm>
            <a:off x="4279583" y="5410200"/>
            <a:ext cx="3631883" cy="190500"/>
          </a:xfrm>
          <a:prstGeom prst="rect">
            <a:avLst/>
          </a:prstGeom>
          <a:noFill/>
          <a:ln/>
        </p:spPr>
        <p:txBody>
          <a:bodyPr wrap="square" lIns="0" tIns="0" rIns="0" bIns="0" rtlCol="0" anchor="t"/>
          <a:lstStyle/>
          <a:p>
            <a:pPr marL="0" indent="0" algn="ctr">
              <a:buNone/>
            </a:pPr>
            <a:r>
              <a:rPr lang="en-US" sz="750" b="1" kern="0" spc="140" dirty="0">
                <a:solidFill>
                  <a:srgbClr val="9AA8BE"/>
                </a:solidFill>
                <a:latin typeface="Calibri" pitchFamily="34" charset="0"/>
                <a:ea typeface="Calibri" pitchFamily="34" charset="-122"/>
                <a:cs typeface="Calibri" pitchFamily="34" charset="-120"/>
              </a:rPr>
              <a:t>SAR-STYLE REPORT + DOWNLOAD</a:t>
            </a:r>
            <a:endParaRPr lang="en-US" sz="750" dirty="0"/>
          </a:p>
        </p:txBody>
      </p:sp>
      <p:sp>
        <p:nvSpPr>
          <p:cNvPr id="80" name="Shape 77"/>
          <p:cNvSpPr/>
          <p:nvPr/>
        </p:nvSpPr>
        <p:spPr>
          <a:xfrm>
            <a:off x="4384358" y="3886200"/>
            <a:ext cx="2072640" cy="57150"/>
          </a:xfrm>
          <a:prstGeom prst="roundRect">
            <a:avLst>
              <a:gd name="adj" fmla="val 96000"/>
            </a:avLst>
          </a:prstGeom>
          <a:solidFill>
            <a:srgbClr val="FFFFFF">
              <a:alpha val="16000"/>
            </a:srgbClr>
          </a:solidFill>
          <a:ln/>
        </p:spPr>
      </p:sp>
      <p:sp>
        <p:nvSpPr>
          <p:cNvPr id="81" name="Shape 78"/>
          <p:cNvSpPr/>
          <p:nvPr/>
        </p:nvSpPr>
        <p:spPr>
          <a:xfrm>
            <a:off x="4384358" y="4019550"/>
            <a:ext cx="2979420" cy="38100"/>
          </a:xfrm>
          <a:prstGeom prst="roundRect">
            <a:avLst>
              <a:gd name="adj" fmla="val 144000"/>
            </a:avLst>
          </a:prstGeom>
          <a:solidFill>
            <a:srgbClr val="FFFFFF">
              <a:alpha val="8000"/>
            </a:srgbClr>
          </a:solidFill>
          <a:ln/>
        </p:spPr>
      </p:sp>
      <p:sp>
        <p:nvSpPr>
          <p:cNvPr id="82" name="Shape 79"/>
          <p:cNvSpPr/>
          <p:nvPr/>
        </p:nvSpPr>
        <p:spPr>
          <a:xfrm>
            <a:off x="4384358" y="4152900"/>
            <a:ext cx="2720340" cy="38100"/>
          </a:xfrm>
          <a:prstGeom prst="roundRect">
            <a:avLst>
              <a:gd name="adj" fmla="val 144000"/>
            </a:avLst>
          </a:prstGeom>
          <a:solidFill>
            <a:srgbClr val="FFFFFF">
              <a:alpha val="8000"/>
            </a:srgbClr>
          </a:solidFill>
          <a:ln/>
        </p:spPr>
      </p:sp>
      <p:sp>
        <p:nvSpPr>
          <p:cNvPr id="83" name="Shape 80"/>
          <p:cNvSpPr/>
          <p:nvPr/>
        </p:nvSpPr>
        <p:spPr>
          <a:xfrm>
            <a:off x="4384358" y="4286250"/>
            <a:ext cx="2849880" cy="38100"/>
          </a:xfrm>
          <a:prstGeom prst="roundRect">
            <a:avLst>
              <a:gd name="adj" fmla="val 144000"/>
            </a:avLst>
          </a:prstGeom>
          <a:solidFill>
            <a:srgbClr val="FFFFFF">
              <a:alpha val="8000"/>
            </a:srgbClr>
          </a:solidFill>
          <a:ln/>
        </p:spPr>
      </p:sp>
      <p:sp>
        <p:nvSpPr>
          <p:cNvPr id="84" name="Shape 81"/>
          <p:cNvSpPr/>
          <p:nvPr/>
        </p:nvSpPr>
        <p:spPr>
          <a:xfrm>
            <a:off x="4384358" y="4419600"/>
            <a:ext cx="1360170" cy="38100"/>
          </a:xfrm>
          <a:prstGeom prst="roundRect">
            <a:avLst>
              <a:gd name="adj" fmla="val 144000"/>
            </a:avLst>
          </a:prstGeom>
          <a:solidFill>
            <a:srgbClr val="FFFFFF">
              <a:alpha val="8000"/>
            </a:srgbClr>
          </a:solidFill>
          <a:ln/>
        </p:spPr>
      </p:sp>
      <p:sp>
        <p:nvSpPr>
          <p:cNvPr id="85" name="Shape 82"/>
          <p:cNvSpPr/>
          <p:nvPr/>
        </p:nvSpPr>
        <p:spPr>
          <a:xfrm>
            <a:off x="4384358" y="4686300"/>
            <a:ext cx="351282" cy="209550"/>
          </a:xfrm>
          <a:prstGeom prst="roundRect">
            <a:avLst>
              <a:gd name="adj" fmla="val 26182"/>
            </a:avLst>
          </a:prstGeom>
          <a:solidFill>
            <a:srgbClr val="FFFFFF">
              <a:alpha val="5000"/>
            </a:srgbClr>
          </a:solidFill>
          <a:ln w="9525">
            <a:solidFill>
              <a:srgbClr val="9AA8BE">
                <a:alpha val="40000"/>
              </a:srgbClr>
            </a:solidFill>
            <a:prstDash val="solid"/>
          </a:ln>
        </p:spPr>
      </p:sp>
      <p:sp>
        <p:nvSpPr>
          <p:cNvPr id="86" name="Text 83"/>
          <p:cNvSpPr txBox="1"/>
          <p:nvPr/>
        </p:nvSpPr>
        <p:spPr>
          <a:xfrm>
            <a:off x="4384358" y="4686300"/>
            <a:ext cx="351282" cy="209550"/>
          </a:xfrm>
          <a:prstGeom prst="rect">
            <a:avLst/>
          </a:prstGeom>
          <a:noFill/>
          <a:ln/>
        </p:spPr>
        <p:txBody>
          <a:bodyPr wrap="square" lIns="0" tIns="0" rIns="0" bIns="0" rtlCol="0" anchor="ctr"/>
          <a:lstStyle/>
          <a:p>
            <a:pPr marL="0" indent="0" algn="ctr">
              <a:buNone/>
            </a:pPr>
            <a:r>
              <a:rPr lang="en-US" sz="600" dirty="0">
                <a:solidFill>
                  <a:srgbClr val="C7D2E3"/>
                </a:solidFill>
                <a:latin typeface="Consolas" pitchFamily="34" charset="0"/>
                <a:ea typeface="Consolas" pitchFamily="34" charset="-122"/>
                <a:cs typeface="Consolas" pitchFamily="34" charset="-120"/>
              </a:rPr>
              <a:t>TXT</a:t>
            </a:r>
            <a:endParaRPr lang="en-US" sz="600" dirty="0"/>
          </a:p>
        </p:txBody>
      </p:sp>
      <p:sp>
        <p:nvSpPr>
          <p:cNvPr id="87" name="Shape 84"/>
          <p:cNvSpPr/>
          <p:nvPr/>
        </p:nvSpPr>
        <p:spPr>
          <a:xfrm>
            <a:off x="4783265" y="4686300"/>
            <a:ext cx="776478" cy="209550"/>
          </a:xfrm>
          <a:prstGeom prst="roundRect">
            <a:avLst>
              <a:gd name="adj" fmla="val 26182"/>
            </a:avLst>
          </a:prstGeom>
          <a:solidFill>
            <a:srgbClr val="0F9D91">
              <a:alpha val="12000"/>
            </a:srgbClr>
          </a:solidFill>
          <a:ln w="9525">
            <a:solidFill>
              <a:srgbClr val="0F9D91">
                <a:alpha val="40000"/>
              </a:srgbClr>
            </a:solidFill>
            <a:prstDash val="solid"/>
          </a:ln>
        </p:spPr>
      </p:sp>
      <p:sp>
        <p:nvSpPr>
          <p:cNvPr id="88" name="Text 85"/>
          <p:cNvSpPr txBox="1"/>
          <p:nvPr/>
        </p:nvSpPr>
        <p:spPr>
          <a:xfrm>
            <a:off x="4783265" y="4686300"/>
            <a:ext cx="776478" cy="209550"/>
          </a:xfrm>
          <a:prstGeom prst="rect">
            <a:avLst/>
          </a:prstGeom>
          <a:noFill/>
          <a:ln/>
        </p:spPr>
        <p:txBody>
          <a:bodyPr wrap="square" lIns="0" tIns="0" rIns="0" bIns="0" rtlCol="0" anchor="ctr"/>
          <a:lstStyle/>
          <a:p>
            <a:pPr marL="0" indent="0" algn="ctr">
              <a:buNone/>
            </a:pPr>
            <a:r>
              <a:rPr lang="en-US" sz="600" dirty="0">
                <a:solidFill>
                  <a:srgbClr val="2CC5B7"/>
                </a:solidFill>
                <a:latin typeface="Consolas" pitchFamily="34" charset="0"/>
                <a:ea typeface="Consolas" pitchFamily="34" charset="-122"/>
                <a:cs typeface="Consolas" pitchFamily="34" charset="-120"/>
              </a:rPr>
              <a:t>HTML · PRINT</a:t>
            </a:r>
            <a:endParaRPr lang="en-US" sz="600" dirty="0"/>
          </a:p>
        </p:txBody>
      </p:sp>
      <p:sp>
        <p:nvSpPr>
          <p:cNvPr id="89" name="Shape 86"/>
          <p:cNvSpPr/>
          <p:nvPr/>
        </p:nvSpPr>
        <p:spPr>
          <a:xfrm>
            <a:off x="5607368" y="4686300"/>
            <a:ext cx="445770" cy="209550"/>
          </a:xfrm>
          <a:prstGeom prst="roundRect">
            <a:avLst>
              <a:gd name="adj" fmla="val 26182"/>
            </a:avLst>
          </a:prstGeom>
          <a:solidFill>
            <a:srgbClr val="F5C542">
              <a:alpha val="10000"/>
            </a:srgbClr>
          </a:solidFill>
          <a:ln w="9525">
            <a:solidFill>
              <a:srgbClr val="F5C542">
                <a:alpha val="40000"/>
              </a:srgbClr>
            </a:solidFill>
            <a:prstDash val="solid"/>
          </a:ln>
        </p:spPr>
      </p:sp>
      <p:sp>
        <p:nvSpPr>
          <p:cNvPr id="90" name="Text 87"/>
          <p:cNvSpPr txBox="1"/>
          <p:nvPr/>
        </p:nvSpPr>
        <p:spPr>
          <a:xfrm>
            <a:off x="5607368" y="4686300"/>
            <a:ext cx="445770" cy="209550"/>
          </a:xfrm>
          <a:prstGeom prst="rect">
            <a:avLst/>
          </a:prstGeom>
          <a:noFill/>
          <a:ln/>
        </p:spPr>
        <p:txBody>
          <a:bodyPr wrap="square" lIns="0" tIns="0" rIns="0" bIns="0" rtlCol="0" anchor="ctr"/>
          <a:lstStyle/>
          <a:p>
            <a:pPr marL="0" indent="0" algn="ctr">
              <a:buNone/>
            </a:pPr>
            <a:r>
              <a:rPr lang="en-US" sz="600" dirty="0">
                <a:solidFill>
                  <a:srgbClr val="F5C542"/>
                </a:solidFill>
                <a:latin typeface="Consolas" pitchFamily="34" charset="0"/>
                <a:ea typeface="Consolas" pitchFamily="34" charset="-122"/>
                <a:cs typeface="Consolas" pitchFamily="34" charset="-120"/>
              </a:rPr>
              <a:t>PDF ↓</a:t>
            </a:r>
            <a:endParaRPr lang="en-US" sz="600" dirty="0"/>
          </a:p>
        </p:txBody>
      </p:sp>
      <p:sp>
        <p:nvSpPr>
          <p:cNvPr id="91" name="Shape 88"/>
          <p:cNvSpPr/>
          <p:nvPr/>
        </p:nvSpPr>
        <p:spPr>
          <a:xfrm>
            <a:off x="8025765" y="3486150"/>
            <a:ext cx="3631883" cy="2190750"/>
          </a:xfrm>
          <a:prstGeom prst="roundRect">
            <a:avLst>
              <a:gd name="adj" fmla="val 2504"/>
            </a:avLst>
          </a:prstGeom>
          <a:solidFill>
            <a:srgbClr val="101D33"/>
          </a:solidFill>
          <a:ln w="9525">
            <a:solidFill>
              <a:srgbClr val="9AA8BE">
                <a:alpha val="16000"/>
              </a:srgbClr>
            </a:solidFill>
            <a:prstDash val="solid"/>
          </a:ln>
        </p:spPr>
      </p:sp>
      <p:sp>
        <p:nvSpPr>
          <p:cNvPr id="92" name="Shape 89"/>
          <p:cNvSpPr/>
          <p:nvPr/>
        </p:nvSpPr>
        <p:spPr>
          <a:xfrm>
            <a:off x="8025765" y="3486150"/>
            <a:ext cx="3631883" cy="285750"/>
          </a:xfrm>
          <a:prstGeom prst="roundRect">
            <a:avLst>
              <a:gd name="adj" fmla="val 19200"/>
            </a:avLst>
          </a:prstGeom>
          <a:solidFill>
            <a:srgbClr val="FFFFFF">
              <a:alpha val="6000"/>
            </a:srgbClr>
          </a:solidFill>
          <a:ln/>
        </p:spPr>
      </p:sp>
      <p:sp>
        <p:nvSpPr>
          <p:cNvPr id="93" name="Text 90"/>
          <p:cNvSpPr txBox="1"/>
          <p:nvPr/>
        </p:nvSpPr>
        <p:spPr>
          <a:xfrm>
            <a:off x="8130540" y="3486150"/>
            <a:ext cx="1905000" cy="285750"/>
          </a:xfrm>
          <a:prstGeom prst="rect">
            <a:avLst/>
          </a:prstGeom>
          <a:noFill/>
          <a:ln/>
        </p:spPr>
        <p:txBody>
          <a:bodyPr wrap="square" lIns="0" tIns="0" rIns="0" bIns="0" rtlCol="0" anchor="ctr"/>
          <a:lstStyle/>
          <a:p>
            <a:pPr marL="0" indent="0" algn="l">
              <a:buNone/>
            </a:pPr>
            <a:r>
              <a:rPr lang="en-US" sz="788" b="1" kern="0" spc="160" dirty="0">
                <a:solidFill>
                  <a:srgbClr val="FFFFFF"/>
                </a:solidFill>
                <a:latin typeface="Arial" pitchFamily="34" charset="0"/>
                <a:ea typeface="Arial" pitchFamily="34" charset="-122"/>
                <a:cs typeface="Arial" pitchFamily="34" charset="-120"/>
              </a:rPr>
              <a:t>COMPLAINTS</a:t>
            </a:r>
            <a:endParaRPr lang="en-US" sz="788" dirty="0"/>
          </a:p>
        </p:txBody>
      </p:sp>
      <p:sp>
        <p:nvSpPr>
          <p:cNvPr id="94" name="Text 91"/>
          <p:cNvSpPr txBox="1"/>
          <p:nvPr/>
        </p:nvSpPr>
        <p:spPr>
          <a:xfrm>
            <a:off x="9645015" y="3486150"/>
            <a:ext cx="1905000" cy="285750"/>
          </a:xfrm>
          <a:prstGeom prst="rect">
            <a:avLst/>
          </a:prstGeom>
          <a:noFill/>
          <a:ln/>
        </p:spPr>
        <p:txBody>
          <a:bodyPr wrap="square" lIns="0" tIns="0" rIns="0" bIns="0" rtlCol="0" anchor="ctr"/>
          <a:lstStyle/>
          <a:p>
            <a:pPr marL="0" indent="0" algn="r">
              <a:buNone/>
            </a:pPr>
            <a:r>
              <a:rPr lang="en-US" sz="638" dirty="0">
                <a:solidFill>
                  <a:srgbClr val="9AA8BE"/>
                </a:solidFill>
                <a:latin typeface="Consolas" pitchFamily="34" charset="0"/>
                <a:ea typeface="Consolas" pitchFamily="34" charset="-122"/>
                <a:cs typeface="Consolas" pitchFamily="34" charset="-120"/>
              </a:rPr>
              <a:t>HOTSPOTS</a:t>
            </a:r>
            <a:endParaRPr lang="en-US" sz="638" dirty="0"/>
          </a:p>
        </p:txBody>
      </p:sp>
      <p:sp>
        <p:nvSpPr>
          <p:cNvPr id="95" name="Text 92"/>
          <p:cNvSpPr txBox="1"/>
          <p:nvPr/>
        </p:nvSpPr>
        <p:spPr>
          <a:xfrm>
            <a:off x="8025765" y="5410200"/>
            <a:ext cx="3631883" cy="190500"/>
          </a:xfrm>
          <a:prstGeom prst="rect">
            <a:avLst/>
          </a:prstGeom>
          <a:noFill/>
          <a:ln/>
        </p:spPr>
        <p:txBody>
          <a:bodyPr wrap="square" lIns="0" tIns="0" rIns="0" bIns="0" rtlCol="0" anchor="t"/>
          <a:lstStyle/>
          <a:p>
            <a:pPr marL="0" indent="0" algn="ctr">
              <a:buNone/>
            </a:pPr>
            <a:r>
              <a:rPr lang="en-US" sz="750" b="1" kern="0" spc="140" dirty="0">
                <a:solidFill>
                  <a:srgbClr val="9AA8BE"/>
                </a:solidFill>
                <a:latin typeface="Calibri" pitchFamily="34" charset="0"/>
                <a:ea typeface="Calibri" pitchFamily="34" charset="-122"/>
                <a:cs typeface="Calibri" pitchFamily="34" charset="-120"/>
              </a:rPr>
              <a:t>HOTSPOT ACCOUNTS + CORRELATION</a:t>
            </a:r>
            <a:endParaRPr lang="en-US" sz="750" dirty="0"/>
          </a:p>
        </p:txBody>
      </p:sp>
      <p:sp>
        <p:nvSpPr>
          <p:cNvPr id="96" name="Text 93"/>
          <p:cNvSpPr txBox="1"/>
          <p:nvPr/>
        </p:nvSpPr>
        <p:spPr>
          <a:xfrm>
            <a:off x="8130540" y="3886200"/>
            <a:ext cx="952500" cy="171450"/>
          </a:xfrm>
          <a:prstGeom prst="rect">
            <a:avLst/>
          </a:prstGeom>
          <a:noFill/>
          <a:ln/>
        </p:spPr>
        <p:txBody>
          <a:bodyPr wrap="square" lIns="0" tIns="0" rIns="0" bIns="0" rtlCol="0" anchor="ctr"/>
          <a:lstStyle/>
          <a:p>
            <a:pPr marL="0" indent="0" algn="l">
              <a:buNone/>
            </a:pPr>
            <a:r>
              <a:rPr lang="en-US" sz="713" dirty="0">
                <a:solidFill>
                  <a:srgbClr val="C7D2E3"/>
                </a:solidFill>
                <a:latin typeface="Consolas" pitchFamily="34" charset="0"/>
                <a:ea typeface="Consolas" pitchFamily="34" charset="-122"/>
                <a:cs typeface="Consolas" pitchFamily="34" charset="-120"/>
              </a:rPr>
              <a:t>ML-A</a:t>
            </a:r>
            <a:endParaRPr lang="en-US" sz="713" dirty="0"/>
          </a:p>
        </p:txBody>
      </p:sp>
      <p:sp>
        <p:nvSpPr>
          <p:cNvPr id="97" name="Shape 94"/>
          <p:cNvSpPr/>
          <p:nvPr/>
        </p:nvSpPr>
        <p:spPr>
          <a:xfrm>
            <a:off x="10511790" y="3886200"/>
            <a:ext cx="1013460" cy="171450"/>
          </a:xfrm>
          <a:prstGeom prst="roundRect">
            <a:avLst>
              <a:gd name="adj" fmla="val 32000"/>
            </a:avLst>
          </a:prstGeom>
          <a:solidFill>
            <a:srgbClr val="DC2626">
              <a:alpha val="22000"/>
            </a:srgbClr>
          </a:solidFill>
          <a:ln w="9525">
            <a:solidFill>
              <a:srgbClr val="DC2626">
                <a:alpha val="45000"/>
              </a:srgbClr>
            </a:solidFill>
            <a:prstDash val="solid"/>
          </a:ln>
        </p:spPr>
      </p:sp>
      <p:sp>
        <p:nvSpPr>
          <p:cNvPr id="98" name="Text 95"/>
          <p:cNvSpPr txBox="1"/>
          <p:nvPr/>
        </p:nvSpPr>
        <p:spPr>
          <a:xfrm>
            <a:off x="10511790" y="3886200"/>
            <a:ext cx="1013460" cy="171450"/>
          </a:xfrm>
          <a:prstGeom prst="rect">
            <a:avLst/>
          </a:prstGeom>
          <a:noFill/>
          <a:ln/>
        </p:spPr>
        <p:txBody>
          <a:bodyPr wrap="square" lIns="0" tIns="0" rIns="0" bIns="0" rtlCol="0" anchor="ctr"/>
          <a:lstStyle/>
          <a:p>
            <a:pPr marL="0" indent="0" algn="ctr">
              <a:buNone/>
            </a:pPr>
            <a:r>
              <a:rPr lang="en-US" sz="713" b="1" dirty="0">
                <a:solidFill>
                  <a:srgbClr val="F87171"/>
                </a:solidFill>
                <a:latin typeface="Consolas" pitchFamily="34" charset="0"/>
                <a:ea typeface="Consolas" pitchFamily="34" charset="-122"/>
                <a:cs typeface="Consolas" pitchFamily="34" charset="-120"/>
              </a:rPr>
              <a:t>14 complaints</a:t>
            </a:r>
            <a:endParaRPr lang="en-US" sz="713" dirty="0"/>
          </a:p>
        </p:txBody>
      </p:sp>
      <p:sp>
        <p:nvSpPr>
          <p:cNvPr id="99" name="Text 96"/>
          <p:cNvSpPr txBox="1"/>
          <p:nvPr/>
        </p:nvSpPr>
        <p:spPr>
          <a:xfrm>
            <a:off x="8130540" y="4171950"/>
            <a:ext cx="952500" cy="171450"/>
          </a:xfrm>
          <a:prstGeom prst="rect">
            <a:avLst/>
          </a:prstGeom>
          <a:noFill/>
          <a:ln/>
        </p:spPr>
        <p:txBody>
          <a:bodyPr wrap="square" lIns="0" tIns="0" rIns="0" bIns="0" rtlCol="0" anchor="ctr"/>
          <a:lstStyle/>
          <a:p>
            <a:pPr marL="0" indent="0" algn="l">
              <a:buNone/>
            </a:pPr>
            <a:r>
              <a:rPr lang="en-US" sz="713" dirty="0">
                <a:solidFill>
                  <a:srgbClr val="C7D2E3"/>
                </a:solidFill>
                <a:latin typeface="Consolas" pitchFamily="34" charset="0"/>
                <a:ea typeface="Consolas" pitchFamily="34" charset="-122"/>
                <a:cs typeface="Consolas" pitchFamily="34" charset="-120"/>
              </a:rPr>
              <a:t>ML-B</a:t>
            </a:r>
            <a:endParaRPr lang="en-US" sz="713" dirty="0"/>
          </a:p>
        </p:txBody>
      </p:sp>
      <p:sp>
        <p:nvSpPr>
          <p:cNvPr id="100" name="Shape 97"/>
          <p:cNvSpPr/>
          <p:nvPr/>
        </p:nvSpPr>
        <p:spPr>
          <a:xfrm>
            <a:off x="10511790" y="4171950"/>
            <a:ext cx="948690" cy="171450"/>
          </a:xfrm>
          <a:prstGeom prst="roundRect">
            <a:avLst>
              <a:gd name="adj" fmla="val 32000"/>
            </a:avLst>
          </a:prstGeom>
          <a:solidFill>
            <a:srgbClr val="DC2626">
              <a:alpha val="22000"/>
            </a:srgbClr>
          </a:solidFill>
          <a:ln w="9525">
            <a:solidFill>
              <a:srgbClr val="DC2626">
                <a:alpha val="45000"/>
              </a:srgbClr>
            </a:solidFill>
            <a:prstDash val="solid"/>
          </a:ln>
        </p:spPr>
      </p:sp>
      <p:sp>
        <p:nvSpPr>
          <p:cNvPr id="101" name="Text 98"/>
          <p:cNvSpPr txBox="1"/>
          <p:nvPr/>
        </p:nvSpPr>
        <p:spPr>
          <a:xfrm>
            <a:off x="10511790" y="4171950"/>
            <a:ext cx="948690" cy="171450"/>
          </a:xfrm>
          <a:prstGeom prst="rect">
            <a:avLst/>
          </a:prstGeom>
          <a:noFill/>
          <a:ln/>
        </p:spPr>
        <p:txBody>
          <a:bodyPr wrap="square" lIns="0" tIns="0" rIns="0" bIns="0" rtlCol="0" anchor="ctr"/>
          <a:lstStyle/>
          <a:p>
            <a:pPr marL="0" indent="0" algn="ctr">
              <a:buNone/>
            </a:pPr>
            <a:r>
              <a:rPr lang="en-US" sz="713" b="1" dirty="0">
                <a:solidFill>
                  <a:srgbClr val="F87171"/>
                </a:solidFill>
                <a:latin typeface="Consolas" pitchFamily="34" charset="0"/>
                <a:ea typeface="Consolas" pitchFamily="34" charset="-122"/>
                <a:cs typeface="Consolas" pitchFamily="34" charset="-120"/>
              </a:rPr>
              <a:t>9 complaints</a:t>
            </a:r>
            <a:endParaRPr lang="en-US" sz="713" dirty="0"/>
          </a:p>
        </p:txBody>
      </p:sp>
      <p:sp>
        <p:nvSpPr>
          <p:cNvPr id="102" name="Text 99"/>
          <p:cNvSpPr txBox="1"/>
          <p:nvPr/>
        </p:nvSpPr>
        <p:spPr>
          <a:xfrm>
            <a:off x="8130540" y="4457700"/>
            <a:ext cx="952500" cy="171450"/>
          </a:xfrm>
          <a:prstGeom prst="rect">
            <a:avLst/>
          </a:prstGeom>
          <a:noFill/>
          <a:ln/>
        </p:spPr>
        <p:txBody>
          <a:bodyPr wrap="square" lIns="0" tIns="0" rIns="0" bIns="0" rtlCol="0" anchor="ctr"/>
          <a:lstStyle/>
          <a:p>
            <a:pPr marL="0" indent="0" algn="l">
              <a:buNone/>
            </a:pPr>
            <a:r>
              <a:rPr lang="en-US" sz="713" dirty="0">
                <a:solidFill>
                  <a:srgbClr val="C7D2E3"/>
                </a:solidFill>
                <a:latin typeface="Consolas" pitchFamily="34" charset="0"/>
                <a:ea typeface="Consolas" pitchFamily="34" charset="-122"/>
                <a:cs typeface="Consolas" pitchFamily="34" charset="-120"/>
              </a:rPr>
              <a:t>ML-C</a:t>
            </a:r>
            <a:endParaRPr lang="en-US" sz="713" dirty="0"/>
          </a:p>
        </p:txBody>
      </p:sp>
      <p:sp>
        <p:nvSpPr>
          <p:cNvPr id="103" name="Shape 100"/>
          <p:cNvSpPr/>
          <p:nvPr/>
        </p:nvSpPr>
        <p:spPr>
          <a:xfrm>
            <a:off x="10511790" y="4457700"/>
            <a:ext cx="948690" cy="171450"/>
          </a:xfrm>
          <a:prstGeom prst="roundRect">
            <a:avLst>
              <a:gd name="adj" fmla="val 32000"/>
            </a:avLst>
          </a:prstGeom>
          <a:solidFill>
            <a:srgbClr val="D97706">
              <a:alpha val="22000"/>
            </a:srgbClr>
          </a:solidFill>
          <a:ln w="9525">
            <a:solidFill>
              <a:srgbClr val="D97706">
                <a:alpha val="45000"/>
              </a:srgbClr>
            </a:solidFill>
            <a:prstDash val="solid"/>
          </a:ln>
        </p:spPr>
      </p:sp>
      <p:sp>
        <p:nvSpPr>
          <p:cNvPr id="104" name="Text 101"/>
          <p:cNvSpPr txBox="1"/>
          <p:nvPr/>
        </p:nvSpPr>
        <p:spPr>
          <a:xfrm>
            <a:off x="10511790" y="4457700"/>
            <a:ext cx="948690" cy="171450"/>
          </a:xfrm>
          <a:prstGeom prst="rect">
            <a:avLst/>
          </a:prstGeom>
          <a:noFill/>
          <a:ln/>
        </p:spPr>
        <p:txBody>
          <a:bodyPr wrap="square" lIns="0" tIns="0" rIns="0" bIns="0" rtlCol="0" anchor="ctr"/>
          <a:lstStyle/>
          <a:p>
            <a:pPr marL="0" indent="0" algn="ctr">
              <a:buNone/>
            </a:pPr>
            <a:r>
              <a:rPr lang="en-US" sz="713" b="1" dirty="0">
                <a:solidFill>
                  <a:srgbClr val="FBBF24"/>
                </a:solidFill>
                <a:latin typeface="Consolas" pitchFamily="34" charset="0"/>
                <a:ea typeface="Consolas" pitchFamily="34" charset="-122"/>
                <a:cs typeface="Consolas" pitchFamily="34" charset="-120"/>
              </a:rPr>
              <a:t>6 complaints</a:t>
            </a:r>
            <a:endParaRPr lang="en-US" sz="713" dirty="0"/>
          </a:p>
        </p:txBody>
      </p:sp>
      <p:sp>
        <p:nvSpPr>
          <p:cNvPr id="105" name="Text 102"/>
          <p:cNvSpPr txBox="1"/>
          <p:nvPr/>
        </p:nvSpPr>
        <p:spPr>
          <a:xfrm>
            <a:off x="8130540" y="4762500"/>
            <a:ext cx="952500" cy="152400"/>
          </a:xfrm>
          <a:prstGeom prst="rect">
            <a:avLst/>
          </a:prstGeom>
          <a:noFill/>
          <a:ln/>
        </p:spPr>
        <p:txBody>
          <a:bodyPr wrap="square" lIns="0" tIns="0" rIns="0" bIns="0" rtlCol="0" anchor="t"/>
          <a:lstStyle/>
          <a:p>
            <a:pPr marL="0" indent="0" algn="l">
              <a:buNone/>
            </a:pPr>
            <a:r>
              <a:rPr lang="en-US" sz="713" dirty="0">
                <a:solidFill>
                  <a:srgbClr val="9AA8BE"/>
                </a:solidFill>
                <a:latin typeface="Consolas" pitchFamily="34" charset="0"/>
                <a:ea typeface="Consolas" pitchFamily="34" charset="-122"/>
                <a:cs typeface="Consolas" pitchFamily="34" charset="-120"/>
              </a:rPr>
              <a:t>correlation</a:t>
            </a:r>
            <a:endParaRPr lang="en-US" sz="713" dirty="0"/>
          </a:p>
        </p:txBody>
      </p:sp>
      <p:sp>
        <p:nvSpPr>
          <p:cNvPr id="106" name="Text 103"/>
          <p:cNvSpPr txBox="1"/>
          <p:nvPr/>
        </p:nvSpPr>
        <p:spPr>
          <a:xfrm>
            <a:off x="10035540" y="4762500"/>
            <a:ext cx="1428750" cy="152400"/>
          </a:xfrm>
          <a:prstGeom prst="rect">
            <a:avLst/>
          </a:prstGeom>
          <a:noFill/>
          <a:ln/>
        </p:spPr>
        <p:txBody>
          <a:bodyPr wrap="square" lIns="0" tIns="0" rIns="0" bIns="0" rtlCol="0" anchor="t"/>
          <a:lstStyle/>
          <a:p>
            <a:pPr marL="0" indent="0" algn="r">
              <a:buNone/>
            </a:pPr>
            <a:r>
              <a:rPr lang="en-US" sz="713" b="1" dirty="0">
                <a:solidFill>
                  <a:srgbClr val="F5C542"/>
                </a:solidFill>
                <a:latin typeface="Consolas" pitchFamily="34" charset="0"/>
                <a:ea typeface="Consolas" pitchFamily="34" charset="-122"/>
                <a:cs typeface="Consolas" pitchFamily="34" charset="-120"/>
              </a:rPr>
              <a:t>r = 0.81</a:t>
            </a:r>
            <a:endParaRPr lang="en-US" sz="713" dirty="0"/>
          </a:p>
        </p:txBody>
      </p:sp>
      <p:sp>
        <p:nvSpPr>
          <p:cNvPr id="107" name="Shape 104"/>
          <p:cNvSpPr/>
          <p:nvPr/>
        </p:nvSpPr>
        <p:spPr>
          <a:xfrm>
            <a:off x="533400" y="5810250"/>
            <a:ext cx="11125200" cy="457200"/>
          </a:xfrm>
          <a:prstGeom prst="roundRect">
            <a:avLst>
              <a:gd name="adj" fmla="val 12000"/>
            </a:avLst>
          </a:prstGeom>
          <a:solidFill>
            <a:srgbClr val="FFFFFF">
              <a:alpha val="4000"/>
            </a:srgbClr>
          </a:solidFill>
          <a:ln w="9525">
            <a:solidFill>
              <a:srgbClr val="9AA8BE">
                <a:alpha val="16000"/>
              </a:srgbClr>
            </a:solidFill>
            <a:prstDash val="solid"/>
          </a:ln>
        </p:spPr>
      </p:sp>
      <p:sp>
        <p:nvSpPr>
          <p:cNvPr id="108" name="Text 105"/>
          <p:cNvSpPr txBox="1"/>
          <p:nvPr/>
        </p:nvSpPr>
        <p:spPr>
          <a:xfrm>
            <a:off x="723900" y="5810250"/>
            <a:ext cx="571500" cy="457200"/>
          </a:xfrm>
          <a:prstGeom prst="rect">
            <a:avLst/>
          </a:prstGeom>
          <a:noFill/>
          <a:ln/>
        </p:spPr>
        <p:txBody>
          <a:bodyPr wrap="square" lIns="0" tIns="0" rIns="0" bIns="0" rtlCol="0" anchor="ctr"/>
          <a:lstStyle/>
          <a:p>
            <a:pPr marL="0" indent="0" algn="l">
              <a:buNone/>
            </a:pPr>
            <a:r>
              <a:rPr lang="en-US" sz="750" b="1" kern="0" spc="200" dirty="0">
                <a:solidFill>
                  <a:srgbClr val="F5C542"/>
                </a:solidFill>
                <a:latin typeface="Consolas" pitchFamily="34" charset="0"/>
                <a:ea typeface="Consolas" pitchFamily="34" charset="-122"/>
                <a:cs typeface="Consolas" pitchFamily="34" charset="-120"/>
              </a:rPr>
              <a:t>TECH</a:t>
            </a:r>
            <a:endParaRPr lang="en-US" sz="750" dirty="0"/>
          </a:p>
        </p:txBody>
      </p:sp>
      <p:sp>
        <p:nvSpPr>
          <p:cNvPr id="109" name="Text 106"/>
          <p:cNvSpPr txBox="1"/>
          <p:nvPr/>
        </p:nvSpPr>
        <p:spPr>
          <a:xfrm>
            <a:off x="1238250" y="5810250"/>
            <a:ext cx="4000500" cy="457200"/>
          </a:xfrm>
          <a:prstGeom prst="rect">
            <a:avLst/>
          </a:prstGeom>
          <a:noFill/>
          <a:ln/>
        </p:spPr>
        <p:txBody>
          <a:bodyPr wrap="square" lIns="0" tIns="0" rIns="0" bIns="0" rtlCol="0" anchor="ctr"/>
          <a:lstStyle/>
          <a:p>
            <a:pPr marL="0" indent="0" algn="l">
              <a:buNone/>
            </a:pPr>
            <a:r>
              <a:rPr lang="en-US" sz="825" dirty="0">
                <a:solidFill>
                  <a:srgbClr val="C7D2E3"/>
                </a:solidFill>
                <a:latin typeface="Consolas" pitchFamily="34" charset="0"/>
                <a:ea typeface="Consolas" pitchFamily="34" charset="-122"/>
                <a:cs typeface="Consolas" pitchFamily="34" charset="-120"/>
              </a:rPr>
              <a:t>FastAPI backend · HTML/CSS/JS frontend · SVG graph engine</a:t>
            </a:r>
            <a:endParaRPr lang="en-US" sz="825" dirty="0"/>
          </a:p>
        </p:txBody>
      </p:sp>
      <p:sp>
        <p:nvSpPr>
          <p:cNvPr id="110" name="Text 107"/>
          <p:cNvSpPr txBox="1"/>
          <p:nvPr/>
        </p:nvSpPr>
        <p:spPr>
          <a:xfrm>
            <a:off x="5334000" y="5810250"/>
            <a:ext cx="4476750" cy="457200"/>
          </a:xfrm>
          <a:prstGeom prst="rect">
            <a:avLst/>
          </a:prstGeom>
          <a:noFill/>
          <a:ln/>
        </p:spPr>
        <p:txBody>
          <a:bodyPr wrap="square" lIns="0" tIns="0" rIns="0" bIns="0" rtlCol="0" anchor="ctr"/>
          <a:lstStyle/>
          <a:p>
            <a:pPr marL="0" indent="0" algn="l">
              <a:buNone/>
            </a:pPr>
            <a:r>
              <a:rPr lang="en-US" sz="675" dirty="0">
                <a:solidFill>
                  <a:srgbClr val="9AA8BE"/>
                </a:solidFill>
                <a:latin typeface="Consolas" pitchFamily="34" charset="0"/>
                <a:ea typeface="Consolas" pitchFamily="34" charset="-122"/>
                <a:cs typeface="Consolas" pitchFamily="34" charset="-120"/>
              </a:rPr>
              <a:t>SECTIONS: RISK QUEUE · PROFILE · TRAILS · NETWORK · COMPLAINTS · REPORTS</a:t>
            </a:r>
            <a:endParaRPr lang="en-US" sz="675" dirty="0"/>
          </a:p>
        </p:txBody>
      </p:sp>
      <p:sp>
        <p:nvSpPr>
          <p:cNvPr id="111" name="Text 108"/>
          <p:cNvSpPr txBox="1"/>
          <p:nvPr/>
        </p:nvSpPr>
        <p:spPr>
          <a:xfrm>
            <a:off x="9906000" y="5810250"/>
            <a:ext cx="1619250" cy="457200"/>
          </a:xfrm>
          <a:prstGeom prst="rect">
            <a:avLst/>
          </a:prstGeom>
          <a:noFill/>
          <a:ln/>
        </p:spPr>
        <p:txBody>
          <a:bodyPr wrap="square" lIns="0" tIns="0" rIns="0" bIns="0" rtlCol="0" anchor="ctr"/>
          <a:lstStyle/>
          <a:p>
            <a:pPr marL="0" indent="0" algn="r">
              <a:buNone/>
            </a:pPr>
            <a:r>
              <a:rPr lang="en-US" sz="675" dirty="0">
                <a:solidFill>
                  <a:srgbClr val="0F9D91"/>
                </a:solidFill>
                <a:latin typeface="Consolas" pitchFamily="34" charset="0"/>
                <a:ea typeface="Consolas" pitchFamily="34" charset="-122"/>
                <a:cs typeface="Consolas" pitchFamily="34" charset="-120"/>
              </a:rPr>
              <a:t>EXPORT: TXT · HTML · PDF</a:t>
            </a:r>
            <a:endParaRPr lang="en-US" sz="6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09 — IMPACT &amp; FUTURE SCOPE</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From research benchmark to </a:t>
            </a:r>
            <a:r>
              <a:rPr lang="en-US" sz="2475" b="1" dirty="0">
                <a:solidFill>
                  <a:srgbClr val="F5C542"/>
                </a:solidFill>
                <a:latin typeface="Arial" pitchFamily="34" charset="0"/>
                <a:ea typeface="Arial" pitchFamily="34" charset="-122"/>
                <a:cs typeface="Arial" pitchFamily="34" charset="-120"/>
              </a:rPr>
              <a:t>investigation-ready platform</a:t>
            </a:r>
            <a:endParaRPr lang="en-US" sz="2475" dirty="0"/>
          </a:p>
        </p:txBody>
      </p:sp>
      <p:sp>
        <p:nvSpPr>
          <p:cNvPr id="4" name="Shape 2"/>
          <p:cNvSpPr/>
          <p:nvPr/>
        </p:nvSpPr>
        <p:spPr>
          <a:xfrm>
            <a:off x="533400" y="1181100"/>
            <a:ext cx="5495925" cy="2762250"/>
          </a:xfrm>
          <a:prstGeom prst="roundRect">
            <a:avLst>
              <a:gd name="adj" fmla="val 1986"/>
            </a:avLst>
          </a:prstGeom>
          <a:solidFill>
            <a:srgbClr val="0F9D91">
              <a:alpha val="10000"/>
            </a:srgbClr>
          </a:solidFill>
          <a:ln w="9525">
            <a:solidFill>
              <a:srgbClr val="0F9D91">
                <a:alpha val="38000"/>
              </a:srgbClr>
            </a:solidFill>
            <a:prstDash val="solid"/>
          </a:ln>
        </p:spPr>
      </p:sp>
      <p:sp>
        <p:nvSpPr>
          <p:cNvPr id="5" name="Shape 3"/>
          <p:cNvSpPr/>
          <p:nvPr/>
        </p:nvSpPr>
        <p:spPr>
          <a:xfrm>
            <a:off x="704850" y="1371600"/>
            <a:ext cx="66675" cy="66675"/>
          </a:xfrm>
          <a:prstGeom prst="ellipse">
            <a:avLst/>
          </a:prstGeom>
          <a:solidFill>
            <a:srgbClr val="0F9D91"/>
          </a:solidFill>
          <a:ln/>
        </p:spPr>
      </p:sp>
      <p:sp>
        <p:nvSpPr>
          <p:cNvPr id="6" name="Text 4"/>
          <p:cNvSpPr txBox="1"/>
          <p:nvPr/>
        </p:nvSpPr>
        <p:spPr>
          <a:xfrm>
            <a:off x="857250" y="13239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KEY IMPACTS</a:t>
            </a:r>
            <a:endParaRPr lang="en-US" sz="975" dirty="0"/>
          </a:p>
        </p:txBody>
      </p:sp>
      <p:sp>
        <p:nvSpPr>
          <p:cNvPr id="7" name="Shape 5"/>
          <p:cNvSpPr/>
          <p:nvPr/>
        </p:nvSpPr>
        <p:spPr>
          <a:xfrm>
            <a:off x="6162675" y="1181100"/>
            <a:ext cx="5495925" cy="2762250"/>
          </a:xfrm>
          <a:prstGeom prst="roundRect">
            <a:avLst>
              <a:gd name="adj" fmla="val 1986"/>
            </a:avLst>
          </a:prstGeom>
          <a:solidFill>
            <a:srgbClr val="FFFFFF">
              <a:alpha val="4000"/>
            </a:srgbClr>
          </a:solidFill>
          <a:ln w="9525">
            <a:solidFill>
              <a:srgbClr val="9AA8BE">
                <a:alpha val="16000"/>
              </a:srgbClr>
            </a:solidFill>
            <a:prstDash val="solid"/>
          </a:ln>
        </p:spPr>
      </p:sp>
      <p:sp>
        <p:nvSpPr>
          <p:cNvPr id="8" name="Shape 6"/>
          <p:cNvSpPr/>
          <p:nvPr/>
        </p:nvSpPr>
        <p:spPr>
          <a:xfrm>
            <a:off x="6334125" y="1371600"/>
            <a:ext cx="66675" cy="66675"/>
          </a:xfrm>
          <a:prstGeom prst="ellipse">
            <a:avLst/>
          </a:prstGeom>
          <a:solidFill>
            <a:srgbClr val="2563EB"/>
          </a:solidFill>
          <a:ln/>
        </p:spPr>
      </p:sp>
      <p:sp>
        <p:nvSpPr>
          <p:cNvPr id="9" name="Text 7"/>
          <p:cNvSpPr txBox="1"/>
          <p:nvPr/>
        </p:nvSpPr>
        <p:spPr>
          <a:xfrm>
            <a:off x="6486525" y="13239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FUTURE SCOPE</a:t>
            </a:r>
            <a:endParaRPr lang="en-US" sz="975" dirty="0"/>
          </a:p>
        </p:txBody>
      </p:sp>
      <p:sp>
        <p:nvSpPr>
          <p:cNvPr id="10" name="Shape 8"/>
          <p:cNvSpPr/>
          <p:nvPr/>
        </p:nvSpPr>
        <p:spPr>
          <a:xfrm>
            <a:off x="704850" y="162877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11" name="Text 9"/>
          <p:cNvSpPr txBox="1"/>
          <p:nvPr/>
        </p:nvSpPr>
        <p:spPr>
          <a:xfrm>
            <a:off x="704850" y="162877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12" name="Text 10"/>
          <p:cNvSpPr txBox="1"/>
          <p:nvPr/>
        </p:nvSpPr>
        <p:spPr>
          <a:xfrm>
            <a:off x="942975" y="1619250"/>
            <a:ext cx="490537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8.8M transactions</a:t>
            </a:r>
            <a:r>
              <a:rPr lang="en-US" sz="915" dirty="0">
                <a:solidFill>
                  <a:srgbClr val="D6DEEC"/>
                </a:solidFill>
                <a:latin typeface="Calibri" pitchFamily="34" charset="0"/>
                <a:ea typeface="Calibri" pitchFamily="34" charset="-122"/>
                <a:cs typeface="Calibri" pitchFamily="34" charset="-120"/>
              </a:rPr>
              <a:t> analysed automatically</a:t>
            </a:r>
            <a:endParaRPr lang="en-US" sz="915" dirty="0"/>
          </a:p>
        </p:txBody>
      </p:sp>
      <p:sp>
        <p:nvSpPr>
          <p:cNvPr id="13" name="Shape 11"/>
          <p:cNvSpPr/>
          <p:nvPr/>
        </p:nvSpPr>
        <p:spPr>
          <a:xfrm>
            <a:off x="704850" y="2000250"/>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14" name="Text 12"/>
          <p:cNvSpPr txBox="1"/>
          <p:nvPr/>
        </p:nvSpPr>
        <p:spPr>
          <a:xfrm>
            <a:off x="704850" y="2000250"/>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15" name="Text 13"/>
          <p:cNvSpPr txBox="1"/>
          <p:nvPr/>
        </p:nvSpPr>
        <p:spPr>
          <a:xfrm>
            <a:off x="942975" y="1990725"/>
            <a:ext cx="490537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P@50 = 1.00</a:t>
            </a:r>
            <a:r>
              <a:rPr lang="en-US" sz="915" dirty="0">
                <a:solidFill>
                  <a:srgbClr val="D6DEEC"/>
                </a:solidFill>
                <a:latin typeface="Calibri" pitchFamily="34" charset="0"/>
                <a:ea typeface="Calibri" pitchFamily="34" charset="-122"/>
                <a:cs typeface="Calibri" pitchFamily="34" charset="-120"/>
              </a:rPr>
              <a:t> — zero false positives in the top-50 alert queue</a:t>
            </a:r>
            <a:endParaRPr lang="en-US" sz="915" dirty="0"/>
          </a:p>
        </p:txBody>
      </p:sp>
      <p:sp>
        <p:nvSpPr>
          <p:cNvPr id="16" name="Shape 14"/>
          <p:cNvSpPr/>
          <p:nvPr/>
        </p:nvSpPr>
        <p:spPr>
          <a:xfrm>
            <a:off x="704850" y="237172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17" name="Text 15"/>
          <p:cNvSpPr txBox="1"/>
          <p:nvPr/>
        </p:nvSpPr>
        <p:spPr>
          <a:xfrm>
            <a:off x="704850" y="237172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18" name="Text 16"/>
          <p:cNvSpPr txBox="1"/>
          <p:nvPr/>
        </p:nvSpPr>
        <p:spPr>
          <a:xfrm>
            <a:off x="942975" y="2362200"/>
            <a:ext cx="490537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Explainable risk scores</a:t>
            </a:r>
            <a:r>
              <a:rPr lang="en-US" sz="915" dirty="0">
                <a:solidFill>
                  <a:srgbClr val="D6DEEC"/>
                </a:solidFill>
                <a:latin typeface="Calibri" pitchFamily="34" charset="0"/>
                <a:ea typeface="Calibri" pitchFamily="34" charset="-122"/>
                <a:cs typeface="Calibri" pitchFamily="34" charset="-120"/>
              </a:rPr>
              <a:t> via SHAP reason codes</a:t>
            </a:r>
            <a:endParaRPr lang="en-US" sz="915" dirty="0"/>
          </a:p>
        </p:txBody>
      </p:sp>
      <p:sp>
        <p:nvSpPr>
          <p:cNvPr id="19" name="Shape 17"/>
          <p:cNvSpPr/>
          <p:nvPr/>
        </p:nvSpPr>
        <p:spPr>
          <a:xfrm>
            <a:off x="704850" y="2743200"/>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20" name="Text 18"/>
          <p:cNvSpPr txBox="1"/>
          <p:nvPr/>
        </p:nvSpPr>
        <p:spPr>
          <a:xfrm>
            <a:off x="704850" y="2743200"/>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21" name="Text 19"/>
          <p:cNvSpPr txBox="1"/>
          <p:nvPr/>
        </p:nvSpPr>
        <p:spPr>
          <a:xfrm>
            <a:off x="942975" y="2733675"/>
            <a:ext cx="4905375" cy="381000"/>
          </a:xfrm>
          <a:prstGeom prst="rect">
            <a:avLst/>
          </a:prstGeom>
          <a:noFill/>
          <a:ln/>
        </p:spPr>
        <p:txBody>
          <a:bodyPr wrap="square" lIns="0" tIns="0" rIns="0" bIns="0" rtlCol="0" anchor="t"/>
          <a:lstStyle/>
          <a:p>
            <a:pPr marL="0" indent="0" algn="l">
              <a:buNone/>
            </a:pPr>
            <a:r>
              <a:rPr lang="en-US" sz="915" dirty="0">
                <a:solidFill>
                  <a:srgbClr val="D6DEEC"/>
                </a:solidFill>
                <a:latin typeface="Calibri" pitchFamily="34" charset="0"/>
                <a:ea typeface="Calibri" pitchFamily="34" charset="-122"/>
                <a:cs typeface="Calibri" pitchFamily="34" charset="-120"/>
              </a:rPr>
              <a:t>SAR reports in </a:t>
            </a:r>
            <a:r>
              <a:rPr lang="en-US" sz="915" b="1" dirty="0">
                <a:solidFill>
                  <a:srgbClr val="FFFFFF"/>
                </a:solidFill>
                <a:latin typeface="Calibri" pitchFamily="34" charset="0"/>
                <a:ea typeface="Calibri" pitchFamily="34" charset="-122"/>
                <a:cs typeface="Calibri" pitchFamily="34" charset="-120"/>
              </a:rPr>
              <a:t>3 formats</a:t>
            </a:r>
            <a:r>
              <a:rPr lang="en-US" sz="915" dirty="0">
                <a:solidFill>
                  <a:srgbClr val="D6DEEC"/>
                </a:solidFill>
                <a:latin typeface="Calibri" pitchFamily="34" charset="0"/>
                <a:ea typeface="Calibri" pitchFamily="34" charset="-122"/>
                <a:cs typeface="Calibri" pitchFamily="34" charset="-120"/>
              </a:rPr>
              <a:t> — TXT / HTML / PDF</a:t>
            </a:r>
            <a:endParaRPr lang="en-US" sz="915" dirty="0"/>
          </a:p>
        </p:txBody>
      </p:sp>
      <p:sp>
        <p:nvSpPr>
          <p:cNvPr id="22" name="Shape 20"/>
          <p:cNvSpPr/>
          <p:nvPr/>
        </p:nvSpPr>
        <p:spPr>
          <a:xfrm>
            <a:off x="704850" y="3114675"/>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23" name="Text 21"/>
          <p:cNvSpPr txBox="1"/>
          <p:nvPr/>
        </p:nvSpPr>
        <p:spPr>
          <a:xfrm>
            <a:off x="704850" y="3114675"/>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24" name="Text 22"/>
          <p:cNvSpPr txBox="1"/>
          <p:nvPr/>
        </p:nvSpPr>
        <p:spPr>
          <a:xfrm>
            <a:off x="942975" y="3105150"/>
            <a:ext cx="4905375" cy="381000"/>
          </a:xfrm>
          <a:prstGeom prst="rect">
            <a:avLst/>
          </a:prstGeom>
          <a:noFill/>
          <a:ln/>
        </p:spPr>
        <p:txBody>
          <a:bodyPr wrap="square" lIns="0" tIns="0" rIns="0" bIns="0" rtlCol="0" anchor="t"/>
          <a:lstStyle/>
          <a:p>
            <a:pPr marL="0" indent="0" algn="l">
              <a:buNone/>
            </a:pPr>
            <a:r>
              <a:rPr lang="en-US" sz="915" dirty="0">
                <a:solidFill>
                  <a:srgbClr val="D6DEEC"/>
                </a:solidFill>
                <a:latin typeface="Calibri" pitchFamily="34" charset="0"/>
                <a:ea typeface="Calibri" pitchFamily="34" charset="-122"/>
                <a:cs typeface="Calibri" pitchFamily="34" charset="-120"/>
              </a:rPr>
              <a:t>End-to-end workflow — </a:t>
            </a:r>
            <a:r>
              <a:rPr lang="en-US" sz="915" b="1" dirty="0">
                <a:solidFill>
                  <a:srgbClr val="FFFFFF"/>
                </a:solidFill>
                <a:latin typeface="Calibri" pitchFamily="34" charset="0"/>
                <a:ea typeface="Calibri" pitchFamily="34" charset="-122"/>
                <a:cs typeface="Calibri" pitchFamily="34" charset="-120"/>
              </a:rPr>
              <a:t>detection → report</a:t>
            </a:r>
            <a:endParaRPr lang="en-US" sz="915" dirty="0"/>
          </a:p>
        </p:txBody>
      </p:sp>
      <p:sp>
        <p:nvSpPr>
          <p:cNvPr id="25" name="Shape 23"/>
          <p:cNvSpPr/>
          <p:nvPr/>
        </p:nvSpPr>
        <p:spPr>
          <a:xfrm>
            <a:off x="704850" y="3486150"/>
            <a:ext cx="152400" cy="152400"/>
          </a:xfrm>
          <a:prstGeom prst="roundRect">
            <a:avLst>
              <a:gd name="adj" fmla="val 36000"/>
            </a:avLst>
          </a:prstGeom>
          <a:solidFill>
            <a:srgbClr val="0F9D91">
              <a:alpha val="22000"/>
            </a:srgbClr>
          </a:solidFill>
          <a:ln w="9525">
            <a:solidFill>
              <a:srgbClr val="0F9D91">
                <a:alpha val="45000"/>
              </a:srgbClr>
            </a:solidFill>
            <a:prstDash val="solid"/>
          </a:ln>
        </p:spPr>
      </p:sp>
      <p:sp>
        <p:nvSpPr>
          <p:cNvPr id="26" name="Text 24"/>
          <p:cNvSpPr txBox="1"/>
          <p:nvPr/>
        </p:nvSpPr>
        <p:spPr>
          <a:xfrm>
            <a:off x="704850" y="3486150"/>
            <a:ext cx="152400" cy="152400"/>
          </a:xfrm>
          <a:prstGeom prst="rect">
            <a:avLst/>
          </a:prstGeom>
          <a:noFill/>
          <a:ln/>
        </p:spPr>
        <p:txBody>
          <a:bodyPr wrap="square" lIns="0" tIns="0" rIns="0" bIns="0" rtlCol="0" anchor="ctr"/>
          <a:lstStyle/>
          <a:p>
            <a:pPr marL="0" indent="0" algn="ctr">
              <a:buNone/>
            </a:pPr>
            <a:r>
              <a:rPr lang="en-US" sz="675" b="1" dirty="0">
                <a:solidFill>
                  <a:srgbClr val="2CC5B7"/>
                </a:solidFill>
                <a:latin typeface="Arial" pitchFamily="34" charset="0"/>
                <a:ea typeface="Arial" pitchFamily="34" charset="-122"/>
                <a:cs typeface="Arial" pitchFamily="34" charset="-120"/>
              </a:rPr>
              <a:t>✓</a:t>
            </a:r>
            <a:endParaRPr lang="en-US" sz="675" dirty="0"/>
          </a:p>
        </p:txBody>
      </p:sp>
      <p:sp>
        <p:nvSpPr>
          <p:cNvPr id="27" name="Text 25"/>
          <p:cNvSpPr txBox="1"/>
          <p:nvPr/>
        </p:nvSpPr>
        <p:spPr>
          <a:xfrm>
            <a:off x="942975" y="3476625"/>
            <a:ext cx="490537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7 ML algorithms</a:t>
            </a:r>
            <a:r>
              <a:rPr lang="en-US" sz="915" dirty="0">
                <a:solidFill>
                  <a:srgbClr val="D6DEEC"/>
                </a:solidFill>
                <a:latin typeface="Calibri" pitchFamily="34" charset="0"/>
                <a:ea typeface="Calibri" pitchFamily="34" charset="-122"/>
                <a:cs typeface="Calibri" pitchFamily="34" charset="-120"/>
              </a:rPr>
              <a:t> compared — 80× better than random</a:t>
            </a:r>
            <a:endParaRPr lang="en-US" sz="915" dirty="0"/>
          </a:p>
        </p:txBody>
      </p:sp>
      <p:sp>
        <p:nvSpPr>
          <p:cNvPr id="28" name="Shape 26"/>
          <p:cNvSpPr/>
          <p:nvPr/>
        </p:nvSpPr>
        <p:spPr>
          <a:xfrm>
            <a:off x="6334125" y="1628775"/>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29" name="Text 27"/>
          <p:cNvSpPr txBox="1"/>
          <p:nvPr/>
        </p:nvSpPr>
        <p:spPr>
          <a:xfrm>
            <a:off x="6334125" y="1628775"/>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a:t>
            </a:r>
            <a:endParaRPr lang="en-US" sz="675" dirty="0"/>
          </a:p>
        </p:txBody>
      </p:sp>
      <p:sp>
        <p:nvSpPr>
          <p:cNvPr id="30" name="Text 28"/>
          <p:cNvSpPr txBox="1"/>
          <p:nvPr/>
        </p:nvSpPr>
        <p:spPr>
          <a:xfrm>
            <a:off x="6572250" y="1619250"/>
            <a:ext cx="490537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Graph Neural Networks</a:t>
            </a:r>
            <a:r>
              <a:rPr lang="en-US" sz="915" dirty="0">
                <a:solidFill>
                  <a:srgbClr val="D6DEEC"/>
                </a:solidFill>
                <a:latin typeface="Calibri" pitchFamily="34" charset="0"/>
                <a:ea typeface="Calibri" pitchFamily="34" charset="-122"/>
                <a:cs typeface="Calibri" pitchFamily="34" charset="-120"/>
              </a:rPr>
              <a:t> for higher-order relational patterns</a:t>
            </a:r>
            <a:endParaRPr lang="en-US" sz="915" dirty="0"/>
          </a:p>
        </p:txBody>
      </p:sp>
      <p:sp>
        <p:nvSpPr>
          <p:cNvPr id="31" name="Shape 29"/>
          <p:cNvSpPr/>
          <p:nvPr/>
        </p:nvSpPr>
        <p:spPr>
          <a:xfrm>
            <a:off x="6334125" y="2000250"/>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32" name="Text 30"/>
          <p:cNvSpPr txBox="1"/>
          <p:nvPr/>
        </p:nvSpPr>
        <p:spPr>
          <a:xfrm>
            <a:off x="6334125" y="2000250"/>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a:t>
            </a:r>
            <a:endParaRPr lang="en-US" sz="675" dirty="0"/>
          </a:p>
        </p:txBody>
      </p:sp>
      <p:sp>
        <p:nvSpPr>
          <p:cNvPr id="33" name="Text 31"/>
          <p:cNvSpPr txBox="1"/>
          <p:nvPr/>
        </p:nvSpPr>
        <p:spPr>
          <a:xfrm>
            <a:off x="6572250" y="1990725"/>
            <a:ext cx="490537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Real-time streaming</a:t>
            </a:r>
            <a:r>
              <a:rPr lang="en-US" sz="915" dirty="0">
                <a:solidFill>
                  <a:srgbClr val="D6DEEC"/>
                </a:solidFill>
                <a:latin typeface="Calibri" pitchFamily="34" charset="0"/>
                <a:ea typeface="Calibri" pitchFamily="34" charset="-122"/>
                <a:cs typeface="Calibri" pitchFamily="34" charset="-120"/>
              </a:rPr>
              <a:t> (Apache Kafka) for live scoring</a:t>
            </a:r>
            <a:endParaRPr lang="en-US" sz="915" dirty="0"/>
          </a:p>
        </p:txBody>
      </p:sp>
      <p:sp>
        <p:nvSpPr>
          <p:cNvPr id="34" name="Shape 32"/>
          <p:cNvSpPr/>
          <p:nvPr/>
        </p:nvSpPr>
        <p:spPr>
          <a:xfrm>
            <a:off x="6334125" y="2371725"/>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35" name="Text 33"/>
          <p:cNvSpPr txBox="1"/>
          <p:nvPr/>
        </p:nvSpPr>
        <p:spPr>
          <a:xfrm>
            <a:off x="6334125" y="2371725"/>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a:t>
            </a:r>
            <a:endParaRPr lang="en-US" sz="675" dirty="0"/>
          </a:p>
        </p:txBody>
      </p:sp>
      <p:sp>
        <p:nvSpPr>
          <p:cNvPr id="36" name="Text 34"/>
          <p:cNvSpPr txBox="1"/>
          <p:nvPr/>
        </p:nvSpPr>
        <p:spPr>
          <a:xfrm>
            <a:off x="6572250" y="2362200"/>
            <a:ext cx="490537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Federated learning</a:t>
            </a:r>
            <a:r>
              <a:rPr lang="en-US" sz="915" dirty="0">
                <a:solidFill>
                  <a:srgbClr val="D6DEEC"/>
                </a:solidFill>
                <a:latin typeface="Calibri" pitchFamily="34" charset="0"/>
                <a:ea typeface="Calibri" pitchFamily="34" charset="-122"/>
                <a:cs typeface="Calibri" pitchFamily="34" charset="-120"/>
              </a:rPr>
              <a:t> across banks — privacy-preserving</a:t>
            </a:r>
            <a:endParaRPr lang="en-US" sz="915" dirty="0"/>
          </a:p>
        </p:txBody>
      </p:sp>
      <p:sp>
        <p:nvSpPr>
          <p:cNvPr id="37" name="Shape 35"/>
          <p:cNvSpPr/>
          <p:nvPr/>
        </p:nvSpPr>
        <p:spPr>
          <a:xfrm>
            <a:off x="6334125" y="2743200"/>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38" name="Text 36"/>
          <p:cNvSpPr txBox="1"/>
          <p:nvPr/>
        </p:nvSpPr>
        <p:spPr>
          <a:xfrm>
            <a:off x="6334125" y="2743200"/>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a:t>
            </a:r>
            <a:endParaRPr lang="en-US" sz="675" dirty="0"/>
          </a:p>
        </p:txBody>
      </p:sp>
      <p:sp>
        <p:nvSpPr>
          <p:cNvPr id="39" name="Text 37"/>
          <p:cNvSpPr txBox="1"/>
          <p:nvPr/>
        </p:nvSpPr>
        <p:spPr>
          <a:xfrm>
            <a:off x="6572250" y="2733675"/>
            <a:ext cx="490537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LSTM / Transformer</a:t>
            </a:r>
            <a:r>
              <a:rPr lang="en-US" sz="915" dirty="0">
                <a:solidFill>
                  <a:srgbClr val="D6DEEC"/>
                </a:solidFill>
                <a:latin typeface="Calibri" pitchFamily="34" charset="0"/>
                <a:ea typeface="Calibri" pitchFamily="34" charset="-122"/>
                <a:cs typeface="Calibri" pitchFamily="34" charset="-120"/>
              </a:rPr>
              <a:t> models for time-aware detection</a:t>
            </a:r>
            <a:endParaRPr lang="en-US" sz="915" dirty="0"/>
          </a:p>
        </p:txBody>
      </p:sp>
      <p:sp>
        <p:nvSpPr>
          <p:cNvPr id="40" name="Shape 38"/>
          <p:cNvSpPr/>
          <p:nvPr/>
        </p:nvSpPr>
        <p:spPr>
          <a:xfrm>
            <a:off x="6334125" y="3114675"/>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41" name="Text 39"/>
          <p:cNvSpPr txBox="1"/>
          <p:nvPr/>
        </p:nvSpPr>
        <p:spPr>
          <a:xfrm>
            <a:off x="6334125" y="3114675"/>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a:t>
            </a:r>
            <a:endParaRPr lang="en-US" sz="675" dirty="0"/>
          </a:p>
        </p:txBody>
      </p:sp>
      <p:sp>
        <p:nvSpPr>
          <p:cNvPr id="42" name="Text 40"/>
          <p:cNvSpPr txBox="1"/>
          <p:nvPr/>
        </p:nvSpPr>
        <p:spPr>
          <a:xfrm>
            <a:off x="6572250" y="3105150"/>
            <a:ext cx="490537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Active learning</a:t>
            </a:r>
            <a:r>
              <a:rPr lang="en-US" sz="915" dirty="0">
                <a:solidFill>
                  <a:srgbClr val="D6DEEC"/>
                </a:solidFill>
                <a:latin typeface="Calibri" pitchFamily="34" charset="0"/>
                <a:ea typeface="Calibri" pitchFamily="34" charset="-122"/>
                <a:cs typeface="Calibri" pitchFamily="34" charset="-120"/>
              </a:rPr>
              <a:t> with investigator feedback loops</a:t>
            </a:r>
            <a:endParaRPr lang="en-US" sz="915" dirty="0"/>
          </a:p>
        </p:txBody>
      </p:sp>
      <p:sp>
        <p:nvSpPr>
          <p:cNvPr id="43" name="Shape 41"/>
          <p:cNvSpPr/>
          <p:nvPr/>
        </p:nvSpPr>
        <p:spPr>
          <a:xfrm>
            <a:off x="6334125" y="3486150"/>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44" name="Text 42"/>
          <p:cNvSpPr txBox="1"/>
          <p:nvPr/>
        </p:nvSpPr>
        <p:spPr>
          <a:xfrm>
            <a:off x="6334125" y="3486150"/>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a:t>
            </a:r>
            <a:endParaRPr lang="en-US" sz="675" dirty="0"/>
          </a:p>
        </p:txBody>
      </p:sp>
      <p:sp>
        <p:nvSpPr>
          <p:cNvPr id="45" name="Text 43"/>
          <p:cNvSpPr txBox="1"/>
          <p:nvPr/>
        </p:nvSpPr>
        <p:spPr>
          <a:xfrm>
            <a:off x="6572250" y="3476625"/>
            <a:ext cx="4905375"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Mobile app</a:t>
            </a:r>
            <a:r>
              <a:rPr lang="en-US" sz="915" dirty="0">
                <a:solidFill>
                  <a:srgbClr val="D6DEEC"/>
                </a:solidFill>
                <a:latin typeface="Calibri" pitchFamily="34" charset="0"/>
                <a:ea typeface="Calibri" pitchFamily="34" charset="-122"/>
                <a:cs typeface="Calibri" pitchFamily="34" charset="-120"/>
              </a:rPr>
              <a:t> for field investigators</a:t>
            </a:r>
            <a:endParaRPr lang="en-US" sz="915" dirty="0"/>
          </a:p>
        </p:txBody>
      </p:sp>
      <p:sp>
        <p:nvSpPr>
          <p:cNvPr id="46" name="Shape 44"/>
          <p:cNvSpPr/>
          <p:nvPr/>
        </p:nvSpPr>
        <p:spPr>
          <a:xfrm>
            <a:off x="533400" y="4095750"/>
            <a:ext cx="11125200" cy="495300"/>
          </a:xfrm>
          <a:prstGeom prst="roundRect">
            <a:avLst>
              <a:gd name="adj" fmla="val 11077"/>
            </a:avLst>
          </a:prstGeom>
          <a:solidFill>
            <a:srgbClr val="F5C542">
              <a:alpha val="9000"/>
            </a:srgbClr>
          </a:solidFill>
          <a:ln w="9525">
            <a:solidFill>
              <a:srgbClr val="F5C542">
                <a:alpha val="38000"/>
              </a:srgbClr>
            </a:solidFill>
            <a:prstDash val="solid"/>
          </a:ln>
        </p:spPr>
      </p:sp>
      <p:sp>
        <p:nvSpPr>
          <p:cNvPr id="47" name="Text 45"/>
          <p:cNvSpPr txBox="1"/>
          <p:nvPr/>
        </p:nvSpPr>
        <p:spPr>
          <a:xfrm>
            <a:off x="723900" y="4095750"/>
            <a:ext cx="1047750" cy="495300"/>
          </a:xfrm>
          <a:prstGeom prst="rect">
            <a:avLst/>
          </a:prstGeom>
          <a:noFill/>
          <a:ln/>
        </p:spPr>
        <p:txBody>
          <a:bodyPr wrap="square" lIns="0" tIns="0" rIns="0" bIns="0" rtlCol="0" anchor="ctr"/>
          <a:lstStyle/>
          <a:p>
            <a:pPr marL="0" indent="0" algn="l">
              <a:buNone/>
            </a:pPr>
            <a:r>
              <a:rPr lang="en-US" sz="750" b="1" kern="0" spc="200" dirty="0">
                <a:solidFill>
                  <a:srgbClr val="F5C542"/>
                </a:solidFill>
                <a:latin typeface="Consolas" pitchFamily="34" charset="0"/>
                <a:ea typeface="Consolas" pitchFamily="34" charset="-122"/>
                <a:cs typeface="Consolas" pitchFamily="34" charset="-120"/>
              </a:rPr>
              <a:t>TECH STACK</a:t>
            </a:r>
            <a:endParaRPr lang="en-US" sz="750" dirty="0"/>
          </a:p>
        </p:txBody>
      </p:sp>
      <p:sp>
        <p:nvSpPr>
          <p:cNvPr id="48" name="Shape 46"/>
          <p:cNvSpPr/>
          <p:nvPr/>
        </p:nvSpPr>
        <p:spPr>
          <a:xfrm>
            <a:off x="1905000" y="4229100"/>
            <a:ext cx="581597"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49" name="Text 47"/>
          <p:cNvSpPr txBox="1"/>
          <p:nvPr/>
        </p:nvSpPr>
        <p:spPr>
          <a:xfrm>
            <a:off x="1905000" y="4229100"/>
            <a:ext cx="581597"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PYTHON</a:t>
            </a:r>
            <a:endParaRPr lang="en-US" sz="788" dirty="0"/>
          </a:p>
        </p:txBody>
      </p:sp>
      <p:sp>
        <p:nvSpPr>
          <p:cNvPr id="50" name="Shape 48"/>
          <p:cNvSpPr/>
          <p:nvPr/>
        </p:nvSpPr>
        <p:spPr>
          <a:xfrm>
            <a:off x="2562797" y="4229100"/>
            <a:ext cx="643604"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51" name="Text 49"/>
          <p:cNvSpPr txBox="1"/>
          <p:nvPr/>
        </p:nvSpPr>
        <p:spPr>
          <a:xfrm>
            <a:off x="2562797" y="4229100"/>
            <a:ext cx="643604"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XGBOOST</a:t>
            </a:r>
            <a:endParaRPr lang="en-US" sz="788" dirty="0"/>
          </a:p>
        </p:txBody>
      </p:sp>
      <p:sp>
        <p:nvSpPr>
          <p:cNvPr id="52" name="Shape 50"/>
          <p:cNvSpPr/>
          <p:nvPr/>
        </p:nvSpPr>
        <p:spPr>
          <a:xfrm>
            <a:off x="3282601" y="4229100"/>
            <a:ext cx="457581"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53" name="Text 51"/>
          <p:cNvSpPr txBox="1"/>
          <p:nvPr/>
        </p:nvSpPr>
        <p:spPr>
          <a:xfrm>
            <a:off x="3282601" y="4229100"/>
            <a:ext cx="457581"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SHAP</a:t>
            </a:r>
            <a:endParaRPr lang="en-US" sz="788" dirty="0"/>
          </a:p>
        </p:txBody>
      </p:sp>
      <p:sp>
        <p:nvSpPr>
          <p:cNvPr id="54" name="Shape 52"/>
          <p:cNvSpPr/>
          <p:nvPr/>
        </p:nvSpPr>
        <p:spPr>
          <a:xfrm>
            <a:off x="3816382" y="4229100"/>
            <a:ext cx="705612"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55" name="Text 53"/>
          <p:cNvSpPr txBox="1"/>
          <p:nvPr/>
        </p:nvSpPr>
        <p:spPr>
          <a:xfrm>
            <a:off x="3816382" y="4229100"/>
            <a:ext cx="705612"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NETWORKX</a:t>
            </a:r>
            <a:endParaRPr lang="en-US" sz="788" dirty="0"/>
          </a:p>
        </p:txBody>
      </p:sp>
      <p:sp>
        <p:nvSpPr>
          <p:cNvPr id="56" name="Shape 54"/>
          <p:cNvSpPr/>
          <p:nvPr/>
        </p:nvSpPr>
        <p:spPr>
          <a:xfrm>
            <a:off x="4598194" y="4229100"/>
            <a:ext cx="953643"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57" name="Text 55"/>
          <p:cNvSpPr txBox="1"/>
          <p:nvPr/>
        </p:nvSpPr>
        <p:spPr>
          <a:xfrm>
            <a:off x="4598194" y="4229100"/>
            <a:ext cx="953643"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SCIKIT-LEARN</a:t>
            </a:r>
            <a:endParaRPr lang="en-US" sz="788" dirty="0"/>
          </a:p>
        </p:txBody>
      </p:sp>
      <p:sp>
        <p:nvSpPr>
          <p:cNvPr id="58" name="Shape 56"/>
          <p:cNvSpPr/>
          <p:nvPr/>
        </p:nvSpPr>
        <p:spPr>
          <a:xfrm>
            <a:off x="5628037" y="4229100"/>
            <a:ext cx="643604"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59" name="Text 57"/>
          <p:cNvSpPr txBox="1"/>
          <p:nvPr/>
        </p:nvSpPr>
        <p:spPr>
          <a:xfrm>
            <a:off x="5628037" y="4229100"/>
            <a:ext cx="643604"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FASTAPI</a:t>
            </a:r>
            <a:endParaRPr lang="en-US" sz="788" dirty="0"/>
          </a:p>
        </p:txBody>
      </p:sp>
      <p:sp>
        <p:nvSpPr>
          <p:cNvPr id="60" name="Shape 58"/>
          <p:cNvSpPr/>
          <p:nvPr/>
        </p:nvSpPr>
        <p:spPr>
          <a:xfrm>
            <a:off x="6347841" y="4229100"/>
            <a:ext cx="1139666"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61" name="Text 59"/>
          <p:cNvSpPr txBox="1"/>
          <p:nvPr/>
        </p:nvSpPr>
        <p:spPr>
          <a:xfrm>
            <a:off x="6347841" y="4229100"/>
            <a:ext cx="1139666"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HTML / CSS / JS</a:t>
            </a:r>
            <a:endParaRPr lang="en-US" sz="788" dirty="0"/>
          </a:p>
        </p:txBody>
      </p:sp>
      <p:sp>
        <p:nvSpPr>
          <p:cNvPr id="62" name="Shape 60"/>
          <p:cNvSpPr/>
          <p:nvPr/>
        </p:nvSpPr>
        <p:spPr>
          <a:xfrm>
            <a:off x="7563707" y="4229100"/>
            <a:ext cx="1201674" cy="233362"/>
          </a:xfrm>
          <a:prstGeom prst="roundRect">
            <a:avLst>
              <a:gd name="adj" fmla="val 23510"/>
            </a:avLst>
          </a:prstGeom>
          <a:solidFill>
            <a:srgbClr val="FFFFFF">
              <a:alpha val="5000"/>
            </a:srgbClr>
          </a:solidFill>
          <a:ln w="9525">
            <a:solidFill>
              <a:srgbClr val="9AA8BE">
                <a:alpha val="40000"/>
              </a:srgbClr>
            </a:solidFill>
            <a:prstDash val="solid"/>
          </a:ln>
        </p:spPr>
      </p:sp>
      <p:sp>
        <p:nvSpPr>
          <p:cNvPr id="63" name="Text 61"/>
          <p:cNvSpPr txBox="1"/>
          <p:nvPr/>
        </p:nvSpPr>
        <p:spPr>
          <a:xfrm>
            <a:off x="7563707" y="4229100"/>
            <a:ext cx="1201674" cy="233362"/>
          </a:xfrm>
          <a:prstGeom prst="rect">
            <a:avLst/>
          </a:prstGeom>
          <a:noFill/>
          <a:ln/>
        </p:spPr>
        <p:txBody>
          <a:bodyPr wrap="square" lIns="0" tIns="0" rIns="0" bIns="0" rtlCol="0" anchor="ctr"/>
          <a:lstStyle/>
          <a:p>
            <a:pPr marL="0" indent="0" algn="ctr">
              <a:buNone/>
            </a:pPr>
            <a:r>
              <a:rPr lang="en-US" sz="788" dirty="0">
                <a:solidFill>
                  <a:srgbClr val="C7D2E3"/>
                </a:solidFill>
                <a:latin typeface="Consolas" pitchFamily="34" charset="0"/>
                <a:ea typeface="Consolas" pitchFamily="34" charset="-122"/>
                <a:cs typeface="Consolas" pitchFamily="34" charset="-120"/>
              </a:rPr>
              <a:t>SVG GRAPH ENGINE</a:t>
            </a:r>
            <a:endParaRPr lang="en-US" sz="788" dirty="0"/>
          </a:p>
        </p:txBody>
      </p:sp>
      <p:sp>
        <p:nvSpPr>
          <p:cNvPr id="64" name="Text 62"/>
          <p:cNvSpPr txBox="1"/>
          <p:nvPr/>
        </p:nvSpPr>
        <p:spPr>
          <a:xfrm>
            <a:off x="533400" y="4857750"/>
            <a:ext cx="4000500" cy="571500"/>
          </a:xfrm>
          <a:prstGeom prst="rect">
            <a:avLst/>
          </a:prstGeom>
          <a:noFill/>
          <a:ln/>
        </p:spPr>
        <p:txBody>
          <a:bodyPr wrap="square" lIns="0" tIns="0" rIns="0" bIns="0" rtlCol="0" anchor="ctr"/>
          <a:lstStyle/>
          <a:p>
            <a:pPr marL="0" indent="0" algn="l">
              <a:buNone/>
            </a:pPr>
            <a:r>
              <a:rPr lang="en-US" sz="3150" b="1" dirty="0">
                <a:solidFill>
                  <a:srgbClr val="FFFFFF"/>
                </a:solidFill>
                <a:latin typeface="Arial" pitchFamily="34" charset="0"/>
                <a:ea typeface="Arial" pitchFamily="34" charset="-122"/>
                <a:cs typeface="Arial" pitchFamily="34" charset="-120"/>
              </a:rPr>
              <a:t>THANK YOU</a:t>
            </a:r>
            <a:r>
              <a:rPr lang="en-US" sz="3150" b="1" dirty="0">
                <a:solidFill>
                  <a:srgbClr val="F5C542"/>
                </a:solidFill>
                <a:latin typeface="Arial" pitchFamily="34" charset="0"/>
                <a:ea typeface="Arial" pitchFamily="34" charset="-122"/>
                <a:cs typeface="Arial" pitchFamily="34" charset="-120"/>
              </a:rPr>
              <a:t>.</a:t>
            </a:r>
            <a:endParaRPr lang="en-US" sz="3150" dirty="0"/>
          </a:p>
        </p:txBody>
      </p:sp>
      <p:sp>
        <p:nvSpPr>
          <p:cNvPr id="65" name="Text 63"/>
          <p:cNvSpPr txBox="1"/>
          <p:nvPr/>
        </p:nvSpPr>
        <p:spPr>
          <a:xfrm>
            <a:off x="4572000" y="5010150"/>
            <a:ext cx="1428750" cy="171450"/>
          </a:xfrm>
          <a:prstGeom prst="rect">
            <a:avLst/>
          </a:prstGeom>
          <a:noFill/>
          <a:ln/>
        </p:spPr>
        <p:txBody>
          <a:bodyPr wrap="square" lIns="0" tIns="0" rIns="0" bIns="0" rtlCol="0" anchor="t"/>
          <a:lstStyle/>
          <a:p>
            <a:pPr marL="0" indent="0" algn="l">
              <a:buNone/>
            </a:pPr>
            <a:r>
              <a:rPr lang="en-US" sz="825" kern="0" spc="220" dirty="0">
                <a:solidFill>
                  <a:srgbClr val="9AA8BE"/>
                </a:solidFill>
                <a:latin typeface="Consolas" pitchFamily="34" charset="0"/>
                <a:ea typeface="Consolas" pitchFamily="34" charset="-122"/>
                <a:cs typeface="Consolas" pitchFamily="34" charset="-120"/>
              </a:rPr>
              <a:t>QUESTIONS?</a:t>
            </a:r>
            <a:endParaRPr lang="en-US" sz="825" dirty="0"/>
          </a:p>
        </p:txBody>
      </p:sp>
      <p:sp>
        <p:nvSpPr>
          <p:cNvPr id="66" name="Text 64"/>
          <p:cNvSpPr txBox="1"/>
          <p:nvPr/>
        </p:nvSpPr>
        <p:spPr>
          <a:xfrm>
            <a:off x="6096000" y="5010150"/>
            <a:ext cx="1428750" cy="171450"/>
          </a:xfrm>
          <a:prstGeom prst="rect">
            <a:avLst/>
          </a:prstGeom>
          <a:noFill/>
          <a:ln/>
        </p:spPr>
        <p:txBody>
          <a:bodyPr wrap="square" lIns="0" tIns="0" rIns="0" bIns="0" rtlCol="0" anchor="t"/>
          <a:lstStyle/>
          <a:p>
            <a:pPr marL="0" indent="0" algn="l">
              <a:buNone/>
            </a:pPr>
            <a:r>
              <a:rPr lang="en-US" sz="825" kern="0" spc="160" dirty="0">
                <a:solidFill>
                  <a:srgbClr val="0F9D91"/>
                </a:solidFill>
                <a:latin typeface="Consolas" pitchFamily="34" charset="0"/>
                <a:ea typeface="Consolas" pitchFamily="34" charset="-122"/>
                <a:cs typeface="Consolas" pitchFamily="34" charset="-120"/>
              </a:rPr>
              <a:t>TEAM KALKI</a:t>
            </a:r>
            <a:endParaRPr lang="en-US" sz="825" dirty="0"/>
          </a:p>
        </p:txBody>
      </p:sp>
      <p:sp>
        <p:nvSpPr>
          <p:cNvPr id="67" name="Text 65"/>
          <p:cNvSpPr txBox="1"/>
          <p:nvPr/>
        </p:nvSpPr>
        <p:spPr>
          <a:xfrm>
            <a:off x="533400" y="5391150"/>
            <a:ext cx="11125200" cy="152400"/>
          </a:xfrm>
          <a:prstGeom prst="rect">
            <a:avLst/>
          </a:prstGeom>
          <a:noFill/>
          <a:ln/>
        </p:spPr>
        <p:txBody>
          <a:bodyPr wrap="square" lIns="0" tIns="0" rIns="0" bIns="0" rtlCol="0" anchor="t"/>
          <a:lstStyle/>
          <a:p>
            <a:pPr marL="0" indent="0" algn="l">
              <a:buNone/>
            </a:pPr>
            <a:r>
              <a:rPr lang="en-US" sz="750" dirty="0">
                <a:solidFill>
                  <a:srgbClr val="9AA8BE"/>
                </a:solidFill>
                <a:latin typeface="Consolas" pitchFamily="34" charset="0"/>
                <a:ea typeface="Consolas" pitchFamily="34" charset="-122"/>
                <a:cs typeface="Consolas" pitchFamily="34" charset="-120"/>
              </a:rPr>
              <a:t>SHASHI RANJAN KUMAR (LEAD) · CHHAVI PANDEY · UTSAV KUMAR CHAUDHARY · ANURAG KUMAR</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BONUS A — METHODOLOGY DEEP DIVE</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Molecular signatures of a </a:t>
            </a:r>
            <a:r>
              <a:rPr lang="en-US" sz="2475" b="1" dirty="0">
                <a:solidFill>
                  <a:srgbClr val="F5C542"/>
                </a:solidFill>
                <a:latin typeface="Arial" pitchFamily="34" charset="0"/>
                <a:ea typeface="Arial" pitchFamily="34" charset="-122"/>
                <a:cs typeface="Arial" pitchFamily="34" charset="-120"/>
              </a:rPr>
              <a:t>mule account</a:t>
            </a:r>
            <a:endParaRPr lang="en-US" sz="2475" dirty="0"/>
          </a:p>
        </p:txBody>
      </p:sp>
      <p:sp>
        <p:nvSpPr>
          <p:cNvPr id="4" name="Shape 2"/>
          <p:cNvSpPr/>
          <p:nvPr/>
        </p:nvSpPr>
        <p:spPr>
          <a:xfrm>
            <a:off x="533400" y="1219200"/>
            <a:ext cx="5495925" cy="1581150"/>
          </a:xfrm>
          <a:prstGeom prst="roundRect">
            <a:avLst>
              <a:gd name="adj" fmla="val 3470"/>
            </a:avLst>
          </a:prstGeom>
          <a:solidFill>
            <a:srgbClr val="FFFFFF">
              <a:alpha val="4000"/>
            </a:srgbClr>
          </a:solidFill>
          <a:ln w="9525">
            <a:solidFill>
              <a:srgbClr val="9AA8BE">
                <a:alpha val="16000"/>
              </a:srgbClr>
            </a:solidFill>
            <a:prstDash val="solid"/>
          </a:ln>
        </p:spPr>
      </p:sp>
      <p:sp>
        <p:nvSpPr>
          <p:cNvPr id="5" name="Shape 3"/>
          <p:cNvSpPr/>
          <p:nvPr/>
        </p:nvSpPr>
        <p:spPr>
          <a:xfrm>
            <a:off x="704850" y="1409700"/>
            <a:ext cx="66675" cy="66675"/>
          </a:xfrm>
          <a:prstGeom prst="ellipse">
            <a:avLst/>
          </a:prstGeom>
          <a:solidFill>
            <a:srgbClr val="F5C542"/>
          </a:solidFill>
          <a:ln/>
        </p:spPr>
      </p:sp>
      <p:sp>
        <p:nvSpPr>
          <p:cNvPr id="6" name="Text 4"/>
          <p:cNvSpPr txBox="1"/>
          <p:nvPr/>
        </p:nvSpPr>
        <p:spPr>
          <a:xfrm>
            <a:off x="857250" y="13620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FAN_IN_SCORE</a:t>
            </a:r>
            <a:endParaRPr lang="en-US" sz="975" dirty="0"/>
          </a:p>
        </p:txBody>
      </p:sp>
      <p:sp>
        <p:nvSpPr>
          <p:cNvPr id="7" name="Shape 5"/>
          <p:cNvSpPr/>
          <p:nvPr/>
        </p:nvSpPr>
        <p:spPr>
          <a:xfrm>
            <a:off x="704850" y="1695450"/>
            <a:ext cx="2152650" cy="304800"/>
          </a:xfrm>
          <a:prstGeom prst="roundRect">
            <a:avLst>
              <a:gd name="adj" fmla="val 18000"/>
            </a:avLst>
          </a:prstGeom>
          <a:solidFill>
            <a:srgbClr val="F5C542">
              <a:alpha val="10000"/>
            </a:srgbClr>
          </a:solidFill>
          <a:ln w="9525">
            <a:solidFill>
              <a:srgbClr val="F5C542">
                <a:alpha val="30000"/>
              </a:srgbClr>
            </a:solidFill>
            <a:prstDash val="solid"/>
          </a:ln>
        </p:spPr>
      </p:sp>
      <p:sp>
        <p:nvSpPr>
          <p:cNvPr id="8" name="Text 6"/>
          <p:cNvSpPr txBox="1"/>
          <p:nvPr/>
        </p:nvSpPr>
        <p:spPr>
          <a:xfrm>
            <a:off x="704850" y="1695450"/>
            <a:ext cx="2152650" cy="304800"/>
          </a:xfrm>
          <a:prstGeom prst="rect">
            <a:avLst/>
          </a:prstGeom>
          <a:noFill/>
          <a:ln/>
        </p:spPr>
        <p:txBody>
          <a:bodyPr wrap="square" lIns="0" tIns="0" rIns="0" bIns="0" rtlCol="0" anchor="ctr"/>
          <a:lstStyle/>
          <a:p>
            <a:pPr marL="0" indent="0" algn="ctr">
              <a:buNone/>
            </a:pPr>
            <a:r>
              <a:rPr lang="en-US" sz="938" dirty="0">
                <a:solidFill>
                  <a:srgbClr val="F5C542"/>
                </a:solidFill>
                <a:latin typeface="Consolas" pitchFamily="34" charset="0"/>
                <a:ea typeface="Consolas" pitchFamily="34" charset="-122"/>
                <a:cs typeface="Consolas" pitchFamily="34" charset="-120"/>
              </a:rPr>
              <a:t>unique_sources / in_count</a:t>
            </a:r>
            <a:endParaRPr lang="en-US" sz="938" dirty="0"/>
          </a:p>
        </p:txBody>
      </p:sp>
      <p:sp>
        <p:nvSpPr>
          <p:cNvPr id="9" name="Text 7"/>
          <p:cNvSpPr txBox="1"/>
          <p:nvPr/>
        </p:nvSpPr>
        <p:spPr>
          <a:xfrm>
            <a:off x="704850" y="2133600"/>
            <a:ext cx="5143500" cy="571500"/>
          </a:xfrm>
          <a:prstGeom prst="rect">
            <a:avLst/>
          </a:prstGeom>
          <a:noFill/>
          <a:ln/>
        </p:spPr>
        <p:txBody>
          <a:bodyPr wrap="square" lIns="0" tIns="0" rIns="0" bIns="0" rtlCol="0" anchor="t"/>
          <a:lstStyle/>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 1.0 → receiving from </a:t>
            </a:r>
            <a:r>
              <a:rPr lang="en-US" sz="960" b="1" dirty="0">
                <a:solidFill>
                  <a:srgbClr val="FFFFFF"/>
                </a:solidFill>
                <a:latin typeface="Calibri" pitchFamily="34" charset="0"/>
                <a:ea typeface="Calibri" pitchFamily="34" charset="-122"/>
                <a:cs typeface="Calibri" pitchFamily="34" charset="-120"/>
              </a:rPr>
              <a:t>many unrelated people</a:t>
            </a:r>
            <a:endParaRPr lang="en-US" sz="960" dirty="0"/>
          </a:p>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Classic </a:t>
            </a:r>
            <a:r>
              <a:rPr lang="en-US" sz="960" b="1" dirty="0">
                <a:solidFill>
                  <a:srgbClr val="FFFFFF"/>
                </a:solidFill>
                <a:latin typeface="Calibri" pitchFamily="34" charset="0"/>
                <a:ea typeface="Calibri" pitchFamily="34" charset="-122"/>
                <a:cs typeface="Calibri" pitchFamily="34" charset="-120"/>
              </a:rPr>
              <a:t>collection layer</a:t>
            </a:r>
            <a:r>
              <a:rPr lang="en-US" sz="960" dirty="0">
                <a:solidFill>
                  <a:srgbClr val="D6DEEC"/>
                </a:solidFill>
                <a:latin typeface="Calibri" pitchFamily="34" charset="0"/>
                <a:ea typeface="Calibri" pitchFamily="34" charset="-122"/>
                <a:cs typeface="Calibri" pitchFamily="34" charset="-120"/>
              </a:rPr>
              <a:t> pattern</a:t>
            </a:r>
            <a:endParaRPr lang="en-US" sz="960" dirty="0"/>
          </a:p>
        </p:txBody>
      </p:sp>
      <p:sp>
        <p:nvSpPr>
          <p:cNvPr id="10" name="Shape 8"/>
          <p:cNvSpPr/>
          <p:nvPr/>
        </p:nvSpPr>
        <p:spPr>
          <a:xfrm>
            <a:off x="6162675" y="1219200"/>
            <a:ext cx="5495925" cy="1581150"/>
          </a:xfrm>
          <a:prstGeom prst="roundRect">
            <a:avLst>
              <a:gd name="adj" fmla="val 3470"/>
            </a:avLst>
          </a:prstGeom>
          <a:solidFill>
            <a:srgbClr val="FFFFFF">
              <a:alpha val="4000"/>
            </a:srgbClr>
          </a:solidFill>
          <a:ln w="9525">
            <a:solidFill>
              <a:srgbClr val="9AA8BE">
                <a:alpha val="16000"/>
              </a:srgbClr>
            </a:solidFill>
            <a:prstDash val="solid"/>
          </a:ln>
        </p:spPr>
      </p:sp>
      <p:sp>
        <p:nvSpPr>
          <p:cNvPr id="11" name="Shape 9"/>
          <p:cNvSpPr/>
          <p:nvPr/>
        </p:nvSpPr>
        <p:spPr>
          <a:xfrm>
            <a:off x="6334125" y="1409700"/>
            <a:ext cx="66675" cy="66675"/>
          </a:xfrm>
          <a:prstGeom prst="ellipse">
            <a:avLst/>
          </a:prstGeom>
          <a:solidFill>
            <a:srgbClr val="0F9D91"/>
          </a:solidFill>
          <a:ln/>
        </p:spPr>
      </p:sp>
      <p:sp>
        <p:nvSpPr>
          <p:cNvPr id="12" name="Text 10"/>
          <p:cNvSpPr txBox="1"/>
          <p:nvPr/>
        </p:nvSpPr>
        <p:spPr>
          <a:xfrm>
            <a:off x="6486525" y="13620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PASS_THROUGH_RATIO</a:t>
            </a:r>
            <a:endParaRPr lang="en-US" sz="975" dirty="0"/>
          </a:p>
        </p:txBody>
      </p:sp>
      <p:sp>
        <p:nvSpPr>
          <p:cNvPr id="13" name="Shape 11"/>
          <p:cNvSpPr/>
          <p:nvPr/>
        </p:nvSpPr>
        <p:spPr>
          <a:xfrm>
            <a:off x="6334125" y="1695450"/>
            <a:ext cx="1466850" cy="304800"/>
          </a:xfrm>
          <a:prstGeom prst="roundRect">
            <a:avLst>
              <a:gd name="adj" fmla="val 18000"/>
            </a:avLst>
          </a:prstGeom>
          <a:solidFill>
            <a:srgbClr val="0F9D91">
              <a:alpha val="10000"/>
            </a:srgbClr>
          </a:solidFill>
          <a:ln w="9525">
            <a:solidFill>
              <a:srgbClr val="0F9D91">
                <a:alpha val="30000"/>
              </a:srgbClr>
            </a:solidFill>
            <a:prstDash val="solid"/>
          </a:ln>
        </p:spPr>
      </p:sp>
      <p:sp>
        <p:nvSpPr>
          <p:cNvPr id="14" name="Text 12"/>
          <p:cNvSpPr txBox="1"/>
          <p:nvPr/>
        </p:nvSpPr>
        <p:spPr>
          <a:xfrm>
            <a:off x="6334125" y="1695450"/>
            <a:ext cx="1466850" cy="304800"/>
          </a:xfrm>
          <a:prstGeom prst="rect">
            <a:avLst/>
          </a:prstGeom>
          <a:noFill/>
          <a:ln/>
        </p:spPr>
        <p:txBody>
          <a:bodyPr wrap="square" lIns="0" tIns="0" rIns="0" bIns="0" rtlCol="0" anchor="ctr"/>
          <a:lstStyle/>
          <a:p>
            <a:pPr marL="0" indent="0" algn="ctr">
              <a:buNone/>
            </a:pPr>
            <a:r>
              <a:rPr lang="en-US" sz="938" dirty="0">
                <a:solidFill>
                  <a:srgbClr val="2CC5B7"/>
                </a:solidFill>
                <a:latin typeface="Consolas" pitchFamily="34" charset="0"/>
                <a:ea typeface="Consolas" pitchFamily="34" charset="-122"/>
                <a:cs typeface="Consolas" pitchFamily="34" charset="-120"/>
              </a:rPr>
              <a:t>outflow / inflow</a:t>
            </a:r>
            <a:endParaRPr lang="en-US" sz="938" dirty="0"/>
          </a:p>
        </p:txBody>
      </p:sp>
      <p:sp>
        <p:nvSpPr>
          <p:cNvPr id="15" name="Text 13"/>
          <p:cNvSpPr txBox="1"/>
          <p:nvPr/>
        </p:nvSpPr>
        <p:spPr>
          <a:xfrm>
            <a:off x="6334125" y="2133600"/>
            <a:ext cx="5143500" cy="571500"/>
          </a:xfrm>
          <a:prstGeom prst="rect">
            <a:avLst/>
          </a:prstGeom>
          <a:noFill/>
          <a:ln/>
        </p:spPr>
        <p:txBody>
          <a:bodyPr wrap="square" lIns="0" tIns="0" rIns="0" bIns="0" rtlCol="0" anchor="t"/>
          <a:lstStyle/>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 1.0 → receives money, </a:t>
            </a:r>
            <a:r>
              <a:rPr lang="en-US" sz="960" b="1" dirty="0">
                <a:solidFill>
                  <a:srgbClr val="FFFFFF"/>
                </a:solidFill>
                <a:latin typeface="Calibri" pitchFamily="34" charset="0"/>
                <a:ea typeface="Calibri" pitchFamily="34" charset="-122"/>
                <a:cs typeface="Calibri" pitchFamily="34" charset="-120"/>
              </a:rPr>
              <a:t>immediately sends it out</a:t>
            </a:r>
            <a:endParaRPr lang="en-US" sz="960" dirty="0"/>
          </a:p>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Classic </a:t>
            </a:r>
            <a:r>
              <a:rPr lang="en-US" sz="960" b="1" dirty="0">
                <a:solidFill>
                  <a:srgbClr val="FFFFFF"/>
                </a:solidFill>
                <a:latin typeface="Calibri" pitchFamily="34" charset="0"/>
                <a:ea typeface="Calibri" pitchFamily="34" charset="-122"/>
                <a:cs typeface="Calibri" pitchFamily="34" charset="-120"/>
              </a:rPr>
              <a:t>layering / forwarding</a:t>
            </a:r>
            <a:r>
              <a:rPr lang="en-US" sz="960" dirty="0">
                <a:solidFill>
                  <a:srgbClr val="D6DEEC"/>
                </a:solidFill>
                <a:latin typeface="Calibri" pitchFamily="34" charset="0"/>
                <a:ea typeface="Calibri" pitchFamily="34" charset="-122"/>
                <a:cs typeface="Calibri" pitchFamily="34" charset="-120"/>
              </a:rPr>
              <a:t> pattern</a:t>
            </a:r>
            <a:endParaRPr lang="en-US" sz="960" dirty="0"/>
          </a:p>
        </p:txBody>
      </p:sp>
      <p:sp>
        <p:nvSpPr>
          <p:cNvPr id="16" name="Shape 14"/>
          <p:cNvSpPr/>
          <p:nvPr/>
        </p:nvSpPr>
        <p:spPr>
          <a:xfrm>
            <a:off x="533400" y="2933700"/>
            <a:ext cx="5495925" cy="1581150"/>
          </a:xfrm>
          <a:prstGeom prst="roundRect">
            <a:avLst>
              <a:gd name="adj" fmla="val 3470"/>
            </a:avLst>
          </a:prstGeom>
          <a:solidFill>
            <a:srgbClr val="FFFFFF">
              <a:alpha val="4000"/>
            </a:srgbClr>
          </a:solidFill>
          <a:ln w="9525">
            <a:solidFill>
              <a:srgbClr val="9AA8BE">
                <a:alpha val="16000"/>
              </a:srgbClr>
            </a:solidFill>
            <a:prstDash val="solid"/>
          </a:ln>
        </p:spPr>
      </p:sp>
      <p:sp>
        <p:nvSpPr>
          <p:cNvPr id="17" name="Shape 15"/>
          <p:cNvSpPr/>
          <p:nvPr/>
        </p:nvSpPr>
        <p:spPr>
          <a:xfrm>
            <a:off x="704850" y="3124200"/>
            <a:ext cx="66675" cy="66675"/>
          </a:xfrm>
          <a:prstGeom prst="ellipse">
            <a:avLst/>
          </a:prstGeom>
          <a:solidFill>
            <a:srgbClr val="DC2626"/>
          </a:solidFill>
          <a:ln/>
        </p:spPr>
      </p:sp>
      <p:sp>
        <p:nvSpPr>
          <p:cNvPr id="18" name="Text 16"/>
          <p:cNvSpPr txBox="1"/>
          <p:nvPr/>
        </p:nvSpPr>
        <p:spPr>
          <a:xfrm>
            <a:off x="857250" y="30765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STRUCTURING_RATIO</a:t>
            </a:r>
            <a:endParaRPr lang="en-US" sz="975" dirty="0"/>
          </a:p>
        </p:txBody>
      </p:sp>
      <p:sp>
        <p:nvSpPr>
          <p:cNvPr id="19" name="Shape 17"/>
          <p:cNvSpPr/>
          <p:nvPr/>
        </p:nvSpPr>
        <p:spPr>
          <a:xfrm>
            <a:off x="704850" y="3409950"/>
            <a:ext cx="2228850" cy="304800"/>
          </a:xfrm>
          <a:prstGeom prst="roundRect">
            <a:avLst>
              <a:gd name="adj" fmla="val 18000"/>
            </a:avLst>
          </a:prstGeom>
          <a:solidFill>
            <a:srgbClr val="DC2626">
              <a:alpha val="10000"/>
            </a:srgbClr>
          </a:solidFill>
          <a:ln w="9525">
            <a:solidFill>
              <a:srgbClr val="DC2626">
                <a:alpha val="30000"/>
              </a:srgbClr>
            </a:solidFill>
            <a:prstDash val="solid"/>
          </a:ln>
        </p:spPr>
      </p:sp>
      <p:sp>
        <p:nvSpPr>
          <p:cNvPr id="20" name="Text 18"/>
          <p:cNvSpPr txBox="1"/>
          <p:nvPr/>
        </p:nvSpPr>
        <p:spPr>
          <a:xfrm>
            <a:off x="704850" y="3409950"/>
            <a:ext cx="2228850" cy="304800"/>
          </a:xfrm>
          <a:prstGeom prst="rect">
            <a:avLst/>
          </a:prstGeom>
          <a:noFill/>
          <a:ln/>
        </p:spPr>
        <p:txBody>
          <a:bodyPr wrap="square" lIns="0" tIns="0" rIns="0" bIns="0" rtlCol="0" anchor="ctr"/>
          <a:lstStyle/>
          <a:p>
            <a:pPr marL="0" indent="0" algn="ctr">
              <a:buNone/>
            </a:pPr>
            <a:r>
              <a:rPr lang="en-US" sz="938" dirty="0">
                <a:solidFill>
                  <a:srgbClr val="F87171"/>
                </a:solidFill>
                <a:latin typeface="Consolas" pitchFamily="34" charset="0"/>
                <a:ea typeface="Consolas" pitchFamily="34" charset="-122"/>
                <a:cs typeface="Consolas" pitchFamily="34" charset="-120"/>
              </a:rPr>
              <a:t>txns just below thresholds</a:t>
            </a:r>
            <a:endParaRPr lang="en-US" sz="938" dirty="0"/>
          </a:p>
        </p:txBody>
      </p:sp>
      <p:sp>
        <p:nvSpPr>
          <p:cNvPr id="21" name="Text 19"/>
          <p:cNvSpPr txBox="1"/>
          <p:nvPr/>
        </p:nvSpPr>
        <p:spPr>
          <a:xfrm>
            <a:off x="704850" y="3848100"/>
            <a:ext cx="5143500" cy="571500"/>
          </a:xfrm>
          <a:prstGeom prst="rect">
            <a:avLst/>
          </a:prstGeom>
          <a:noFill/>
          <a:ln/>
        </p:spPr>
        <p:txBody>
          <a:bodyPr wrap="square" lIns="0" tIns="0" rIns="0" bIns="0" rtlCol="0" anchor="t"/>
          <a:lstStyle/>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Clusters at </a:t>
            </a:r>
            <a:r>
              <a:rPr lang="en-US" sz="960" b="1" dirty="0">
                <a:solidFill>
                  <a:srgbClr val="FFFFFF"/>
                </a:solidFill>
                <a:latin typeface="Calibri" pitchFamily="34" charset="0"/>
                <a:ea typeface="Calibri" pitchFamily="34" charset="-122"/>
                <a:cs typeface="Calibri" pitchFamily="34" charset="-120"/>
              </a:rPr>
              <a:t>9,500–9,999</a:t>
            </a:r>
            <a:r>
              <a:rPr lang="en-US" sz="960" dirty="0">
                <a:solidFill>
                  <a:srgbClr val="D6DEEC"/>
                </a:solidFill>
                <a:latin typeface="Calibri" pitchFamily="34" charset="0"/>
                <a:ea typeface="Calibri" pitchFamily="34" charset="-122"/>
                <a:cs typeface="Calibri" pitchFamily="34" charset="-120"/>
              </a:rPr>
              <a:t> or </a:t>
            </a:r>
            <a:r>
              <a:rPr lang="en-US" sz="960" b="1" dirty="0">
                <a:solidFill>
                  <a:srgbClr val="FFFFFF"/>
                </a:solidFill>
                <a:latin typeface="Calibri" pitchFamily="34" charset="0"/>
                <a:ea typeface="Calibri" pitchFamily="34" charset="-122"/>
                <a:cs typeface="Calibri" pitchFamily="34" charset="-120"/>
              </a:rPr>
              <a:t>45,000–49,999</a:t>
            </a:r>
            <a:endParaRPr lang="en-US" sz="960" dirty="0"/>
          </a:p>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Classic </a:t>
            </a:r>
            <a:r>
              <a:rPr lang="en-US" sz="960" b="1" dirty="0">
                <a:solidFill>
                  <a:srgbClr val="FFFFFF"/>
                </a:solidFill>
                <a:latin typeface="Calibri" pitchFamily="34" charset="0"/>
                <a:ea typeface="Calibri" pitchFamily="34" charset="-122"/>
                <a:cs typeface="Calibri" pitchFamily="34" charset="-120"/>
              </a:rPr>
              <a:t>evasion</a:t>
            </a:r>
            <a:r>
              <a:rPr lang="en-US" sz="960" dirty="0">
                <a:solidFill>
                  <a:srgbClr val="D6DEEC"/>
                </a:solidFill>
                <a:latin typeface="Calibri" pitchFamily="34" charset="0"/>
                <a:ea typeface="Calibri" pitchFamily="34" charset="-122"/>
                <a:cs typeface="Calibri" pitchFamily="34" charset="-120"/>
              </a:rPr>
              <a:t> technique (smurfing)</a:t>
            </a:r>
            <a:endParaRPr lang="en-US" sz="960" dirty="0"/>
          </a:p>
        </p:txBody>
      </p:sp>
      <p:sp>
        <p:nvSpPr>
          <p:cNvPr id="22" name="Shape 20"/>
          <p:cNvSpPr/>
          <p:nvPr/>
        </p:nvSpPr>
        <p:spPr>
          <a:xfrm>
            <a:off x="6162675" y="2933700"/>
            <a:ext cx="5495925" cy="1581150"/>
          </a:xfrm>
          <a:prstGeom prst="roundRect">
            <a:avLst>
              <a:gd name="adj" fmla="val 3470"/>
            </a:avLst>
          </a:prstGeom>
          <a:solidFill>
            <a:srgbClr val="FFFFFF">
              <a:alpha val="4000"/>
            </a:srgbClr>
          </a:solidFill>
          <a:ln w="9525">
            <a:solidFill>
              <a:srgbClr val="9AA8BE">
                <a:alpha val="16000"/>
              </a:srgbClr>
            </a:solidFill>
            <a:prstDash val="solid"/>
          </a:ln>
        </p:spPr>
      </p:sp>
      <p:sp>
        <p:nvSpPr>
          <p:cNvPr id="23" name="Shape 21"/>
          <p:cNvSpPr/>
          <p:nvPr/>
        </p:nvSpPr>
        <p:spPr>
          <a:xfrm>
            <a:off x="6334125" y="3124200"/>
            <a:ext cx="66675" cy="66675"/>
          </a:xfrm>
          <a:prstGeom prst="ellipse">
            <a:avLst/>
          </a:prstGeom>
          <a:solidFill>
            <a:srgbClr val="2563EB"/>
          </a:solidFill>
          <a:ln/>
        </p:spPr>
      </p:sp>
      <p:sp>
        <p:nvSpPr>
          <p:cNvPr id="24" name="Text 22"/>
          <p:cNvSpPr txBox="1"/>
          <p:nvPr/>
        </p:nvSpPr>
        <p:spPr>
          <a:xfrm>
            <a:off x="6486525" y="3076575"/>
            <a:ext cx="3810000" cy="171450"/>
          </a:xfrm>
          <a:prstGeom prst="rect">
            <a:avLst/>
          </a:prstGeom>
          <a:noFill/>
          <a:ln/>
        </p:spPr>
        <p:txBody>
          <a:bodyPr wrap="square" lIns="0" tIns="0" rIns="0" bIns="0" rtlCol="0" anchor="t"/>
          <a:lstStyle/>
          <a:p>
            <a:pPr marL="0" indent="0" algn="l">
              <a:buNone/>
            </a:pPr>
            <a:r>
              <a:rPr lang="en-US" sz="975" b="1" kern="0" spc="130" dirty="0">
                <a:solidFill>
                  <a:srgbClr val="FFFFFF"/>
                </a:solidFill>
                <a:latin typeface="Arial" pitchFamily="34" charset="0"/>
                <a:ea typeface="Arial" pitchFamily="34" charset="-122"/>
                <a:cs typeface="Arial" pitchFamily="34" charset="-120"/>
              </a:rPr>
              <a:t>DIST_TO_BAD</a:t>
            </a:r>
            <a:endParaRPr lang="en-US" sz="975" dirty="0"/>
          </a:p>
        </p:txBody>
      </p:sp>
      <p:sp>
        <p:nvSpPr>
          <p:cNvPr id="25" name="Shape 23"/>
          <p:cNvSpPr/>
          <p:nvPr/>
        </p:nvSpPr>
        <p:spPr>
          <a:xfrm>
            <a:off x="6334125" y="3409950"/>
            <a:ext cx="3067050" cy="304800"/>
          </a:xfrm>
          <a:prstGeom prst="roundRect">
            <a:avLst>
              <a:gd name="adj" fmla="val 18000"/>
            </a:avLst>
          </a:prstGeom>
          <a:solidFill>
            <a:srgbClr val="2563EB">
              <a:alpha val="10000"/>
            </a:srgbClr>
          </a:solidFill>
          <a:ln w="9525">
            <a:solidFill>
              <a:srgbClr val="2563EB">
                <a:alpha val="30000"/>
              </a:srgbClr>
            </a:solidFill>
            <a:prstDash val="solid"/>
          </a:ln>
        </p:spPr>
      </p:sp>
      <p:sp>
        <p:nvSpPr>
          <p:cNvPr id="26" name="Text 24"/>
          <p:cNvSpPr txBox="1"/>
          <p:nvPr/>
        </p:nvSpPr>
        <p:spPr>
          <a:xfrm>
            <a:off x="6334125" y="3409950"/>
            <a:ext cx="3067050" cy="304800"/>
          </a:xfrm>
          <a:prstGeom prst="rect">
            <a:avLst/>
          </a:prstGeom>
          <a:noFill/>
          <a:ln/>
        </p:spPr>
        <p:txBody>
          <a:bodyPr wrap="square" lIns="0" tIns="0" rIns="0" bIns="0" rtlCol="0" anchor="ctr"/>
          <a:lstStyle/>
          <a:p>
            <a:pPr marL="0" indent="0" algn="ctr">
              <a:buNone/>
            </a:pPr>
            <a:r>
              <a:rPr lang="en-US" sz="938" dirty="0">
                <a:solidFill>
                  <a:srgbClr val="7CA9FF"/>
                </a:solidFill>
                <a:latin typeface="Consolas" pitchFamily="34" charset="0"/>
                <a:ea typeface="Consolas" pitchFamily="34" charset="-122"/>
                <a:cs typeface="Consolas" pitchFamily="34" charset="-120"/>
              </a:rPr>
              <a:t>shortest path → complaint-linked acct</a:t>
            </a:r>
            <a:endParaRPr lang="en-US" sz="938" dirty="0"/>
          </a:p>
        </p:txBody>
      </p:sp>
      <p:sp>
        <p:nvSpPr>
          <p:cNvPr id="27" name="Text 25"/>
          <p:cNvSpPr txBox="1"/>
          <p:nvPr/>
        </p:nvSpPr>
        <p:spPr>
          <a:xfrm>
            <a:off x="6334125" y="3848100"/>
            <a:ext cx="5143500" cy="571500"/>
          </a:xfrm>
          <a:prstGeom prst="rect">
            <a:avLst/>
          </a:prstGeom>
          <a:noFill/>
          <a:ln/>
        </p:spPr>
        <p:txBody>
          <a:bodyPr wrap="square" lIns="0" tIns="0" rIns="0" bIns="0" rtlCol="0" anchor="t"/>
          <a:lstStyle/>
          <a:p>
            <a:pPr marL="342900" indent="-342900">
              <a:spcAft>
                <a:spcPts val="525"/>
              </a:spcAft>
              <a:buSzPct val="100000"/>
              <a:buChar char="◆"/>
            </a:pPr>
            <a:r>
              <a:rPr lang="en-US" sz="960" b="1" dirty="0">
                <a:solidFill>
                  <a:srgbClr val="FFFFFF"/>
                </a:solidFill>
                <a:latin typeface="Calibri" pitchFamily="34" charset="0"/>
                <a:ea typeface="Calibri" pitchFamily="34" charset="-122"/>
                <a:cs typeface="Calibri" pitchFamily="34" charset="-120"/>
              </a:rPr>
              <a:t>1–2 hops</a:t>
            </a:r>
            <a:r>
              <a:rPr lang="en-US" sz="960" dirty="0">
                <a:solidFill>
                  <a:srgbClr val="D6DEEC"/>
                </a:solidFill>
                <a:latin typeface="Calibri" pitchFamily="34" charset="0"/>
                <a:ea typeface="Calibri" pitchFamily="34" charset="-122"/>
                <a:cs typeface="Calibri" pitchFamily="34" charset="-120"/>
              </a:rPr>
              <a:t> → highly suspicious</a:t>
            </a:r>
            <a:endParaRPr lang="en-US" sz="960" dirty="0"/>
          </a:p>
          <a:p>
            <a:pPr marL="342900" indent="-342900">
              <a:spcAft>
                <a:spcPts val="525"/>
              </a:spcAft>
              <a:buSzPct val="100000"/>
              <a:buChar char="◆"/>
            </a:pPr>
            <a:r>
              <a:rPr lang="en-US" sz="960" dirty="0">
                <a:solidFill>
                  <a:srgbClr val="D6DEEC"/>
                </a:solidFill>
                <a:latin typeface="Calibri" pitchFamily="34" charset="0"/>
                <a:ea typeface="Calibri" pitchFamily="34" charset="-122"/>
                <a:cs typeface="Calibri" pitchFamily="34" charset="-120"/>
              </a:rPr>
              <a:t>Graph proximity to </a:t>
            </a:r>
            <a:r>
              <a:rPr lang="en-US" sz="960" b="1" dirty="0">
                <a:solidFill>
                  <a:srgbClr val="FFFFFF"/>
                </a:solidFill>
                <a:latin typeface="Calibri" pitchFamily="34" charset="0"/>
                <a:ea typeface="Calibri" pitchFamily="34" charset="-122"/>
                <a:cs typeface="Calibri" pitchFamily="34" charset="-120"/>
              </a:rPr>
              <a:t>known-bad accounts</a:t>
            </a:r>
            <a:endParaRPr lang="en-US" sz="960" dirty="0"/>
          </a:p>
        </p:txBody>
      </p:sp>
      <p:sp>
        <p:nvSpPr>
          <p:cNvPr id="28" name="Shape 26"/>
          <p:cNvSpPr/>
          <p:nvPr/>
        </p:nvSpPr>
        <p:spPr>
          <a:xfrm>
            <a:off x="533400" y="4762500"/>
            <a:ext cx="11125200" cy="876300"/>
          </a:xfrm>
          <a:prstGeom prst="roundRect">
            <a:avLst>
              <a:gd name="adj" fmla="val 6261"/>
            </a:avLst>
          </a:prstGeom>
          <a:solidFill>
            <a:srgbClr val="F5C542">
              <a:alpha val="9000"/>
            </a:srgbClr>
          </a:solidFill>
          <a:ln w="9525">
            <a:solidFill>
              <a:srgbClr val="F5C542">
                <a:alpha val="38000"/>
              </a:srgbClr>
            </a:solidFill>
            <a:prstDash val="solid"/>
          </a:ln>
        </p:spPr>
      </p:sp>
      <p:sp>
        <p:nvSpPr>
          <p:cNvPr id="29" name="Text 27"/>
          <p:cNvSpPr txBox="1"/>
          <p:nvPr/>
        </p:nvSpPr>
        <p:spPr>
          <a:xfrm>
            <a:off x="723900" y="4895850"/>
            <a:ext cx="1905000" cy="133350"/>
          </a:xfrm>
          <a:prstGeom prst="rect">
            <a:avLst/>
          </a:prstGeom>
          <a:noFill/>
          <a:ln/>
        </p:spPr>
        <p:txBody>
          <a:bodyPr wrap="square" lIns="0" tIns="0" rIns="0" bIns="0" rtlCol="0" anchor="t"/>
          <a:lstStyle/>
          <a:p>
            <a:pPr marL="0" indent="0" algn="l">
              <a:buNone/>
            </a:pPr>
            <a:r>
              <a:rPr lang="en-US" sz="750" b="1" kern="0" spc="200" dirty="0">
                <a:solidFill>
                  <a:srgbClr val="F5C542"/>
                </a:solidFill>
                <a:latin typeface="Consolas" pitchFamily="34" charset="0"/>
                <a:ea typeface="Consolas" pitchFamily="34" charset="-122"/>
                <a:cs typeface="Consolas" pitchFamily="34" charset="-120"/>
              </a:rPr>
              <a:t>SCORE FUSION</a:t>
            </a:r>
            <a:endParaRPr lang="en-US" sz="750" dirty="0"/>
          </a:p>
        </p:txBody>
      </p:sp>
      <p:sp>
        <p:nvSpPr>
          <p:cNvPr id="30" name="Shape 28"/>
          <p:cNvSpPr/>
          <p:nvPr/>
        </p:nvSpPr>
        <p:spPr>
          <a:xfrm>
            <a:off x="723900" y="5124450"/>
            <a:ext cx="5334000" cy="361950"/>
          </a:xfrm>
          <a:prstGeom prst="roundRect">
            <a:avLst>
              <a:gd name="adj" fmla="val 15158"/>
            </a:avLst>
          </a:prstGeom>
          <a:solidFill>
            <a:srgbClr val="F5C542">
              <a:alpha val="8000"/>
            </a:srgbClr>
          </a:solidFill>
          <a:ln w="9525">
            <a:solidFill>
              <a:srgbClr val="F5C542">
                <a:alpha val="25000"/>
              </a:srgbClr>
            </a:solidFill>
            <a:prstDash val="solid"/>
          </a:ln>
        </p:spPr>
      </p:sp>
      <p:sp>
        <p:nvSpPr>
          <p:cNvPr id="31" name="Text 29"/>
          <p:cNvSpPr txBox="1"/>
          <p:nvPr/>
        </p:nvSpPr>
        <p:spPr>
          <a:xfrm>
            <a:off x="723900" y="5124450"/>
            <a:ext cx="5334000" cy="361950"/>
          </a:xfrm>
          <a:prstGeom prst="rect">
            <a:avLst/>
          </a:prstGeom>
          <a:noFill/>
          <a:ln/>
        </p:spPr>
        <p:txBody>
          <a:bodyPr wrap="square" lIns="0" tIns="0" rIns="0" bIns="0" rtlCol="0" anchor="ctr"/>
          <a:lstStyle/>
          <a:p>
            <a:pPr marL="0" indent="0" algn="ctr">
              <a:buNone/>
            </a:pPr>
            <a:r>
              <a:rPr lang="en-US" sz="1125" dirty="0">
                <a:solidFill>
                  <a:srgbClr val="F5C542"/>
                </a:solidFill>
                <a:latin typeface="Consolas" pitchFamily="34" charset="0"/>
                <a:ea typeface="Consolas" pitchFamily="34" charset="-122"/>
                <a:cs typeface="Consolas" pitchFamily="34" charset="-120"/>
              </a:rPr>
              <a:t>R = 100 × ( 0.50×B  +  0.30×G  +  0.20×I )</a:t>
            </a:r>
            <a:endParaRPr lang="en-US" sz="1125" dirty="0"/>
          </a:p>
        </p:txBody>
      </p:sp>
      <p:sp>
        <p:nvSpPr>
          <p:cNvPr id="32" name="Shape 30"/>
          <p:cNvSpPr/>
          <p:nvPr/>
        </p:nvSpPr>
        <p:spPr>
          <a:xfrm>
            <a:off x="7810500" y="5143500"/>
            <a:ext cx="754380" cy="171450"/>
          </a:xfrm>
          <a:prstGeom prst="roundRect">
            <a:avLst>
              <a:gd name="adj" fmla="val 32000"/>
            </a:avLst>
          </a:prstGeom>
          <a:solidFill>
            <a:srgbClr val="DC2626">
              <a:alpha val="22000"/>
            </a:srgbClr>
          </a:solidFill>
          <a:ln w="9525">
            <a:solidFill>
              <a:srgbClr val="DC2626">
                <a:alpha val="45000"/>
              </a:srgbClr>
            </a:solidFill>
            <a:prstDash val="solid"/>
          </a:ln>
        </p:spPr>
      </p:sp>
      <p:sp>
        <p:nvSpPr>
          <p:cNvPr id="33" name="Text 31"/>
          <p:cNvSpPr txBox="1"/>
          <p:nvPr/>
        </p:nvSpPr>
        <p:spPr>
          <a:xfrm>
            <a:off x="7810500" y="5143500"/>
            <a:ext cx="754380" cy="171450"/>
          </a:xfrm>
          <a:prstGeom prst="rect">
            <a:avLst/>
          </a:prstGeom>
          <a:noFill/>
          <a:ln/>
        </p:spPr>
        <p:txBody>
          <a:bodyPr wrap="square" lIns="0" tIns="0" rIns="0" bIns="0" rtlCol="0" anchor="ctr"/>
          <a:lstStyle/>
          <a:p>
            <a:pPr marL="0" indent="0" algn="ctr">
              <a:buNone/>
            </a:pPr>
            <a:r>
              <a:rPr lang="en-US" sz="713" b="1" dirty="0">
                <a:solidFill>
                  <a:srgbClr val="F87171"/>
                </a:solidFill>
                <a:latin typeface="Consolas" pitchFamily="34" charset="0"/>
                <a:ea typeface="Consolas" pitchFamily="34" charset="-122"/>
                <a:cs typeface="Consolas" pitchFamily="34" charset="-120"/>
              </a:rPr>
              <a:t>HIGH ≥ 70</a:t>
            </a:r>
            <a:endParaRPr lang="en-US" sz="713" dirty="0"/>
          </a:p>
        </p:txBody>
      </p:sp>
      <p:sp>
        <p:nvSpPr>
          <p:cNvPr id="34" name="Shape 32"/>
          <p:cNvSpPr/>
          <p:nvPr/>
        </p:nvSpPr>
        <p:spPr>
          <a:xfrm>
            <a:off x="8641080" y="5143500"/>
            <a:ext cx="948690" cy="171450"/>
          </a:xfrm>
          <a:prstGeom prst="roundRect">
            <a:avLst>
              <a:gd name="adj" fmla="val 32000"/>
            </a:avLst>
          </a:prstGeom>
          <a:solidFill>
            <a:srgbClr val="D97706">
              <a:alpha val="22000"/>
            </a:srgbClr>
          </a:solidFill>
          <a:ln w="9525">
            <a:solidFill>
              <a:srgbClr val="D97706">
                <a:alpha val="45000"/>
              </a:srgbClr>
            </a:solidFill>
            <a:prstDash val="solid"/>
          </a:ln>
        </p:spPr>
      </p:sp>
      <p:sp>
        <p:nvSpPr>
          <p:cNvPr id="35" name="Text 33"/>
          <p:cNvSpPr txBox="1"/>
          <p:nvPr/>
        </p:nvSpPr>
        <p:spPr>
          <a:xfrm>
            <a:off x="8641080" y="5143500"/>
            <a:ext cx="948690" cy="171450"/>
          </a:xfrm>
          <a:prstGeom prst="rect">
            <a:avLst/>
          </a:prstGeom>
          <a:noFill/>
          <a:ln/>
        </p:spPr>
        <p:txBody>
          <a:bodyPr wrap="square" lIns="0" tIns="0" rIns="0" bIns="0" rtlCol="0" anchor="ctr"/>
          <a:lstStyle/>
          <a:p>
            <a:pPr marL="0" indent="0" algn="ctr">
              <a:buNone/>
            </a:pPr>
            <a:r>
              <a:rPr lang="en-US" sz="713" b="1" dirty="0">
                <a:solidFill>
                  <a:srgbClr val="FBBF24"/>
                </a:solidFill>
                <a:latin typeface="Consolas" pitchFamily="34" charset="0"/>
                <a:ea typeface="Consolas" pitchFamily="34" charset="-122"/>
                <a:cs typeface="Consolas" pitchFamily="34" charset="-120"/>
              </a:rPr>
              <a:t>MEDIUM 40–69</a:t>
            </a:r>
            <a:endParaRPr lang="en-US" sz="713" dirty="0"/>
          </a:p>
        </p:txBody>
      </p:sp>
      <p:sp>
        <p:nvSpPr>
          <p:cNvPr id="36" name="Shape 34"/>
          <p:cNvSpPr/>
          <p:nvPr/>
        </p:nvSpPr>
        <p:spPr>
          <a:xfrm>
            <a:off x="9665970" y="5143500"/>
            <a:ext cx="689610" cy="171450"/>
          </a:xfrm>
          <a:prstGeom prst="roundRect">
            <a:avLst>
              <a:gd name="adj" fmla="val 32000"/>
            </a:avLst>
          </a:prstGeom>
          <a:solidFill>
            <a:srgbClr val="15803D">
              <a:alpha val="22000"/>
            </a:srgbClr>
          </a:solidFill>
          <a:ln w="9525">
            <a:solidFill>
              <a:srgbClr val="15803D">
                <a:alpha val="45000"/>
              </a:srgbClr>
            </a:solidFill>
            <a:prstDash val="solid"/>
          </a:ln>
        </p:spPr>
      </p:sp>
      <p:sp>
        <p:nvSpPr>
          <p:cNvPr id="37" name="Text 35"/>
          <p:cNvSpPr txBox="1"/>
          <p:nvPr/>
        </p:nvSpPr>
        <p:spPr>
          <a:xfrm>
            <a:off x="9665970" y="5143500"/>
            <a:ext cx="689610" cy="171450"/>
          </a:xfrm>
          <a:prstGeom prst="rect">
            <a:avLst/>
          </a:prstGeom>
          <a:noFill/>
          <a:ln/>
        </p:spPr>
        <p:txBody>
          <a:bodyPr wrap="square" lIns="0" tIns="0" rIns="0" bIns="0" rtlCol="0" anchor="ctr"/>
          <a:lstStyle/>
          <a:p>
            <a:pPr marL="0" indent="0" algn="ctr">
              <a:buNone/>
            </a:pPr>
            <a:r>
              <a:rPr lang="en-US" sz="713" b="1" dirty="0">
                <a:solidFill>
                  <a:srgbClr val="4ADE80"/>
                </a:solidFill>
                <a:latin typeface="Consolas" pitchFamily="34" charset="0"/>
                <a:ea typeface="Consolas" pitchFamily="34" charset="-122"/>
                <a:cs typeface="Consolas" pitchFamily="34" charset="-120"/>
              </a:rPr>
              <a:t>LOW &lt; 40</a:t>
            </a:r>
            <a:endParaRPr lang="en-US" sz="71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524"/>
        </a:solidFill>
        <a:effectLst/>
      </p:bgPr>
    </p:bg>
    <p:spTree>
      <p:nvGrpSpPr>
        <p:cNvPr id="1" name=""/>
        <p:cNvGrpSpPr/>
        <p:nvPr/>
      </p:nvGrpSpPr>
      <p:grpSpPr>
        <a:xfrm>
          <a:off x="0" y="0"/>
          <a:ext cx="0" cy="0"/>
          <a:chOff x="0" y="0"/>
          <a:chExt cx="0" cy="0"/>
        </a:xfrm>
      </p:grpSpPr>
      <p:sp>
        <p:nvSpPr>
          <p:cNvPr id="2" name="Text 0"/>
          <p:cNvSpPr txBox="1"/>
          <p:nvPr/>
        </p:nvSpPr>
        <p:spPr>
          <a:xfrm>
            <a:off x="533400" y="419100"/>
            <a:ext cx="7620000" cy="152400"/>
          </a:xfrm>
          <a:prstGeom prst="rect">
            <a:avLst/>
          </a:prstGeom>
          <a:noFill/>
          <a:ln/>
        </p:spPr>
        <p:txBody>
          <a:bodyPr wrap="square" lIns="0" tIns="0" rIns="0" bIns="0" rtlCol="0" anchor="t"/>
          <a:lstStyle/>
          <a:p>
            <a:pPr marL="0" indent="0" algn="l">
              <a:buNone/>
            </a:pPr>
            <a:r>
              <a:rPr lang="en-US" sz="825" kern="0" spc="250" dirty="0">
                <a:solidFill>
                  <a:srgbClr val="0F9D91"/>
                </a:solidFill>
                <a:latin typeface="Consolas" pitchFamily="34" charset="0"/>
                <a:ea typeface="Consolas" pitchFamily="34" charset="-122"/>
                <a:cs typeface="Consolas" pitchFamily="34" charset="-120"/>
              </a:rPr>
              <a:t>BONUS B — POSITIONING</a:t>
            </a:r>
            <a:endParaRPr lang="en-US" sz="825" dirty="0"/>
          </a:p>
        </p:txBody>
      </p:sp>
      <p:sp>
        <p:nvSpPr>
          <p:cNvPr id="3" name="Text 1"/>
          <p:cNvSpPr txBox="1"/>
          <p:nvPr/>
        </p:nvSpPr>
        <p:spPr>
          <a:xfrm>
            <a:off x="533400" y="628650"/>
            <a:ext cx="11125200" cy="438150"/>
          </a:xfrm>
          <a:prstGeom prst="rect">
            <a:avLst/>
          </a:prstGeom>
          <a:noFill/>
          <a:ln/>
        </p:spPr>
        <p:txBody>
          <a:bodyPr wrap="square" lIns="0" tIns="0" rIns="0" bIns="0" rtlCol="0" anchor="t"/>
          <a:lstStyle/>
          <a:p>
            <a:pPr marL="0" indent="0" algn="l">
              <a:buNone/>
            </a:pPr>
            <a:r>
              <a:rPr lang="en-US" sz="2475" b="1" dirty="0">
                <a:solidFill>
                  <a:srgbClr val="FFFFFF"/>
                </a:solidFill>
                <a:latin typeface="Arial" pitchFamily="34" charset="0"/>
                <a:ea typeface="Arial" pitchFamily="34" charset="-122"/>
                <a:cs typeface="Arial" pitchFamily="34" charset="-120"/>
              </a:rPr>
              <a:t>How MuleDetect compares to </a:t>
            </a:r>
            <a:r>
              <a:rPr lang="en-US" sz="2475" b="1" dirty="0">
                <a:solidFill>
                  <a:srgbClr val="F5C542"/>
                </a:solidFill>
                <a:latin typeface="Arial" pitchFamily="34" charset="0"/>
                <a:ea typeface="Arial" pitchFamily="34" charset="-122"/>
                <a:cs typeface="Arial" pitchFamily="34" charset="-120"/>
              </a:rPr>
              <a:t>existing approaches</a:t>
            </a:r>
            <a:endParaRPr lang="en-US" sz="2475" dirty="0"/>
          </a:p>
        </p:txBody>
      </p:sp>
      <p:sp>
        <p:nvSpPr>
          <p:cNvPr id="4" name="Shape 2"/>
          <p:cNvSpPr/>
          <p:nvPr/>
        </p:nvSpPr>
        <p:spPr>
          <a:xfrm>
            <a:off x="533400" y="1219200"/>
            <a:ext cx="11125200" cy="3333750"/>
          </a:xfrm>
          <a:prstGeom prst="roundRect">
            <a:avLst>
              <a:gd name="adj" fmla="val 1646"/>
            </a:avLst>
          </a:prstGeom>
          <a:solidFill>
            <a:srgbClr val="FFFFFF">
              <a:alpha val="4000"/>
            </a:srgbClr>
          </a:solidFill>
          <a:ln w="9525">
            <a:solidFill>
              <a:srgbClr val="9AA8BE">
                <a:alpha val="16000"/>
              </a:srgbClr>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23900" y="1352550"/>
          <a:ext cx="10744200" cy="3086100"/>
        </p:xfrm>
        <a:graphic>
          <a:graphicData uri="http://schemas.openxmlformats.org/drawingml/2006/table">
            <a:tbl>
              <a:tblPr/>
              <a:tblGrid>
                <a:gridCol w="28575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42900">
                <a:tc>
                  <a:txBody>
                    <a:bodyPr/>
                    <a:lstStyle/>
                    <a:p>
                      <a:pPr marL="0" indent="0" algn="l">
                        <a:buNone/>
                      </a:pPr>
                      <a:r>
                        <a:rPr lang="en-US" sz="800" dirty="0">
                          <a:solidFill>
                            <a:srgbClr val="9AA8BE"/>
                          </a:solidFill>
                          <a:latin typeface="Consolas" pitchFamily="34" charset="0"/>
                          <a:ea typeface="Consolas" pitchFamily="34" charset="-122"/>
                          <a:cs typeface="Consolas" pitchFamily="34" charset="-120"/>
                        </a:rPr>
                        <a:t>CAPABILITY</a:t>
                      </a:r>
                      <a:endParaRPr lang="en-US" sz="80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tc>
                  <a:txBody>
                    <a:bodyPr/>
                    <a:lstStyle/>
                    <a:p>
                      <a:pPr marL="0" indent="0" algn="l">
                        <a:buNone/>
                      </a:pPr>
                      <a:r>
                        <a:rPr lang="en-US" sz="800" dirty="0">
                          <a:solidFill>
                            <a:srgbClr val="9AA8BE"/>
                          </a:solidFill>
                          <a:latin typeface="Consolas" pitchFamily="34" charset="0"/>
                          <a:ea typeface="Consolas" pitchFamily="34" charset="-122"/>
                          <a:cs typeface="Consolas" pitchFamily="34" charset="-120"/>
                        </a:rPr>
                        <a:t>RULE-BASED SYSTEMS</a:t>
                      </a:r>
                      <a:endParaRPr lang="en-US" sz="80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tc>
                  <a:txBody>
                    <a:bodyPr/>
                    <a:lstStyle/>
                    <a:p>
                      <a:pPr marL="0" indent="0" algn="l">
                        <a:buNone/>
                      </a:pPr>
                      <a:r>
                        <a:rPr lang="en-US" sz="800" dirty="0">
                          <a:solidFill>
                            <a:srgbClr val="9AA8BE"/>
                          </a:solidFill>
                          <a:latin typeface="Consolas" pitchFamily="34" charset="0"/>
                          <a:ea typeface="Consolas" pitchFamily="34" charset="-122"/>
                          <a:cs typeface="Consolas" pitchFamily="34" charset="-120"/>
                        </a:rPr>
                        <a:t>SINGLE ML MODEL</a:t>
                      </a:r>
                      <a:endParaRPr lang="en-US" sz="80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tc>
                  <a:txBody>
                    <a:bodyPr/>
                    <a:lstStyle/>
                    <a:p>
                      <a:pPr marL="0" indent="0" algn="l">
                        <a:buNone/>
                      </a:pPr>
                      <a:r>
                        <a:rPr lang="en-US" sz="800" b="1" dirty="0">
                          <a:solidFill>
                            <a:srgbClr val="F5C542"/>
                          </a:solidFill>
                          <a:latin typeface="Consolas" pitchFamily="34" charset="0"/>
                          <a:ea typeface="Consolas" pitchFamily="34" charset="-122"/>
                          <a:cs typeface="Consolas" pitchFamily="34" charset="-120"/>
                        </a:rPr>
                        <a:t>MULEDETECT</a:t>
                      </a:r>
                      <a:endParaRPr lang="en-US" sz="800" dirty="0">
                        <a:latin typeface="Consolas" charset="0"/>
                        <a:ea typeface="Consolas" charset="0"/>
                        <a:cs typeface="Consolas" charset="0"/>
                      </a:endParaRPr>
                    </a:p>
                  </a:txBody>
                  <a:tcPr>
                    <a:lnL w="0" cap="flat" cmpd="sng" algn="ctr">
                      <a:noFill/>
                    </a:lnL>
                    <a:lnR w="0" cap="flat" cmpd="sng" algn="ctr">
                      <a:noFill/>
                    </a:lnR>
                    <a:lnT w="0" cap="flat" cmpd="sng" algn="ctr">
                      <a:noFill/>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0"/>
                  </a:ext>
                </a:extLst>
              </a:tr>
              <a:tr h="342900">
                <a:tc>
                  <a:txBody>
                    <a:bodyPr/>
                    <a:lstStyle/>
                    <a:p>
                      <a:pPr marL="0" indent="0">
                        <a:buNone/>
                      </a:pPr>
                      <a:r>
                        <a:rPr lang="en-US" sz="938" b="1" dirty="0">
                          <a:solidFill>
                            <a:srgbClr val="FFFFFF"/>
                          </a:solidFill>
                          <a:latin typeface="Calibri" pitchFamily="34" charset="0"/>
                          <a:ea typeface="Calibri" pitchFamily="34" charset="-122"/>
                          <a:cs typeface="Calibri" pitchFamily="34" charset="-120"/>
                        </a:rPr>
                        <a:t>Network analysis</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  not modelled</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  transactions in isolation</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b="1" dirty="0">
                          <a:solidFill>
                            <a:srgbClr val="F5C542"/>
                          </a:solidFill>
                          <a:latin typeface="Calibri" pitchFamily="34" charset="0"/>
                          <a:ea typeface="Calibri" pitchFamily="34" charset="-122"/>
                          <a:cs typeface="Calibri" pitchFamily="34" charset="-120"/>
                        </a:rPr>
                        <a:t>✓  Graph analytics (9 features)</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marL="0" indent="0">
                        <a:buNone/>
                      </a:pPr>
                      <a:r>
                        <a:rPr lang="en-US" sz="938" b="1" dirty="0">
                          <a:solidFill>
                            <a:srgbClr val="FFFFFF"/>
                          </a:solidFill>
                          <a:latin typeface="Calibri" pitchFamily="34" charset="0"/>
                          <a:ea typeface="Calibri" pitchFamily="34" charset="-122"/>
                          <a:cs typeface="Calibri" pitchFamily="34" charset="-120"/>
                        </a:rPr>
                        <a:t>Explainability</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  transparent rules</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  black box</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b="1" dirty="0">
                          <a:solidFill>
                            <a:srgbClr val="F5C542"/>
                          </a:solidFill>
                          <a:latin typeface="Calibri" pitchFamily="34" charset="0"/>
                          <a:ea typeface="Calibri" pitchFamily="34" charset="-122"/>
                          <a:cs typeface="Calibri" pitchFamily="34" charset="-120"/>
                        </a:rPr>
                        <a:t>✓  SHAP reason codes</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marL="0" indent="0">
                        <a:buNone/>
                      </a:pPr>
                      <a:r>
                        <a:rPr lang="en-US" sz="938" b="1" dirty="0">
                          <a:solidFill>
                            <a:srgbClr val="FFFFFF"/>
                          </a:solidFill>
                          <a:latin typeface="Calibri" pitchFamily="34" charset="0"/>
                          <a:ea typeface="Calibri" pitchFamily="34" charset="-122"/>
                          <a:cs typeface="Calibri" pitchFamily="34" charset="-120"/>
                        </a:rPr>
                        <a:t>Adaptability</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  static thresholds</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  learns patterns</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b="1" dirty="0">
                          <a:solidFill>
                            <a:srgbClr val="F5C542"/>
                          </a:solidFill>
                          <a:latin typeface="Calibri" pitchFamily="34" charset="0"/>
                          <a:ea typeface="Calibri" pitchFamily="34" charset="-122"/>
                          <a:cs typeface="Calibri" pitchFamily="34" charset="-120"/>
                        </a:rPr>
                        <a:t>✓  7-model ensemble</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3"/>
                  </a:ext>
                </a:extLst>
              </a:tr>
              <a:tr h="342900">
                <a:tc>
                  <a:txBody>
                    <a:bodyPr/>
                    <a:lstStyle/>
                    <a:p>
                      <a:pPr marL="0" indent="0">
                        <a:buNone/>
                      </a:pPr>
                      <a:r>
                        <a:rPr lang="en-US" sz="938" b="1" dirty="0">
                          <a:solidFill>
                            <a:srgbClr val="FFFFFF"/>
                          </a:solidFill>
                          <a:latin typeface="Calibri" pitchFamily="34" charset="0"/>
                          <a:ea typeface="Calibri" pitchFamily="34" charset="-122"/>
                          <a:cs typeface="Calibri" pitchFamily="34" charset="-120"/>
                        </a:rPr>
                        <a:t>False positives</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High — alert fatigue</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Medium</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b="1" dirty="0">
                          <a:solidFill>
                            <a:srgbClr val="F5C542"/>
                          </a:solidFill>
                          <a:latin typeface="Calibri" pitchFamily="34" charset="0"/>
                          <a:ea typeface="Calibri" pitchFamily="34" charset="-122"/>
                          <a:cs typeface="Calibri" pitchFamily="34" charset="-120"/>
                        </a:rPr>
                        <a:t>P@50 = 1.00</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4"/>
                  </a:ext>
                </a:extLst>
              </a:tr>
              <a:tr h="342900">
                <a:tc>
                  <a:txBody>
                    <a:bodyPr/>
                    <a:lstStyle/>
                    <a:p>
                      <a:pPr marL="0" indent="0">
                        <a:buNone/>
                      </a:pPr>
                      <a:r>
                        <a:rPr lang="en-US" sz="938" b="1" dirty="0">
                          <a:solidFill>
                            <a:srgbClr val="FFFFFF"/>
                          </a:solidFill>
                          <a:latin typeface="Calibri" pitchFamily="34" charset="0"/>
                          <a:ea typeface="Calibri" pitchFamily="34" charset="-122"/>
                          <a:cs typeface="Calibri" pitchFamily="34" charset="-120"/>
                        </a:rPr>
                        <a:t>Multi-dataset validation</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b="1" dirty="0">
                          <a:solidFill>
                            <a:srgbClr val="F5C542"/>
                          </a:solidFill>
                          <a:latin typeface="Calibri" pitchFamily="34" charset="0"/>
                          <a:ea typeface="Calibri" pitchFamily="34" charset="-122"/>
                          <a:cs typeface="Calibri" pitchFamily="34" charset="-120"/>
                        </a:rPr>
                        <a:t>✓  3 benchmark datasets</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5"/>
                  </a:ext>
                </a:extLst>
              </a:tr>
              <a:tr h="342900">
                <a:tc>
                  <a:txBody>
                    <a:bodyPr/>
                    <a:lstStyle/>
                    <a:p>
                      <a:pPr marL="0" indent="0">
                        <a:buNone/>
                      </a:pPr>
                      <a:r>
                        <a:rPr lang="en-US" sz="938" b="1" dirty="0">
                          <a:solidFill>
                            <a:srgbClr val="FFFFFF"/>
                          </a:solidFill>
                          <a:latin typeface="Calibri" pitchFamily="34" charset="0"/>
                          <a:ea typeface="Calibri" pitchFamily="34" charset="-122"/>
                          <a:cs typeface="Calibri" pitchFamily="34" charset="-120"/>
                        </a:rPr>
                        <a:t>Investigation dashboard</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  manual review</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b="1" dirty="0">
                          <a:solidFill>
                            <a:srgbClr val="F5C542"/>
                          </a:solidFill>
                          <a:latin typeface="Calibri" pitchFamily="34" charset="0"/>
                          <a:ea typeface="Calibri" pitchFamily="34" charset="-122"/>
                          <a:cs typeface="Calibri" pitchFamily="34" charset="-120"/>
                        </a:rPr>
                        <a:t>✓  full workflow</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6"/>
                  </a:ext>
                </a:extLst>
              </a:tr>
              <a:tr h="342900">
                <a:tc>
                  <a:txBody>
                    <a:bodyPr/>
                    <a:lstStyle/>
                    <a:p>
                      <a:pPr marL="0" indent="0">
                        <a:buNone/>
                      </a:pPr>
                      <a:r>
                        <a:rPr lang="en-US" sz="938" b="1" dirty="0">
                          <a:solidFill>
                            <a:srgbClr val="FFFFFF"/>
                          </a:solidFill>
                          <a:latin typeface="Calibri" pitchFamily="34" charset="0"/>
                          <a:ea typeface="Calibri" pitchFamily="34" charset="-122"/>
                          <a:cs typeface="Calibri" pitchFamily="34" charset="-120"/>
                        </a:rPr>
                        <a:t>Report generation</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Manual drafting</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b="1" dirty="0">
                          <a:solidFill>
                            <a:srgbClr val="F5C542"/>
                          </a:solidFill>
                          <a:latin typeface="Calibri" pitchFamily="34" charset="0"/>
                          <a:ea typeface="Calibri" pitchFamily="34" charset="-122"/>
                          <a:cs typeface="Calibri" pitchFamily="34" charset="-120"/>
                        </a:rPr>
                        <a:t>✓  auto SAR · TXT/HTML/PDF</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7"/>
                  </a:ext>
                </a:extLst>
              </a:tr>
              <a:tr h="342900">
                <a:tc>
                  <a:txBody>
                    <a:bodyPr/>
                    <a:lstStyle/>
                    <a:p>
                      <a:pPr marL="0" indent="0">
                        <a:buNone/>
                      </a:pPr>
                      <a:r>
                        <a:rPr lang="en-US" sz="938" b="1" dirty="0">
                          <a:solidFill>
                            <a:srgbClr val="FFFFFF"/>
                          </a:solidFill>
                          <a:latin typeface="Calibri" pitchFamily="34" charset="0"/>
                          <a:ea typeface="Calibri" pitchFamily="34" charset="-122"/>
                          <a:cs typeface="Calibri" pitchFamily="34" charset="-120"/>
                        </a:rPr>
                        <a:t>Scoring speed</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Fast</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dirty="0">
                          <a:solidFill>
                            <a:srgbClr val="D2DBEA"/>
                          </a:solidFill>
                          <a:latin typeface="Calibri" pitchFamily="34" charset="0"/>
                          <a:ea typeface="Calibri" pitchFamily="34" charset="-122"/>
                          <a:cs typeface="Calibri" pitchFamily="34" charset="-120"/>
                        </a:rPr>
                        <a:t>Medium</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tc>
                  <a:txBody>
                    <a:bodyPr/>
                    <a:lstStyle/>
                    <a:p>
                      <a:pPr marL="0" indent="0">
                        <a:buNone/>
                      </a:pPr>
                      <a:r>
                        <a:rPr lang="en-US" sz="938" b="1" dirty="0">
                          <a:solidFill>
                            <a:srgbClr val="F5C542"/>
                          </a:solidFill>
                          <a:latin typeface="Calibri" pitchFamily="34" charset="0"/>
                          <a:ea typeface="Calibri" pitchFamily="34" charset="-122"/>
                          <a:cs typeface="Calibri" pitchFamily="34" charset="-120"/>
                        </a:rPr>
                        <a:t>22s (XGBoost)</a:t>
                      </a:r>
                      <a:endParaRPr lang="en-US" sz="938"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2A3447"/>
                      </a:solidFill>
                      <a:prstDash val="solid"/>
                      <a:round/>
                      <a:headEnd type="none" w="med" len="med"/>
                      <a:tailEnd type="none" w="med" len="med"/>
                    </a:lnT>
                    <a:lnB w="6350" cap="flat" cmpd="sng" algn="ctr">
                      <a:solidFill>
                        <a:srgbClr val="2A344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Shape 3"/>
          <p:cNvSpPr/>
          <p:nvPr/>
        </p:nvSpPr>
        <p:spPr>
          <a:xfrm>
            <a:off x="533400" y="4705350"/>
            <a:ext cx="3626167" cy="571500"/>
          </a:xfrm>
          <a:prstGeom prst="roundRect">
            <a:avLst>
              <a:gd name="adj" fmla="val 9600"/>
            </a:avLst>
          </a:prstGeom>
          <a:solidFill>
            <a:srgbClr val="FFFFFF">
              <a:alpha val="4000"/>
            </a:srgbClr>
          </a:solidFill>
          <a:ln w="9525">
            <a:solidFill>
              <a:srgbClr val="9AA8BE">
                <a:alpha val="16000"/>
              </a:srgbClr>
            </a:solidFill>
            <a:prstDash val="solid"/>
          </a:ln>
        </p:spPr>
      </p:sp>
      <p:sp>
        <p:nvSpPr>
          <p:cNvPr id="7" name="Shape 4"/>
          <p:cNvSpPr/>
          <p:nvPr/>
        </p:nvSpPr>
        <p:spPr>
          <a:xfrm>
            <a:off x="695325" y="4857750"/>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8" name="Text 5"/>
          <p:cNvSpPr txBox="1"/>
          <p:nvPr/>
        </p:nvSpPr>
        <p:spPr>
          <a:xfrm>
            <a:off x="695325" y="4857750"/>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a:t>
            </a:r>
            <a:endParaRPr lang="en-US" sz="675" dirty="0"/>
          </a:p>
        </p:txBody>
      </p:sp>
      <p:sp>
        <p:nvSpPr>
          <p:cNvPr id="9" name="Text 6"/>
          <p:cNvSpPr txBox="1"/>
          <p:nvPr/>
        </p:nvSpPr>
        <p:spPr>
          <a:xfrm>
            <a:off x="933450" y="4848225"/>
            <a:ext cx="3048000" cy="381000"/>
          </a:xfrm>
          <a:prstGeom prst="rect">
            <a:avLst/>
          </a:prstGeom>
          <a:noFill/>
          <a:ln/>
        </p:spPr>
        <p:txBody>
          <a:bodyPr wrap="square" lIns="0" tIns="0" rIns="0" bIns="0" rtlCol="0" anchor="t"/>
          <a:lstStyle/>
          <a:p>
            <a:pPr marL="0" indent="0" algn="l">
              <a:buNone/>
            </a:pPr>
            <a:r>
              <a:rPr lang="en-US" sz="915" b="1" dirty="0">
                <a:solidFill>
                  <a:srgbClr val="FFFFFF"/>
                </a:solidFill>
                <a:latin typeface="Calibri" pitchFamily="34" charset="0"/>
                <a:ea typeface="Calibri" pitchFamily="34" charset="-122"/>
                <a:cs typeface="Calibri" pitchFamily="34" charset="-120"/>
              </a:rPr>
              <a:t>Only approach</a:t>
            </a:r>
            <a:r>
              <a:rPr lang="en-US" sz="915" dirty="0">
                <a:solidFill>
                  <a:srgbClr val="D6DEEC"/>
                </a:solidFill>
                <a:latin typeface="Calibri" pitchFamily="34" charset="0"/>
                <a:ea typeface="Calibri" pitchFamily="34" charset="-122"/>
                <a:cs typeface="Calibri" pitchFamily="34" charset="-120"/>
              </a:rPr>
              <a:t> combining graph features, ensemble ML and explainability</a:t>
            </a:r>
            <a:endParaRPr lang="en-US" sz="915" dirty="0"/>
          </a:p>
        </p:txBody>
      </p:sp>
      <p:sp>
        <p:nvSpPr>
          <p:cNvPr id="10" name="Shape 7"/>
          <p:cNvSpPr/>
          <p:nvPr/>
        </p:nvSpPr>
        <p:spPr>
          <a:xfrm>
            <a:off x="4283393" y="4705350"/>
            <a:ext cx="3626167" cy="571500"/>
          </a:xfrm>
          <a:prstGeom prst="roundRect">
            <a:avLst>
              <a:gd name="adj" fmla="val 9600"/>
            </a:avLst>
          </a:prstGeom>
          <a:solidFill>
            <a:srgbClr val="FFFFFF">
              <a:alpha val="4000"/>
            </a:srgbClr>
          </a:solidFill>
          <a:ln w="9525">
            <a:solidFill>
              <a:srgbClr val="9AA8BE">
                <a:alpha val="16000"/>
              </a:srgbClr>
            </a:solidFill>
            <a:prstDash val="solid"/>
          </a:ln>
        </p:spPr>
      </p:sp>
      <p:sp>
        <p:nvSpPr>
          <p:cNvPr id="11" name="Shape 8"/>
          <p:cNvSpPr/>
          <p:nvPr/>
        </p:nvSpPr>
        <p:spPr>
          <a:xfrm>
            <a:off x="4445318" y="4857750"/>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12" name="Text 9"/>
          <p:cNvSpPr txBox="1"/>
          <p:nvPr/>
        </p:nvSpPr>
        <p:spPr>
          <a:xfrm>
            <a:off x="4445318" y="4857750"/>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a:t>
            </a:r>
            <a:endParaRPr lang="en-US" sz="675" dirty="0"/>
          </a:p>
        </p:txBody>
      </p:sp>
      <p:sp>
        <p:nvSpPr>
          <p:cNvPr id="5" name="Text 10"/>
          <p:cNvSpPr txBox="1"/>
          <p:nvPr/>
        </p:nvSpPr>
        <p:spPr>
          <a:xfrm>
            <a:off x="4683443" y="4848225"/>
            <a:ext cx="3048000" cy="381000"/>
          </a:xfrm>
          <a:prstGeom prst="rect">
            <a:avLst/>
          </a:prstGeom>
          <a:noFill/>
          <a:ln/>
        </p:spPr>
        <p:txBody>
          <a:bodyPr wrap="square" lIns="0" tIns="0" rIns="0" bIns="0" rtlCol="0" anchor="t"/>
          <a:lstStyle/>
          <a:p>
            <a:pPr marL="0" indent="0" algn="l">
              <a:buNone/>
            </a:pPr>
            <a:r>
              <a:rPr lang="en-US" sz="915" dirty="0">
                <a:solidFill>
                  <a:srgbClr val="D6DEEC"/>
                </a:solidFill>
                <a:latin typeface="Calibri" pitchFamily="34" charset="0"/>
                <a:ea typeface="Calibri" pitchFamily="34" charset="-122"/>
                <a:cs typeface="Calibri" pitchFamily="34" charset="-120"/>
              </a:rPr>
              <a:t>Built for </a:t>
            </a:r>
            <a:r>
              <a:rPr lang="en-US" sz="915" b="1" dirty="0">
                <a:solidFill>
                  <a:srgbClr val="FFFFFF"/>
                </a:solidFill>
                <a:latin typeface="Calibri" pitchFamily="34" charset="0"/>
                <a:ea typeface="Calibri" pitchFamily="34" charset="-122"/>
                <a:cs typeface="Calibri" pitchFamily="34" charset="-120"/>
              </a:rPr>
              <a:t>investigators</a:t>
            </a:r>
            <a:r>
              <a:rPr lang="en-US" sz="915" dirty="0">
                <a:solidFill>
                  <a:srgbClr val="D6DEEC"/>
                </a:solidFill>
                <a:latin typeface="Calibri" pitchFamily="34" charset="0"/>
                <a:ea typeface="Calibri" pitchFamily="34" charset="-122"/>
                <a:cs typeface="Calibri" pitchFamily="34" charset="-120"/>
              </a:rPr>
              <a:t>, not just data scientists</a:t>
            </a:r>
            <a:endParaRPr lang="en-US" sz="915" dirty="0"/>
          </a:p>
        </p:txBody>
      </p:sp>
      <p:sp>
        <p:nvSpPr>
          <p:cNvPr id="14" name="Shape 11"/>
          <p:cNvSpPr/>
          <p:nvPr/>
        </p:nvSpPr>
        <p:spPr>
          <a:xfrm>
            <a:off x="8033385" y="4705350"/>
            <a:ext cx="3626167" cy="571500"/>
          </a:xfrm>
          <a:prstGeom prst="roundRect">
            <a:avLst>
              <a:gd name="adj" fmla="val 9600"/>
            </a:avLst>
          </a:prstGeom>
          <a:solidFill>
            <a:srgbClr val="FFFFFF">
              <a:alpha val="4000"/>
            </a:srgbClr>
          </a:solidFill>
          <a:ln w="9525">
            <a:solidFill>
              <a:srgbClr val="9AA8BE">
                <a:alpha val="16000"/>
              </a:srgbClr>
            </a:solidFill>
            <a:prstDash val="solid"/>
          </a:ln>
        </p:spPr>
      </p:sp>
      <p:sp>
        <p:nvSpPr>
          <p:cNvPr id="15" name="Shape 12"/>
          <p:cNvSpPr/>
          <p:nvPr/>
        </p:nvSpPr>
        <p:spPr>
          <a:xfrm>
            <a:off x="8195310" y="4857750"/>
            <a:ext cx="152400" cy="152400"/>
          </a:xfrm>
          <a:prstGeom prst="roundRect">
            <a:avLst>
              <a:gd name="adj" fmla="val 36000"/>
            </a:avLst>
          </a:prstGeom>
          <a:solidFill>
            <a:srgbClr val="F5C542">
              <a:alpha val="22000"/>
            </a:srgbClr>
          </a:solidFill>
          <a:ln w="9525">
            <a:solidFill>
              <a:srgbClr val="F5C542">
                <a:alpha val="45000"/>
              </a:srgbClr>
            </a:solidFill>
            <a:prstDash val="solid"/>
          </a:ln>
        </p:spPr>
      </p:sp>
      <p:sp>
        <p:nvSpPr>
          <p:cNvPr id="16" name="Text 13"/>
          <p:cNvSpPr txBox="1"/>
          <p:nvPr/>
        </p:nvSpPr>
        <p:spPr>
          <a:xfrm>
            <a:off x="8195310" y="4857750"/>
            <a:ext cx="152400" cy="152400"/>
          </a:xfrm>
          <a:prstGeom prst="rect">
            <a:avLst/>
          </a:prstGeom>
          <a:noFill/>
          <a:ln/>
        </p:spPr>
        <p:txBody>
          <a:bodyPr wrap="square" lIns="0" tIns="0" rIns="0" bIns="0" rtlCol="0" anchor="ctr"/>
          <a:lstStyle/>
          <a:p>
            <a:pPr marL="0" indent="0" algn="ctr">
              <a:buNone/>
            </a:pPr>
            <a:r>
              <a:rPr lang="en-US" sz="675" b="1" dirty="0">
                <a:solidFill>
                  <a:srgbClr val="F5C542"/>
                </a:solidFill>
                <a:latin typeface="Arial" pitchFamily="34" charset="0"/>
                <a:ea typeface="Arial" pitchFamily="34" charset="-122"/>
                <a:cs typeface="Arial" pitchFamily="34" charset="-120"/>
              </a:rPr>
              <a:t>★</a:t>
            </a:r>
            <a:endParaRPr lang="en-US" sz="675" dirty="0"/>
          </a:p>
        </p:txBody>
      </p:sp>
      <p:sp>
        <p:nvSpPr>
          <p:cNvPr id="17" name="Text 14"/>
          <p:cNvSpPr txBox="1"/>
          <p:nvPr/>
        </p:nvSpPr>
        <p:spPr>
          <a:xfrm>
            <a:off x="8433435" y="4848225"/>
            <a:ext cx="3048000" cy="381000"/>
          </a:xfrm>
          <a:prstGeom prst="rect">
            <a:avLst/>
          </a:prstGeom>
          <a:noFill/>
          <a:ln/>
        </p:spPr>
        <p:txBody>
          <a:bodyPr wrap="square" lIns="0" tIns="0" rIns="0" bIns="0" rtlCol="0" anchor="t"/>
          <a:lstStyle/>
          <a:p>
            <a:pPr marL="0" indent="0" algn="l">
              <a:buNone/>
            </a:pPr>
            <a:r>
              <a:rPr lang="en-US" sz="915" dirty="0">
                <a:solidFill>
                  <a:srgbClr val="D6DEEC"/>
                </a:solidFill>
                <a:latin typeface="Calibri" pitchFamily="34" charset="0"/>
                <a:ea typeface="Calibri" pitchFamily="34" charset="-122"/>
                <a:cs typeface="Calibri" pitchFamily="34" charset="-120"/>
              </a:rPr>
              <a:t>Benchmarked on </a:t>
            </a:r>
            <a:r>
              <a:rPr lang="en-US" sz="915" b="1" dirty="0">
                <a:solidFill>
                  <a:srgbClr val="FFFFFF"/>
                </a:solidFill>
                <a:latin typeface="Calibri" pitchFamily="34" charset="0"/>
                <a:ea typeface="Calibri" pitchFamily="34" charset="-122"/>
                <a:cs typeface="Calibri" pitchFamily="34" charset="-120"/>
              </a:rPr>
              <a:t>public datasets</a:t>
            </a:r>
            <a:r>
              <a:rPr lang="en-US" sz="915" dirty="0">
                <a:solidFill>
                  <a:srgbClr val="D6DEEC"/>
                </a:solidFill>
                <a:latin typeface="Calibri" pitchFamily="34" charset="0"/>
                <a:ea typeface="Calibri" pitchFamily="34" charset="-122"/>
                <a:cs typeface="Calibri" pitchFamily="34" charset="-120"/>
              </a:rPr>
              <a:t> — reproducible research</a:t>
            </a:r>
            <a:endParaRPr lang="en-US" sz="91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2429</Words>
  <Application>Microsoft Office PowerPoint</Application>
  <PresentationFormat>Widescreen</PresentationFormat>
  <Paragraphs>502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KALKI — MuleDetect</dc:title>
  <dc:subject>PptxGenJS Presentation</dc:subject>
  <dc:creator>PptxGenJS</dc:creator>
  <cp:lastModifiedBy>Shashi Singh</cp:lastModifiedBy>
  <cp:revision>2</cp:revision>
  <dcterms:created xsi:type="dcterms:W3CDTF">2026-10-25T07:22:01Z</dcterms:created>
  <dcterms:modified xsi:type="dcterms:W3CDTF">2026-10-25T07:31:53Z</dcterms:modified>
</cp:coreProperties>
</file>